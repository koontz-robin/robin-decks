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828" r:id="rId9"/>
    <p:sldId id="829" r:id="rId10"/>
    <p:sldId id="83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1"/>
    <p:restoredTop sz="72857"/>
  </p:normalViewPr>
  <p:slideViewPr>
    <p:cSldViewPr snapToGrid="0">
      <p:cViewPr varScale="1">
        <p:scale>
          <a:sx n="91" d="100"/>
          <a:sy n="91" d="100"/>
        </p:scale>
        <p:origin x="1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C880D-BAB9-814B-91C1-A2E6619901B5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E4E2D-A077-D444-A84D-EE88C5B87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08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ECD4-BB87-DB1F-F089-CAB61A77D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6C12D-58BC-98E9-57E9-4762C20F3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570D7-BB01-E516-3A67-13A4B74B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13376-EE68-4C3E-8E9C-249801E5A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B30D8-C414-E89D-12E4-95C21C29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9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55F3-964D-453F-D398-6BB3C135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B4CF0-41A3-9429-6D8B-D50964806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683B-AA11-5EFA-1B5E-CE14AE4F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B09D1-A084-F2E8-FAD6-FDD1B927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F40A-1596-5849-8CDE-F9D06B56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22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A975-9567-7874-9641-AA05E375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DF9D9-28EC-885B-4C42-25AB24EE4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AA476-71C5-A400-CA09-C92275C6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BE3D2-1E86-2D44-2B93-FF7DC781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18954-05E4-7483-72BB-3216C8FA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2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355E3-C1F7-F2F5-E1C4-E5442BF9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6BF0F-C0E6-7363-A8BD-4418BA850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0EBA4-C9BB-5FAE-CAC4-11065DF6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0F989-47BC-7F78-5A2E-80CEEEEB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6573D-8446-8C6F-57FA-84CE31A78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9DE16-E329-4BCE-B984-DC1E1552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3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6E80-07EC-525B-30CC-16B8947C9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40E5B-0665-25AD-4113-C89B4783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797EB-F218-E9FA-A691-F899468D0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F63C4-68B8-2847-D3A2-478F4EEB2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581B0-92C2-EBE8-ED27-8CCFDA355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7F20D-50AB-8042-9952-DFAA73DF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9A033-FB4E-6EFD-71B7-5A64BB61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6AE81-01FC-9EA5-ED2D-1634ACEE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6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F069-3A03-8A7A-8D6F-07C53765A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B3B1E-165B-FA83-CFBB-4C2966D5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76F09-64EE-817E-922F-2AC83ED5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368B8-EF67-AF95-621A-718995B5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3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C8681-6E72-D0EC-9310-D49D6524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B4794-3947-FEF2-7657-56C5ACC18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AD97C-5DE4-F099-DCD4-D49650F0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1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3490-39A9-4DB3-FE0E-CDB41B2D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DEB8-0627-0A05-BCD3-E42F254FF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E230-3501-32DC-0C78-2A005F649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97B73-392B-C9FF-5DB1-A47B0D13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3760A-682B-FA90-D7F1-3A22E4F3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FF447-DF94-13B7-68F9-75779C28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7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7294-4A9F-E74F-CCAD-68EF3183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09BC70-FA5A-61CD-D7A7-1AFA5E37D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923EE-914B-2423-CCDB-EA1FE059B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0D481-3DF3-00C2-489C-60E5E053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681AA-2AF3-9B77-75BF-E84BF24A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D3FC0-B706-D9AF-FA93-EF3010FC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8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16DA-2100-B38F-F92E-45455891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C260A-7741-A73F-1895-72F8335CC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548CA-20EA-0342-CF50-91472903D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EDB71-D7B2-3C1D-8354-B4F9DB39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51A4-2D1F-BADF-8242-2DBF3BEC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00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DD517-3D31-45BC-F44E-0F8B5D855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1B08E-8F83-F8A9-4B36-B83DEFADA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A14EE-B2E8-DD6E-D7C3-B46AAE35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A0471-7023-1435-FC78-E979BCEE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1669E-2604-66DC-A78A-3F0FF260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89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y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2">
            <a:extLst>
              <a:ext uri="{FF2B5EF4-FFF2-40B4-BE49-F238E27FC236}">
                <a16:creationId xmlns:a16="http://schemas.microsoft.com/office/drawing/2014/main" id="{2BA0AF1D-C0DE-5590-1785-9F54B42D184F}"/>
              </a:ext>
            </a:extLst>
          </p:cNvPr>
          <p:cNvGrpSpPr/>
          <p:nvPr userDrawn="1"/>
        </p:nvGrpSpPr>
        <p:grpSpPr>
          <a:xfrm>
            <a:off x="0" y="13063"/>
            <a:ext cx="12192000" cy="6870337"/>
            <a:chOff x="0" y="-85725"/>
            <a:chExt cx="5380340" cy="2994575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7DABFEFC-6282-E727-1040-25E6B6134E9F}"/>
                </a:ext>
              </a:extLst>
            </p:cNvPr>
            <p:cNvSpPr/>
            <p:nvPr/>
          </p:nvSpPr>
          <p:spPr>
            <a:xfrm>
              <a:off x="0" y="0"/>
              <a:ext cx="5380340" cy="2908850"/>
            </a:xfrm>
            <a:custGeom>
              <a:avLst/>
              <a:gdLst/>
              <a:ahLst/>
              <a:cxnLst/>
              <a:rect l="l" t="t" r="r" b="b"/>
              <a:pathLst>
                <a:path w="5380340" h="2908850">
                  <a:moveTo>
                    <a:pt x="0" y="0"/>
                  </a:moveTo>
                  <a:lnTo>
                    <a:pt x="5380340" y="0"/>
                  </a:lnTo>
                  <a:lnTo>
                    <a:pt x="5380340" y="2908850"/>
                  </a:lnTo>
                  <a:lnTo>
                    <a:pt x="0" y="290885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E6E7E8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F72FF90E-D89E-162D-5CAF-BB26A3827305}"/>
                </a:ext>
              </a:extLst>
            </p:cNvPr>
            <p:cNvSpPr txBox="1"/>
            <p:nvPr/>
          </p:nvSpPr>
          <p:spPr>
            <a:xfrm>
              <a:off x="0" y="-85725"/>
              <a:ext cx="5380340" cy="299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9" name="Freeform 6">
            <a:extLst>
              <a:ext uri="{FF2B5EF4-FFF2-40B4-BE49-F238E27FC236}">
                <a16:creationId xmlns:a16="http://schemas.microsoft.com/office/drawing/2014/main" id="{D44016A5-568E-9D32-EE4D-BE2C31A246AA}"/>
              </a:ext>
            </a:extLst>
          </p:cNvPr>
          <p:cNvSpPr/>
          <p:nvPr userDrawn="1"/>
        </p:nvSpPr>
        <p:spPr>
          <a:xfrm>
            <a:off x="10464800" y="177800"/>
            <a:ext cx="1402883" cy="360887"/>
          </a:xfrm>
          <a:custGeom>
            <a:avLst/>
            <a:gdLst/>
            <a:ahLst/>
            <a:cxnLst/>
            <a:rect l="l" t="t" r="r" b="b"/>
            <a:pathLst>
              <a:path w="2104324" h="541330">
                <a:moveTo>
                  <a:pt x="0" y="0"/>
                </a:moveTo>
                <a:lnTo>
                  <a:pt x="2104324" y="0"/>
                </a:lnTo>
                <a:lnTo>
                  <a:pt x="2104324" y="541330"/>
                </a:lnTo>
                <a:lnTo>
                  <a:pt x="0" y="541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C04C38A-CE8B-C5EE-2358-9C652E2E08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800" y="787400"/>
            <a:ext cx="11125200" cy="660400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sz="4000" b="0" i="0">
                <a:solidFill>
                  <a:srgbClr val="1D3756"/>
                </a:solidFill>
                <a:latin typeface="Brandon Grotesque Medium" panose="020B0603020203060202" pitchFamily="34" charset="77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D81BE22A-A3A6-73C4-C939-ECD9A149B22E}"/>
              </a:ext>
            </a:extLst>
          </p:cNvPr>
          <p:cNvSpPr/>
          <p:nvPr userDrawn="1"/>
        </p:nvSpPr>
        <p:spPr>
          <a:xfrm>
            <a:off x="7047434" y="1498600"/>
            <a:ext cx="5144566" cy="5524312"/>
          </a:xfrm>
          <a:custGeom>
            <a:avLst/>
            <a:gdLst/>
            <a:ahLst/>
            <a:cxnLst/>
            <a:rect l="l" t="t" r="r" b="b"/>
            <a:pathLst>
              <a:path w="7716849" h="8286468">
                <a:moveTo>
                  <a:pt x="0" y="0"/>
                </a:moveTo>
                <a:lnTo>
                  <a:pt x="7716849" y="0"/>
                </a:lnTo>
                <a:lnTo>
                  <a:pt x="7716849" y="8286467"/>
                </a:lnTo>
                <a:lnTo>
                  <a:pt x="0" y="8286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7" b="-307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EE1804C-71B5-90AB-0F84-C08AAA531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800" y="2108200"/>
            <a:ext cx="11125200" cy="4216400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1pPr>
            <a:lvl2pPr marL="533427" indent="-228611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2pPr>
            <a:lvl3pPr marL="800140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3pPr>
            <a:lvl4pPr marL="1104955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4pPr>
            <a:lvl5pPr marL="1409770" indent="-190510">
              <a:buClr>
                <a:srgbClr val="1D3756"/>
              </a:buClr>
              <a:buFont typeface="Arial" panose="020B0604020202020204" pitchFamily="34" charset="0"/>
              <a:buChar char="•"/>
              <a:defRPr sz="1333" b="0" i="0">
                <a:solidFill>
                  <a:srgbClr val="1D3756"/>
                </a:solidFill>
                <a:latin typeface="Avenir Medium" panose="02000503020000020003" pitchFamily="2" charset="0"/>
              </a:defRPr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80A0606-51B9-0BBB-2834-70693AB2A1D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8800" y="1549400"/>
            <a:ext cx="11125200" cy="4265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33" b="0" i="0">
                <a:solidFill>
                  <a:srgbClr val="1D3756"/>
                </a:solidFill>
                <a:latin typeface="Brandon Grotesque Medium" panose="020B0603020203060202" pitchFamily="34" charset="77"/>
              </a:defRPr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101057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696E27-802F-5341-58E0-E29D36C5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65B73-875F-CEB0-62F1-DB1AD0984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3ABAF-2175-59BB-2A89-86759B328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2070A-0C34-CA4B-82BF-A612F0CDDBA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2BB37-1AF9-D815-C41D-2A3EBD1B5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B6820-E104-1F83-D98B-31AE263FF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A9074-55C7-3D40-B05C-5DC0F7A74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3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85800" y="3448050"/>
            <a:ext cx="5560377" cy="0"/>
          </a:xfrm>
          <a:prstGeom prst="line">
            <a:avLst/>
          </a:prstGeom>
          <a:ln w="57150" cap="rnd">
            <a:gradFill>
              <a:gsLst>
                <a:gs pos="0">
                  <a:srgbClr val="1667CC">
                    <a:alpha val="100000"/>
                  </a:srgbClr>
                </a:gs>
                <a:gs pos="100000">
                  <a:srgbClr val="3DC570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85800" y="1603623"/>
            <a:ext cx="4975062" cy="1537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350" b="1" dirty="0">
                <a:solidFill>
                  <a:srgbClr val="FFFFFF"/>
                </a:solidFill>
                <a:latin typeface="Montserrat Bold"/>
                <a:sym typeface="Montserrat Bold"/>
              </a:rPr>
              <a:t>Sales </a:t>
            </a:r>
            <a:br>
              <a:rPr lang="en-US" sz="4350" b="1" dirty="0">
                <a:latin typeface="Montserrat Bold"/>
              </a:rPr>
            </a:br>
            <a:r>
              <a:rPr lang="en-US" sz="3600" b="1" dirty="0">
                <a:solidFill>
                  <a:srgbClr val="FFFFFF"/>
                </a:solidFill>
                <a:latin typeface="Montserrat Bold"/>
                <a:sym typeface="Montserrat Bold"/>
              </a:rPr>
              <a:t>Primus Update</a:t>
            </a:r>
            <a:endParaRPr lang="en-US" sz="36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3755262"/>
            <a:ext cx="5410200" cy="287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1.26.26</a:t>
            </a:r>
          </a:p>
        </p:txBody>
      </p:sp>
      <p:sp>
        <p:nvSpPr>
          <p:cNvPr id="9" name="Freeform 93">
            <a:extLst>
              <a:ext uri="{FF2B5EF4-FFF2-40B4-BE49-F238E27FC236}">
                <a16:creationId xmlns:a16="http://schemas.microsoft.com/office/drawing/2014/main" id="{5CD82284-60FD-3FA7-2488-2D1D3581D7D7}"/>
              </a:ext>
            </a:extLst>
          </p:cNvPr>
          <p:cNvSpPr/>
          <p:nvPr/>
        </p:nvSpPr>
        <p:spPr>
          <a:xfrm>
            <a:off x="10312439" y="6176179"/>
            <a:ext cx="1547547" cy="388627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7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548C-A52F-4422-99BB-66D5C688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DD2B-DCB3-6765-DC8D-17DC3D99C1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C5147-5205-AA7D-70EA-CCE388E6F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6726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Rev.io  · 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AE Capacity — Prospect Meetings by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MARCH 23, 2026  ·  SALESFORCE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7132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A8C8"/>
                </a:solidFill>
              </a:rPr>
              <a:t>January–March 2026  ·  March actuals through Mar 23  ·  7 business days remaining  ·  Projection at current 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05840"/>
            <a:ext cx="2816352" cy="1024128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005840"/>
            <a:ext cx="45720" cy="1024128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33271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8C8"/>
                </a:solidFill>
              </a:rPr>
              <a:t>JAN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67CC"/>
                </a:solidFill>
              </a:rPr>
              <a:t>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645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33.8 avg/AE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005840"/>
            <a:ext cx="2816352" cy="1024128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005840"/>
            <a:ext cx="45720" cy="1024128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033271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8C8"/>
                </a:solidFill>
              </a:rPr>
              <a:t>FEB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2344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67CC"/>
                </a:solidFill>
              </a:rPr>
              <a:t>599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45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37.4 avg/AE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005840"/>
            <a:ext cx="2816352" cy="1024128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005840"/>
            <a:ext cx="45720" cy="10241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033271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8C8"/>
                </a:solidFill>
              </a:rPr>
              <a:t>MAR ACTUAL (MTD)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2344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522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645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Through Mar 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005840"/>
            <a:ext cx="2816352" cy="1024128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005840"/>
            <a:ext cx="45720" cy="1024128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033271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8C8"/>
                </a:solidFill>
              </a:rPr>
              <a:t>MAR PROJECTED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2344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7C2A"/>
                </a:solidFill>
              </a:rPr>
              <a:t>686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645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At current pace  (+7 biz days)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21408"/>
            <a:ext cx="11823192" cy="237744"/>
          </a:xfrm>
          <a:prstGeom prst="rect">
            <a:avLst/>
          </a:prstGeom>
          <a:solidFill>
            <a:srgbClr val="2D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148839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AE MEETING DETAIL  ·  Benchmark: 40 meetings/month (10/week)  ·  🔵 MSP team  ·  🔷 PSA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" y="213969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42616" y="213969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4136" y="213969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Jan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97096" y="213969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Feb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0056" y="213969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Mar MTD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34456" y="2139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Mar Proj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0296" y="2139696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vs Benchmark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1936" y="213969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Trend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377440"/>
            <a:ext cx="11823192" cy="269748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" y="2423160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Patrick Davies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42616" y="2423160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4136" y="2423160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97096" y="2423160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0056" y="2423160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34456" y="2423160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0296" y="2423160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C570"/>
                </a:solidFill>
              </a:rPr>
              <a:t>+39 vs target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31936" y="2423160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2647188"/>
            <a:ext cx="11823192" cy="26974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" y="2692908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Andy Whisenant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42616" y="2692908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67CC"/>
                </a:solidFill>
              </a:rPr>
              <a:t>MSP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74136" y="2692908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7096" y="2692908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0056" y="2692908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34456" y="2692908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74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0296" y="2692908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C570"/>
                </a:solidFill>
              </a:rPr>
              <a:t>+34 vs target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31936" y="2692908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2916936"/>
            <a:ext cx="11823192" cy="269748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9456" y="2962656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Ingrid Beard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42616" y="2962656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74136" y="2962656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97096" y="2962656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0056" y="2962656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34456" y="2962656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71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0296" y="2962656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C570"/>
                </a:solidFill>
              </a:rPr>
              <a:t>+31 vs 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31936" y="2962656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" y="3186684"/>
            <a:ext cx="11823192" cy="26974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9456" y="3232404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Connor Flynn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42616" y="3232404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74136" y="3232404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97096" y="3232404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0056" y="3232404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47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34456" y="3232404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62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0296" y="3232404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C570"/>
                </a:solidFill>
              </a:rPr>
              <a:t>+22 vs target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31936" y="3232404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3456432"/>
            <a:ext cx="11823192" cy="269748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9456" y="3502152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Jaylin Bender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42616" y="3502152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74136" y="3502152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37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97096" y="3502152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0056" y="3502152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47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34456" y="3502152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62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0296" y="3502152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C570"/>
                </a:solidFill>
              </a:rPr>
              <a:t>+22 vs target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31936" y="3502152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↑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2880" y="3726180"/>
            <a:ext cx="11823192" cy="26974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9456" y="3771900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Jake Mitchell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42616" y="3771900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74136" y="3771900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59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97096" y="3771900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0056" y="3771900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44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34456" y="3771900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58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40296" y="3771900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C570"/>
                </a:solidFill>
              </a:rPr>
              <a:t>+18 vs target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31936" y="3771900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↑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" y="3995928"/>
            <a:ext cx="11823192" cy="269748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9456" y="4041648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Jamie Butler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42616" y="4041648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67CC"/>
                </a:solidFill>
              </a:rPr>
              <a:t>MSP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74136" y="4041648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33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97096" y="4041648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20056" y="4041648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43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34456" y="4041648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56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40296" y="4041648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C570"/>
                </a:solidFill>
              </a:rPr>
              <a:t>+16 vs target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31936" y="4041648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↑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82880" y="4265676"/>
            <a:ext cx="11823192" cy="26974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9456" y="4311396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Joseph Abarno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42616" y="4311396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67CC"/>
                </a:solidFill>
              </a:rPr>
              <a:t>MSP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74136" y="4311396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35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97096" y="4311396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20056" y="4311396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41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34456" y="4311396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54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40296" y="4311396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C570"/>
                </a:solidFill>
              </a:rPr>
              <a:t>+14 vs target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31936" y="4311396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↑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535424"/>
            <a:ext cx="11823192" cy="269748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9456" y="4581144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Justin Lee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642616" y="4581144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67CC"/>
                </a:solidFill>
              </a:rPr>
              <a:t>MSP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74136" y="4581144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97096" y="4581144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55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20056" y="4581144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36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934456" y="4581144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47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0296" y="4581144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C570"/>
                </a:solidFill>
              </a:rPr>
              <a:t>+7 vs target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31936" y="4581144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E3E"/>
                </a:solidFill>
              </a:rPr>
              <a:t>↓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82880" y="4805172"/>
            <a:ext cx="11823192" cy="26974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9456" y="4850892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Jake Borah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42616" y="4850892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74136" y="4850892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30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197096" y="4850892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26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20056" y="4850892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33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934456" y="4850892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43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0296" y="4850892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C570"/>
                </a:solidFill>
              </a:rPr>
              <a:t>+3 vs target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31936" y="4850892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↑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5074920"/>
            <a:ext cx="11823192" cy="269748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9456" y="5120640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Davis Herndon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42616" y="5120640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74136" y="5120640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17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197096" y="5120640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43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20056" y="5120640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28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934456" y="5120640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37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40296" y="5120640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A623"/>
                </a:solidFill>
              </a:rPr>
              <a:t>-3 vs target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31936" y="5120640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E3E"/>
                </a:solidFill>
              </a:rPr>
              <a:t>↓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2880" y="5344668"/>
            <a:ext cx="11823192" cy="26974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19456" y="5390388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Husam Zalmiyar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642616" y="5390388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74136" y="5390388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25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197096" y="5390388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24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020056" y="5390388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22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934456" y="5390388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29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40296" y="5390388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A623"/>
                </a:solidFill>
              </a:rPr>
              <a:t>-11 vs target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631936" y="5390388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↑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82880" y="5614416"/>
            <a:ext cx="11823192" cy="269748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19456" y="5660136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Olivia Sandefur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42616" y="5660136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74136" y="5660136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21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197096" y="5660136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16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20056" y="5660136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934456" y="5660136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E3E"/>
                </a:solidFill>
              </a:rPr>
              <a:t>10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940296" y="5660136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E3E"/>
                </a:solidFill>
              </a:rPr>
              <a:t>-30 vs target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631936" y="5660136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E3E"/>
                </a:solidFill>
              </a:rPr>
              <a:t>↓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82880" y="5884164"/>
            <a:ext cx="11823192" cy="26974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19456" y="5929884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Usman Zahoor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642616" y="5929884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374136" y="5929884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37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197096" y="5929884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33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20056" y="5929884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934456" y="5929884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E3E"/>
                </a:solidFill>
              </a:rPr>
              <a:t>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40296" y="5929884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E3E"/>
                </a:solidFill>
              </a:rPr>
              <a:t>-37 vs target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631936" y="5929884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E3E"/>
                </a:solidFill>
              </a:rPr>
              <a:t>↓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82880" y="6153912"/>
            <a:ext cx="11823192" cy="269748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82880" y="6153912"/>
            <a:ext cx="36576" cy="2697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19456" y="6199632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Patrick Dahlstrom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642616" y="6199632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67CC"/>
                </a:solidFill>
              </a:rPr>
              <a:t>MSP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374136" y="6199632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29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197096" y="6199632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35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020056" y="6199632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934456" y="6199632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E3E"/>
                </a:solidFill>
              </a:rPr>
              <a:t>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940296" y="6199632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E3E"/>
                </a:solidFill>
              </a:rPr>
              <a:t>-39 vs target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631936" y="6199632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E3E"/>
                </a:solidFill>
              </a:rPr>
              <a:t>↓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82880" y="6423660"/>
            <a:ext cx="11823192" cy="26974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19456" y="6469380"/>
            <a:ext cx="2276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Nassim Filoso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642616" y="6469380"/>
            <a:ext cx="585215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374136" y="6469380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25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197096" y="6469380"/>
            <a:ext cx="6766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33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020056" y="6469380"/>
            <a:ext cx="72237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934456" y="6469380"/>
            <a:ext cx="8595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E3E"/>
                </a:solidFill>
              </a:rPr>
              <a:t>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940296" y="6469380"/>
            <a:ext cx="154533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E3E"/>
                </a:solidFill>
              </a:rPr>
              <a:t>-40 vs target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631936" y="6469380"/>
            <a:ext cx="3419856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E3E"/>
                </a:solidFill>
              </a:rPr>
              <a:t>↓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8288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8C8"/>
                </a:solidFill>
              </a:rPr>
              <a:t>Rev.io  ·  Confidential  ·  Prepared by Ryan Koontz, SVP Sales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961120" y="6693408"/>
            <a:ext cx="3017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ROBIN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Rev.io  · 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Meeting Pace — March Projection by 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MARCH 23, 2026  ·  SALESFORCE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7132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A8C8"/>
                </a:solidFill>
              </a:rPr>
              <a:t>MTD actuals vs full-month projection  ·  7 business days remaining  ·  Benchmark: 40 meetings/month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05840"/>
            <a:ext cx="11823192" cy="237744"/>
          </a:xfrm>
          <a:prstGeom prst="rect">
            <a:avLst/>
          </a:prstGeom>
          <a:solidFill>
            <a:srgbClr val="2D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332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MARCH ACTUALS vs PROJECTED  (sorted by projected total)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33502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Patrick Davies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298448"/>
            <a:ext cx="5551714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7714" y="1298448"/>
            <a:ext cx="1758042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3434" y="133502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1477" y="133502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→79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62763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Andy Whisenant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591056"/>
            <a:ext cx="5181599" cy="237744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67599" y="1591056"/>
            <a:ext cx="1665514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3320" y="16276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8834" y="16276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→74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19202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Ingrid Beard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1883664"/>
            <a:ext cx="4996542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2542" y="1883664"/>
            <a:ext cx="1572985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8262" y="19202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1248" y="1920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→71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221284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Connor Flynn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176272"/>
            <a:ext cx="4348842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34842" y="2176272"/>
            <a:ext cx="1387928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0562" y="221284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8491" y="221284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→62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05456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Jaylin Bender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2468880"/>
            <a:ext cx="4348842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34842" y="2468880"/>
            <a:ext cx="1387928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0562" y="250545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8491" y="250545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→62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79806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Jake Mitchell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2761488"/>
            <a:ext cx="4071257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7257" y="2761488"/>
            <a:ext cx="1295399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2977" y="279806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8377" y="27980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→58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309067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Jamie Butler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3054096"/>
            <a:ext cx="3978728" cy="237744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4728" y="3054096"/>
            <a:ext cx="1202871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10448" y="30906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3320" y="309067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→56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338328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Joseph Abarno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346704"/>
            <a:ext cx="3793671" cy="237744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79671" y="3346704"/>
            <a:ext cx="1202871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5391" y="338328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41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28262" y="33832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→54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" y="3675887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Justin Lee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0" y="3639312"/>
            <a:ext cx="3331028" cy="237744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17028" y="3639312"/>
            <a:ext cx="1017814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2748" y="3675887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36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80562" y="3675887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→47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" y="3968496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Jake Borah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3931920"/>
            <a:ext cx="3053442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39442" y="3931920"/>
            <a:ext cx="925285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85162" y="396849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10448" y="396849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C570"/>
                </a:solidFill>
              </a:rPr>
              <a:t>→43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" y="426110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Davis Herndon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0" y="4224528"/>
            <a:ext cx="2590799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76800" y="4224528"/>
            <a:ext cx="832757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22520" y="42611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55277" y="426110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→37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4553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Husam Zalmiyar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0" y="4517136"/>
            <a:ext cx="2035628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21628" y="4517136"/>
            <a:ext cx="647699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67348" y="455371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15048" y="455371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→29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2880" y="484632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Olivia Sandefur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0" y="4809744"/>
            <a:ext cx="740228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026228" y="4809744"/>
            <a:ext cx="185057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71948" y="48463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57005" y="48463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E3E"/>
                </a:solidFill>
              </a:rPr>
              <a:t>→10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" y="513892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Usman Zahoor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0" y="5102352"/>
            <a:ext cx="185057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471057" y="5102352"/>
            <a:ext cx="92528" cy="237744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16777" y="51389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9305" y="513892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E3E"/>
                </a:solidFill>
              </a:rPr>
              <a:t>→3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2880" y="5431536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Patrick Dahlstrom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5394960"/>
            <a:ext cx="92528" cy="237744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24248" y="543153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24248" y="543153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E3E"/>
                </a:solidFill>
              </a:rPr>
              <a:t>→1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2880" y="5724144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Nassim Filoso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31720" y="572414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31720" y="57241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E3E"/>
                </a:solidFill>
              </a:rPr>
              <a:t>→0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87142" y="1252728"/>
            <a:ext cx="18288" cy="477316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29942" y="1042415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53E3E"/>
                </a:solidFill>
              </a:rPr>
              <a:t>Benchmark (40)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" y="6446520"/>
            <a:ext cx="164592" cy="128016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84048" y="6437376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8"/>
                </a:solidFill>
              </a:rPr>
              <a:t>MTD Actual (MSP)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77440" y="6446520"/>
            <a:ext cx="164592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578608" y="6437376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8"/>
                </a:solidFill>
              </a:rPr>
              <a:t>MTD Actual (PSA)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89120" y="6446520"/>
            <a:ext cx="164592" cy="128016"/>
          </a:xfrm>
          <a:prstGeom prst="rect">
            <a:avLst/>
          </a:prstGeom>
          <a:solidFill>
            <a:srgbClr val="F5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90288" y="6437376"/>
            <a:ext cx="2743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8"/>
                </a:solidFill>
              </a:rPr>
              <a:t>Projected (remaining 7 biz days)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98079" y="6446520"/>
            <a:ext cx="164592" cy="12801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699248" y="6437376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8"/>
                </a:solidFill>
              </a:rPr>
              <a:t>Benchmark (40/mo)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288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8C8"/>
                </a:solidFill>
              </a:rPr>
              <a:t>Rev.io  ·  Confidential  ·  Prepared by Ryan Koontz, SVP Sales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61120" y="6693408"/>
            <a:ext cx="3017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ROBIN  ·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Rev.io  · 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Meeting Capacity — Insights &amp;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MARCH 23, 2026  ·  SALESFORCE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7132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A8C8"/>
                </a:solidFill>
              </a:rPr>
              <a:t>January–March 2026 trends  ·  March projections  ·  Coaching targets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05840"/>
            <a:ext cx="5806440" cy="1417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005840"/>
            <a:ext cx="45720" cy="1417320"/>
          </a:xfrm>
          <a:prstGeom prst="rect">
            <a:avLst/>
          </a:prstGeom>
          <a:solidFill>
            <a:srgbClr val="16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3327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67CC"/>
                </a:solidFill>
              </a:rPr>
              <a:t>MSP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2893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8C8"/>
                </a:solidFill>
              </a:rPr>
              <a:t>5 AEs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08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Jan: 170   Feb: 218   Mar Proj: 232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72821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Avg projected: 46/AE  ·  ✓ On 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005840"/>
            <a:ext cx="5806440" cy="141732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05840"/>
            <a:ext cx="45720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3327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PSA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893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8C8"/>
                </a:solidFill>
              </a:rPr>
              <a:t>11 AEs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Jan: 370   Feb: 381   Mar Proj: 454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2821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C570"/>
                </a:solidFill>
              </a:rPr>
              <a:t>Avg projected: 41/AE  ·  ✓ On pace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542032"/>
            <a:ext cx="11823192" cy="237744"/>
          </a:xfrm>
          <a:prstGeom prst="rect">
            <a:avLst/>
          </a:prstGeom>
          <a:solidFill>
            <a:srgbClr val="2D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569463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KEY OBSERVATIONS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816352"/>
            <a:ext cx="2834640" cy="182880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816352"/>
            <a:ext cx="2834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287121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⚠ Dahlstrom — 1 meeting MTD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" y="3145536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Patrick Dahlstrom at 1 meeting in March vs 35 in Feb. Likely a data/logging issue or extended absence. Verify before using for capacity planning.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8104" y="2816352"/>
            <a:ext cx="2834640" cy="182880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18104" y="2816352"/>
            <a:ext cx="2834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7832" y="287121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⚠ Nassim &amp; Usman — Near Zero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7832" y="3145536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Nassim Filoso (0) and Usman Zahoor (2) showing minimal March activity. Both were 25-37/month in Jan/Feb. Needs follow-up.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2816352"/>
            <a:ext cx="2834640" cy="182880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53328" y="2816352"/>
            <a:ext cx="2834640" cy="36576"/>
          </a:xfrm>
          <a:prstGeom prst="rect">
            <a:avLst/>
          </a:prstGeom>
          <a:solidFill>
            <a:srgbClr val="3DC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056" y="287121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C570"/>
                </a:solidFill>
              </a:rPr>
              <a:t>✓ Davies &amp; Whisenant Leading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3145536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Patrick Davies (60 MTD, projecting 79) and Andy Whisenant (56 MTD, projecting 74) pacing well above benchmark. Top performers this month.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88551" y="2816352"/>
            <a:ext cx="2834640" cy="1828800"/>
          </a:xfrm>
          <a:prstGeom prst="rect">
            <a:avLst/>
          </a:prstGeom>
          <a:solidFill>
            <a:srgbClr val="23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88551" y="2816352"/>
            <a:ext cx="2834640" cy="36576"/>
          </a:xfrm>
          <a:prstGeom prst="rect">
            <a:avLst/>
          </a:prstGeom>
          <a:solidFill>
            <a:srgbClr val="3DC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79" y="287121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C570"/>
                </a:solidFill>
              </a:rPr>
              <a:t>✓ Overall Pace Improving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145536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Team projecting 686 total meetings in March vs 599 in Feb. 7 business days remaining to close the gap to benchmark.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736592"/>
            <a:ext cx="11823192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4764024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AES NEEDING TO INCREASE PACE — 7 DAYS REMAINING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4992624"/>
            <a:ext cx="11823192" cy="219456"/>
          </a:xfrm>
          <a:prstGeom prst="rect">
            <a:avLst/>
          </a:prstGeom>
          <a:solidFill>
            <a:srgbClr val="2D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" y="5010912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AE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42616" y="50109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4136" y="50109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MTD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97096" y="501091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Projected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1496" y="50109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Gap to Benchmark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17536" y="5010912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Meetings Needed (7 days)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5230368"/>
            <a:ext cx="11823192" cy="237744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" y="5266944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Olivia Sandefur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42616" y="5266944"/>
            <a:ext cx="585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74136" y="5266944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7096" y="526694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E3E"/>
                </a:solidFill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11496" y="5266944"/>
            <a:ext cx="2459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E3E"/>
                </a:solidFill>
              </a:rPr>
              <a:t>-30 below target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17536" y="5266944"/>
            <a:ext cx="4242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7C2A"/>
                </a:solidFill>
              </a:rPr>
              <a:t>32 total  (5/day)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5468112"/>
            <a:ext cx="11823192" cy="237744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9456" y="5504688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Husam Zalmiyar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42616" y="5504688"/>
            <a:ext cx="585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74136" y="5504688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97096" y="5504688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E3E"/>
                </a:solidFill>
              </a:rPr>
              <a:t>29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11496" y="5504688"/>
            <a:ext cx="2459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E3E"/>
                </a:solidFill>
              </a:rPr>
              <a:t>-11 below target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17536" y="5504688"/>
            <a:ext cx="4242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7C2A"/>
                </a:solidFill>
              </a:rPr>
              <a:t>18 total  (3/day)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5705856"/>
            <a:ext cx="11823192" cy="237744"/>
          </a:xfrm>
          <a:prstGeom prst="rect">
            <a:avLst/>
          </a:prstGeom>
          <a:solidFill>
            <a:srgbClr val="16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9456" y="5742432"/>
            <a:ext cx="2276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Davis Herndon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42616" y="5742432"/>
            <a:ext cx="585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B6D4"/>
                </a:solidFill>
              </a:rPr>
              <a:t>PSA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74136" y="5742432"/>
            <a:ext cx="676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8"/>
                </a:solidFill>
              </a:rPr>
              <a:t>28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97096" y="5742432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E3E"/>
                </a:solidFill>
              </a:rPr>
              <a:t>37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11496" y="5742432"/>
            <a:ext cx="2459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53E3E"/>
                </a:solidFill>
              </a:rPr>
              <a:t>-3 below target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17536" y="5742432"/>
            <a:ext cx="4242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7C2A"/>
                </a:solidFill>
              </a:rPr>
              <a:t>12 total  (2/day)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8C8"/>
                </a:solidFill>
              </a:rPr>
              <a:t>Rev.io  ·  Confidential  ·  Prepared by Ryan Koontz, SVP Sales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6693408"/>
            <a:ext cx="3017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A8C8"/>
                </a:solidFill>
              </a:rPr>
              <a:t>ROBIN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6322</TotalTime>
  <Words>5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Avenir Medium</vt:lpstr>
      <vt:lpstr>Brandon Grotesque Medium</vt:lpstr>
      <vt:lpstr>Montserrat</vt:lpstr>
      <vt:lpstr>Montserrat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Koontz</dc:creator>
  <cp:lastModifiedBy>Ryan Koontz</cp:lastModifiedBy>
  <cp:revision>13</cp:revision>
  <dcterms:created xsi:type="dcterms:W3CDTF">2025-11-17T01:40:24Z</dcterms:created>
  <dcterms:modified xsi:type="dcterms:W3CDTF">2026-03-19T16:40:10Z</dcterms:modified>
</cp:coreProperties>
</file>