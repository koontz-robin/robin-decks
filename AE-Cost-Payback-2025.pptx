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4" name="Shape 42"/>
          <p:cNvSpPr/>
          <p:nvPr/>
        </p:nvSpPr>
        <p:spPr>
          <a:xfrm>
            <a:off x="59436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7" name="Shape 45"/>
          <p:cNvSpPr/>
          <p:nvPr/>
        </p:nvSpPr>
        <p:spPr>
          <a:xfrm>
            <a:off x="73152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9" name="Shape 47"/>
          <p:cNvSpPr/>
          <p:nvPr/>
        </p:nvSpPr>
        <p:spPr>
          <a:xfrm>
            <a:off x="82296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8288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Cost Payback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51" name="Shape 49"/>
          <p:cNvSpPr/>
          <p:nvPr/>
        </p:nvSpPr>
        <p:spPr>
          <a:xfrm>
            <a:off x="640080" y="3931920"/>
            <a:ext cx="32004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— Are Reps Paying Back Their Cost?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Ryan Koontz, SVP Sales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AE generate more revenue than they cost?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$1 we spend on an AE,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ARR do they generate?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$790,324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029200" y="36576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$2,082,576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Payback: 2.64x  →  Every $1 spent generated $2.64 in ARR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average hides a massive spread...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PAYBACK BY AE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— ARR Generated vs. Total Cost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57200"/>
                <a:gridCol w="502920"/>
                <a:gridCol w="914400"/>
                <a:gridCol w="1005840"/>
                <a:gridCol w="1097280"/>
                <a:gridCol w="77724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Generated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(ARR - Cost)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Mo. 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$96,153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$571,356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+$475,203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$438,240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+$346,590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$322,032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+$228,991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$47,724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+$28,664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$87,964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$195,540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+$107,576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$81,267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+$49,533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$79,095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$124,968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+$45,873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$78,461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$103,380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+$24,919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$77,529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$92,832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+$15,303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-$1,180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$68,604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$39,384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-$29,220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"Months to Payback" = how many months of MRR it takes to cover the AE's full annual cost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4937760"/>
            <a:ext cx="8595360" cy="640080"/>
          </a:xfrm>
          <a:prstGeom prst="roundRect">
            <a:avLst>
              <a:gd name="adj" fmla="val 8571"/>
            </a:avLst>
          </a:prstGeom>
          <a:solidFill>
            <a:srgbClr val="1B2E4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983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11 AEs generated more ARR than their fully loaded cost.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AEs did not pay back their cost — combined $133K gap.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BACK THEIR COST?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Generated vs. Total Cost — Full Year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2011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Dahlstrom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2039112"/>
            <a:ext cx="1000243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157984"/>
            <a:ext cx="5943600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0116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2377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Butler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2404872"/>
            <a:ext cx="953400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2523744"/>
            <a:ext cx="4558845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23774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" y="2743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Abarno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63040" y="2770632"/>
            <a:ext cx="967870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2889504"/>
            <a:ext cx="3349977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7432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Herndon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63040" y="3136392"/>
            <a:ext cx="198274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463040" y="3255264"/>
            <a:ext cx="496455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3108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" y="34747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Whisenant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3040" y="3502152"/>
            <a:ext cx="915056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3621024"/>
            <a:ext cx="2034129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3474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38404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Borah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63040" y="3867912"/>
            <a:ext cx="845390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3040" y="3986784"/>
            <a:ext cx="1360663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8404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Mitchell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63040" y="4233672"/>
            <a:ext cx="822795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4352544"/>
            <a:ext cx="1299995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42062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" y="4572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Flynn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463040" y="4599432"/>
            <a:ext cx="816200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463040" y="4718304"/>
            <a:ext cx="1075423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45720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" y="49377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Davies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63040" y="4965192"/>
            <a:ext cx="806505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463040" y="5084064"/>
            <a:ext cx="965696" cy="118872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49377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" y="5303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Bender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63040" y="5330952"/>
            <a:ext cx="182046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463040" y="5449824"/>
            <a:ext cx="169771" cy="1188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5" name="Text 43"/>
          <p:cNvSpPr/>
          <p:nvPr/>
        </p:nvSpPr>
        <p:spPr>
          <a:xfrm>
            <a:off x="7589520" y="5303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2880" y="5669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Zalmiyar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63040" y="5696712"/>
            <a:ext cx="713661" cy="118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463040" y="5815584"/>
            <a:ext cx="409697" cy="11887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9" name="Text 47"/>
          <p:cNvSpPr/>
          <p:nvPr/>
        </p:nvSpPr>
        <p:spPr>
          <a:xfrm>
            <a:off x="7589520" y="56692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463040" y="6217920"/>
            <a:ext cx="365760" cy="1097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20240" y="61539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0" y="6217920"/>
            <a:ext cx="365760" cy="109728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0" y="6153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(payback)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6217920"/>
            <a:ext cx="36576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5" name="Text 53"/>
          <p:cNvSpPr/>
          <p:nvPr/>
        </p:nvSpPr>
        <p:spPr>
          <a:xfrm>
            <a:off x="5212080" y="6153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(no payback)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BY SALES MOTION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 vs. PSA-Only — Full Year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Butler, Abarno, Dahlstrom, Whisenant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$368,808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Generated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310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$1,527,168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ARR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6941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+$1,158,360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782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0782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4.14x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62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AEs Pay Back?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4462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3 of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Whisenant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4846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 (2.22x, covers cost)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243D5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PSA-ONLY TEAM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Flynn, Mitchell, Borah, Davies,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Zalmiyar, Herndon, Bender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$421,516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310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$555,408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ARR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6941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+$133,892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40782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Ratio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0782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462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Paying Back?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462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4846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Non-Payback Gap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4846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-$133K combined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Cost Payback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BACK THEIR COST (7 AEs)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Dahlstrom (5.9x)  •  Butler (4.8x)  •  Abarno (3.5x)  •  Herndon (2.5x)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Whisenant (2.2x)  •  Borah (1.6x)  •  Mitchell (1.6x)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43D5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PAYING BACK THEIR COST (4 AEs)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Flynn (1.3x, -$0 marginal)  •  Davies (1.2x, gap growing)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Bender (0.9x, 3 months in)  •  Zalmiyar (0.6x after 9 months — biggest concern)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43D5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303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as a whole generates 2.64x their cost — healthy.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53% of spend goes to reps returning only 1.32x.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shifted from PSA-only to MSP motion yields 3x more ARR.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AEs SPEND THEIR TIME?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vs. Reality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WHERE AE TIME ACTUALLY GOES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74320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28-35%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17373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20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920240"/>
            <a:ext cx="164592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920240"/>
            <a:ext cx="1280160" cy="45720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1005840" cy="4572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1920240"/>
            <a:ext cx="64008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06040"/>
            <a:ext cx="182880" cy="137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560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Selling (calls, demos, meetings)  —  28-35%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898648"/>
            <a:ext cx="18288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529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CRM Data Entry  —  18-20%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91256"/>
            <a:ext cx="182880" cy="137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455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&amp; Research  —  15-20%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483864"/>
            <a:ext cx="182880" cy="137160"/>
          </a:xfrm>
          <a:prstGeom prst="rect">
            <a:avLst/>
          </a:prstGeom>
          <a:solidFill>
            <a:srgbClr val="24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43814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Meetings  —  12-15%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776472"/>
            <a:ext cx="182880" cy="13716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30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Communication  —  10-12%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8288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23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Other  —  5-8%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WHERE AE TIME SHOULD GO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800600"/>
            <a:ext cx="2743200" cy="18288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60-65%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5029200"/>
            <a:ext cx="1554480" cy="457200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5029200"/>
            <a:ext cx="82296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5029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21040" y="5029200"/>
            <a:ext cx="73152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5669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Salesforce State of Sales 2024, CSO Insights, HubSpot Sales Trends 2024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594360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1B2E4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rep spends only 30% of time selling. Top performers flip this to 60%+. Every 10% shift = ~4 more selling hours/week.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Time Benchmarks to Rev.io AEs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AEs FOLLOW INDUSTRY AVERAGES...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40-hour week, the average AE spends only ~12 hours actively selling.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~14 hours/week on admin, CRM updates, and internal meetings.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11 AEs, that's 154 hours/week of non-selling time across the team.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2743200" cy="18288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selling time (est.)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→ 12 hrs/wk per AE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81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selling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 → 20 hrs/wk per AE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0657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selling hours (team)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5065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 hrs/week across 11 AEs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449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at current conversion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5449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+30-40% more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TO PULL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CRM updates  •  Automate email sequences (Outreach)  •  Reduce internal meetings  •  SDR team handles prospecting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Cost Payback in H1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GROW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18288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3 AEs (Dahlstrom, Butler, Abarno) returning 3.5-5.9x — invest more here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Herndon at 2.5x after just 3 months — strong early signal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Borah &amp; Mitchell near breakeven at 1.6x — coaching can push them 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PIVOT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274320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Zalmiyar at 0.57x after 9 months — clear performance plan needed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Davies at 1.2x after 12 months — not sustainable long-term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Flynn at 1.32x — borderline, needs more products or higher conversion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Bender at 0.93x — only 3 months, monitor closely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852160"/>
            <a:ext cx="2743200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943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bottom 4 AEs hit 2.0x payback → +$289K additional ARR on same spend.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reallocate underperforming spend to MSP motion → potential 3-4x return.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2026-02-18T02:05:28Z</dcterms:created>
  <dcterms:modified xsi:type="dcterms:W3CDTF">2026-02-18T02:05:28Z</dcterms:modified>
</cp:coreProperties>
</file>