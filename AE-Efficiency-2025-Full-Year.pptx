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0" y="914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371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0" y="18288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4" name="Shape 32"/>
          <p:cNvSpPr/>
          <p:nvPr/>
        </p:nvSpPr>
        <p:spPr>
          <a:xfrm>
            <a:off x="68580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32004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4" name="Shape 42"/>
          <p:cNvSpPr/>
          <p:nvPr/>
        </p:nvSpPr>
        <p:spPr>
          <a:xfrm>
            <a:off x="5943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6" name="Shape 44"/>
          <p:cNvSpPr/>
          <p:nvPr/>
        </p:nvSpPr>
        <p:spPr>
          <a:xfrm>
            <a:off x="68580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7" name="Shape 45"/>
          <p:cNvSpPr/>
          <p:nvPr/>
        </p:nvSpPr>
        <p:spPr>
          <a:xfrm>
            <a:off x="73152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49" name="Shape 47"/>
          <p:cNvSpPr/>
          <p:nvPr/>
        </p:nvSpPr>
        <p:spPr>
          <a:xfrm>
            <a:off x="8229600" y="3657600"/>
            <a:ext cx="54864" cy="54864"/>
          </a:xfrm>
          <a:prstGeom prst="ellipse">
            <a:avLst/>
          </a:prstGeom>
          <a:solidFill>
            <a:srgbClr val="243D5C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8288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Analysis</a:t>
            </a:r>
            <a:endParaRPr lang="en-US" sz="3800" dirty="0"/>
          </a:p>
        </p:txBody>
      </p:sp>
      <p:sp>
        <p:nvSpPr>
          <p:cNvPr id="51" name="Shape 49"/>
          <p:cNvSpPr/>
          <p:nvPr/>
        </p:nvSpPr>
        <p:spPr>
          <a:xfrm>
            <a:off x="640080" y="3931920"/>
            <a:ext cx="32004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Review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4008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Ryan Koontz, SVP Sales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HERE?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AE-level sales efficiency for the full year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what's working and what's not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distinct sales motions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plan for H1 2026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Constantly Seek Improvement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776472"/>
            <a:ext cx="4572000" cy="13716"/>
          </a:xfrm>
          <a:prstGeom prst="rect">
            <a:avLst/>
          </a:prstGeom>
          <a:solidFill>
            <a:srgbClr val="3BA83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Performance at a Glance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94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$173,548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10312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194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$2.08M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94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$790,324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10312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2,415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sales motions with dramatically different full-year results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 (Butler, Abarno, Dahlstrom, Whisenant):  $127,264 MRR  |  $369K cost  |  4.13x efficiency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 Team (Flynn thru Bender):  $46,284 MRR  |  $422K cost  |  1.32x efficiency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all MRR came from 4 AEs on the MSP motion at half the total cost.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spend went to PSA-only reps who produced 27% of MRR.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AE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— Ranked by Sales Efficiency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11480"/>
                <a:gridCol w="548640"/>
                <a:gridCol w="457200"/>
                <a:gridCol w="685800"/>
                <a:gridCol w="640080"/>
                <a:gridCol w="685800"/>
                <a:gridCol w="685800"/>
                <a:gridCol w="640080"/>
                <a:gridCol w="548640"/>
                <a:gridCol w="640080"/>
                <a:gridCol w="594360"/>
                <a:gridCol w="548640"/>
                <a:gridCol w="457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$96,153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$21,953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$47,613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$91,650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$21,650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$36,520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$26,836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$87,964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$13,764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$81,267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$11,267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$10,900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$10,414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$8,461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$7,736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663440"/>
            <a:ext cx="8595360" cy="502920"/>
          </a:xfrm>
          <a:prstGeom prst="roundRect">
            <a:avLst>
              <a:gd name="adj" fmla="val 10909"/>
            </a:avLst>
          </a:prstGeom>
          <a:solidFill>
            <a:srgbClr val="1B2E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Total: $790K cost → $174K MRR → $2.08M ARR  |  Team Efficiency: 2.64x  |  688 MQLs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EFFICIENCY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— MRR per Dollar Spent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02920"/>
                <a:gridCol w="914400"/>
                <a:gridCol w="914400"/>
                <a:gridCol w="1005840"/>
                <a:gridCol w="82296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$96,153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$47,613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$571,356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Performer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$91,650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$36,520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$438,240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$93,041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$26,836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$322,032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$47,724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BA8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(3 mo)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$87,964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$195,540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$10,900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$79,095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$10,414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$124,968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$78,461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$103,380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Underperforming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$7,736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$92,832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Underperforming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(3 mo)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$39,384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Underperforming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846320"/>
            <a:ext cx="8595360" cy="731520"/>
          </a:xfrm>
          <a:prstGeom prst="roundRect">
            <a:avLst>
              <a:gd name="adj" fmla="val 7500"/>
            </a:avLst>
          </a:prstGeom>
          <a:solidFill>
            <a:srgbClr val="1B2E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92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Team: $369K cost → $127K MRR  |  4.13x efficiency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PSA-Only: $422K cost → $46K MRR  |  1.32x efficiency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SALES MOTIONS, TWO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 vs. PSA-Only — Full Year 2025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243D5C"/>
          </a:solidFill>
          <a:ln w="12700">
            <a:solidFill>
              <a:srgbClr val="4C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Butler, Abarno, Dahlstrom, Whisenant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 PSA + Payments → MSPs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$368,808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Booked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$127,264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Booked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$1.53M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Efficiency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Quota Attainment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Meetings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2608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01168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243D5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PSA-ONLY TEAM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Flynn, Mitchell, Borah, Davies,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Zalmiyar, Herndon, Bender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$421,516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Booked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$46,284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Booked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931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$555K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Efficiency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1.32x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Quota Attainment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Meetings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VOLUME &amp; CONVERSION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2025 — Meetings, Conversion &amp; Cost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"/>
                <a:gridCol w="548640"/>
                <a:gridCol w="685800"/>
                <a:gridCol w="640080"/>
                <a:gridCol w="868680"/>
                <a:gridCol w="731520"/>
                <a:gridCol w="731520"/>
                <a:gridCol w="54864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Mtgs/Mo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Booked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Cost/Mtg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MQLs/Mo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Dahlstrom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$47,613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Butler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$36,520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Abarno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$26,836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Whisenant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Flynn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Davies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$7,736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Mitchell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$10,414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Borah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Zalmiyar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Bender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Herndon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663440"/>
            <a:ext cx="8595360" cy="640080"/>
          </a:xfrm>
          <a:prstGeom prst="roundRect">
            <a:avLst>
              <a:gd name="adj" fmla="val 8571"/>
            </a:avLst>
          </a:prstGeom>
          <a:solidFill>
            <a:srgbClr val="1B2E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AEs average 29 meetings/month at $104 MRR/meeting.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(full year): 18 meetings/month at $40 MRR/meeting — a volume AND conversion gap.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4572000" cy="36576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Efficiency Gap in H1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— DOUBLE 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18288"/>
          </a:xfrm>
          <a:prstGeom prst="rect">
            <a:avLst/>
          </a:prstGeom>
          <a:solidFill>
            <a:srgbClr val="4CC9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MSP motion: 4.13x full-year efficiency — strong and scalable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Dahlstrom at 5.94x, Butler at 4.78x — proven top performers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 3 generated 73% of all MRR at 47% of total cost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Product-market fit proven with full platform offering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CHANGE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274320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PSA-only motion at 1.32x — $422K spent for $46K MRR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Zalmiyar at 0.57x after 9 months — well below threshold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53% of sales spend producing only 27% of MRR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5760720"/>
            <a:ext cx="2743200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806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Increase meeting volume — target 8-10/week for all ramped AEs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Replicate Dahlstrom's playbook across the team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 PSA-only strategy — arm reps with more products or pivot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 clear 90-day performance benchmarks for underperformers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Optimize vendor stack ($215K/yr) relative to team output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2026-02-18T01:59:29Z</dcterms:created>
  <dcterms:modified xsi:type="dcterms:W3CDTF">2026-02-18T01:59:29Z</dcterms:modified>
</cp:coreProperties>
</file>