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6" name="Shape 34"/>
          <p:cNvSpPr/>
          <p:nvPr/>
        </p:nvSpPr>
        <p:spPr>
          <a:xfrm>
            <a:off x="77724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7" name="Shape 35"/>
          <p:cNvSpPr/>
          <p:nvPr/>
        </p:nvSpPr>
        <p:spPr>
          <a:xfrm>
            <a:off x="82296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1" name="Shape 39"/>
          <p:cNvSpPr/>
          <p:nvPr/>
        </p:nvSpPr>
        <p:spPr>
          <a:xfrm>
            <a:off x="73152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3" name="Shape 41"/>
          <p:cNvSpPr/>
          <p:nvPr/>
        </p:nvSpPr>
        <p:spPr>
          <a:xfrm>
            <a:off x="82296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4" name="Shape 42"/>
          <p:cNvSpPr/>
          <p:nvPr/>
        </p:nvSpPr>
        <p:spPr>
          <a:xfrm>
            <a:off x="59436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6" name="Shape 44"/>
          <p:cNvSpPr/>
          <p:nvPr/>
        </p:nvSpPr>
        <p:spPr>
          <a:xfrm>
            <a:off x="68580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7" name="Shape 45"/>
          <p:cNvSpPr/>
          <p:nvPr/>
        </p:nvSpPr>
        <p:spPr>
          <a:xfrm>
            <a:off x="73152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8" name="Shape 46"/>
          <p:cNvSpPr/>
          <p:nvPr/>
        </p:nvSpPr>
        <p:spPr>
          <a:xfrm>
            <a:off x="77724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9" name="Shape 47"/>
          <p:cNvSpPr/>
          <p:nvPr/>
        </p:nvSpPr>
        <p:spPr>
          <a:xfrm>
            <a:off x="82296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18288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Executive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Analysis</a:t>
            </a:r>
            <a:endParaRPr lang="en-US" sz="3800" dirty="0"/>
          </a:p>
        </p:txBody>
      </p:sp>
      <p:sp>
        <p:nvSpPr>
          <p:cNvPr id="51" name="Shape 49"/>
          <p:cNvSpPr/>
          <p:nvPr/>
        </p:nvSpPr>
        <p:spPr>
          <a:xfrm>
            <a:off x="640080" y="3931920"/>
            <a:ext cx="32004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&amp; Full Year Review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40080" y="4754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Ryan Koontz, SVP Sales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HERE?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AE-level sales efficiency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764792"/>
            <a:ext cx="4572000" cy="13716"/>
          </a:xfrm>
          <a:prstGeom prst="rect">
            <a:avLst/>
          </a:prstGeom>
          <a:solidFill>
            <a:srgbClr val="3BA8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what's working and what's not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4572000" cy="13716"/>
          </a:xfrm>
          <a:prstGeom prst="rect">
            <a:avLst/>
          </a:prstGeom>
          <a:solidFill>
            <a:srgbClr val="3B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distinct sales motions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770632"/>
            <a:ext cx="4572000" cy="13716"/>
          </a:xfrm>
          <a:prstGeom prst="rect">
            <a:avLst/>
          </a:prstGeom>
          <a:solidFill>
            <a:srgbClr val="3BA83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plan for H1 2026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4572000" cy="13716"/>
          </a:xfrm>
          <a:prstGeom prst="rect">
            <a:avLst/>
          </a:prstGeom>
          <a:solidFill>
            <a:srgbClr val="3B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Constantly Seek Improvement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776472"/>
            <a:ext cx="4572000" cy="13716"/>
          </a:xfrm>
          <a:prstGeom prst="rect">
            <a:avLst/>
          </a:prstGeom>
          <a:solidFill>
            <a:srgbClr val="3BA83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45720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Performance at a Glance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$80,758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MRR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1031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194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$231,101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Total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194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4632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Quota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Attainment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21031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194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4088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sales motions with dramatically different results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Team (Butler, Abarno, Dahlstrom, Whisenant):  $63,606 MRR  |  113% Avg Quota  |  69% of bookings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PSA-Only Team (Flynn, Mitchell, Borah, Davies, Zalmiyar, Herndon, Bender):  $17,152 MRR  |  33% Avg Quota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AEs generated 69% of all Q4 bookings. The MSP motion is proven and efficient.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PSA-only motion is early-stage with a market penetration challenge.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INDIVIDUAL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Sales Efficiency Ratio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280160"/>
          <a:ext cx="8869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57200"/>
                <a:gridCol w="640080"/>
                <a:gridCol w="777240"/>
                <a:gridCol w="731520"/>
                <a:gridCol w="777240"/>
                <a:gridCol w="777240"/>
                <a:gridCol w="685800"/>
                <a:gridCol w="594360"/>
                <a:gridCol w="640080"/>
                <a:gridCol w="640080"/>
                <a:gridCol w="457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MRR/Mtg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Dahlstrom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$26,609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$17,888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$8,721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Abarno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$22,533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$17,888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$4,645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Butler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$29,095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$12,220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$16,250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Whisenant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$20,933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$17,888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$7,290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Herndon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$18,435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Mitchell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$20,314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Flynn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Borah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$23,022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$6,147*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Bender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Davies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$17,335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Zalmiyar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Borah commission includes trailing payments from prior quarters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" y="4937760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1B2E4A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983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Total: $231K cost → $81K MRR | Efficiency: 4.19x  |  177 MQLs (5.36/mo avg)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2025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View — All AEs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280160"/>
          <a:ext cx="8869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57200"/>
                <a:gridCol w="640080"/>
                <a:gridCol w="502920"/>
                <a:gridCol w="777240"/>
                <a:gridCol w="777240"/>
                <a:gridCol w="777240"/>
                <a:gridCol w="685800"/>
                <a:gridCol w="594360"/>
                <a:gridCol w="640080"/>
                <a:gridCol w="640080"/>
                <a:gridCol w="502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MRR/Mtg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Dahlstrom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$96,153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$21,953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$47,613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Butler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$91,650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$21,650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$36,520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Abarno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$93,041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$23,041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$26,836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Herndon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Whisenant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$87,964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$13,764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$16,295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Borah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$81,267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$11,267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$10,900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Mitchell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$79,095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$10,414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Flynn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$78,461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$8,461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$8,615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Davies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$77,529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$7,736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Bender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Zalmiyar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$68,604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937760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1B2E4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983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Year: $790K cost → $174K MRR | Efficiency: 2.64x  |  688 MQLs (5.21/mo avg)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45720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SALES MOTIONS, TWO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Team vs. PSA-Only — Q4 2025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3931920" cy="3840480"/>
          </a:xfrm>
          <a:prstGeom prst="roundRect">
            <a:avLst>
              <a:gd name="adj" fmla="val 1905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TEAM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Butler, Abarno, Dahlstrom, Whisenant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+ PSA + Payments → MSPs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Total 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$99,170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MRR Booked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3566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$63,606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Efficiency Ratio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3931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7.54x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Quota Attainment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4297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Meetings/Week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MRR/Meeting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011680"/>
            <a:ext cx="3931920" cy="3840480"/>
          </a:xfrm>
          <a:prstGeom prst="roundRect">
            <a:avLst>
              <a:gd name="adj" fmla="val 1905"/>
            </a:avLst>
          </a:prstGeom>
          <a:solidFill>
            <a:srgbClr val="243D5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PSA-ONLY TEAM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2514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Flynn, Mitchell, Borah, Davies, Zalmiyar, Herndon, Bender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Only → Different Market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Total Cost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$131,931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MRR Booked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3566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$17,152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Efficiency Ratio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3931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Quota Attainment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4297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Meetings/Week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MRR/Meeting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66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VOLUME &amp; CONVERSION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Rate vs. MRR per Meeting — Q4 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48640"/>
                <a:gridCol w="914400"/>
                <a:gridCol w="822960"/>
                <a:gridCol w="1005840"/>
                <a:gridCol w="914400"/>
                <a:gridCol w="914400"/>
                <a:gridCol w="6400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Meetings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Mtgs/Wk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Booked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MRR/Mtg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Cost/Mtg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Abarno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Butler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$16,250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Dahlstrom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Davies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Flynn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Whisenant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$7,290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Bender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Mitchell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Borah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Zalmiyar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Herndon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benchmark: 10-12 prospect meetings/week for mid-market B2B SaaS AEs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5029200"/>
            <a:ext cx="8595360" cy="640080"/>
          </a:xfrm>
          <a:prstGeom prst="roundRect">
            <a:avLst>
              <a:gd name="adj" fmla="val 8571"/>
            </a:avLst>
          </a:prstGeom>
          <a:solidFill>
            <a:srgbClr val="1B2E4A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5074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AE hitting 10/week benchmark. Top performers compensate with higher conversion.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half: half the meetings at 1/4 the conversion.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SALES COSTS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Stack — Quarterly &amp; Annual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 Video Comm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$11,099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Outreach Corporation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SalesIntel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$38,370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$9,593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576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B2E4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703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Vendor Stack: $215,202/yr  |  $53,801/qtr  |  $17,934/mo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45720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Efficiency Gap in H1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 — DOUBLE DOWN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743200" cy="18288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MSP motion: 7.54x efficiency — strong and scalable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Dahlstrom converting at $278 MRR per meeting (11.3x efficiency)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Product-market fit proven with full platform offering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TO CHANGE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2743200" cy="1828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PSA-only motion at 1.53x efficiency — below sustainable threshold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Meeting volume across the board below industry benchmarks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Bottom 5 AEs: $95K Q4 cost generating $8.3K MRR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5669280"/>
            <a:ext cx="2743200" cy="18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760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Increase meeting volume — target 10/week for all ramped AEs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Improve conversion through coaching, enablement &amp; AI personalization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Evaluate PSA-only strategy — arm reps with more products or pivot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Replicate top performer playbook (Dahlstrom) across the team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Set clear 90-day performance benchmarks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2026-02-18T01:48:33Z</dcterms:created>
  <dcterms:modified xsi:type="dcterms:W3CDTF">2026-02-18T01:48:33Z</dcterms:modified>
</cp:coreProperties>
</file>