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333333">
                <a:alpha val="0"/>
              </a:srgbClr>
            </a:solidFill>
            <a:prstDash val="solid"/>
          </a:ln>
        </p:spPr>
      </p:sp>
      <p:sp>
        <p:nvSpPr>
          <p:cNvPr id="3" name="Shape 1"/>
          <p:cNvSpPr/>
          <p:nvPr/>
        </p:nvSpPr>
        <p:spPr>
          <a:xfrm>
            <a:off x="0" y="0"/>
            <a:ext cx="0" cy="6858000"/>
          </a:xfrm>
          <a:prstGeom prst="line">
            <a:avLst/>
          </a:prstGeom>
          <a:noFill/>
          <a:ln w="12700">
            <a:solidFill>
              <a:srgbClr val="FFFFFF">
                <a:alpha val="4000"/>
              </a:srgbClr>
            </a:solidFill>
            <a:prstDash val="solid"/>
          </a:ln>
        </p:spPr>
      </p:sp>
      <p:sp>
        <p:nvSpPr>
          <p:cNvPr id="4" name="Shape 2"/>
          <p:cNvSpPr/>
          <p:nvPr/>
        </p:nvSpPr>
        <p:spPr>
          <a:xfrm>
            <a:off x="502920" y="0"/>
            <a:ext cx="0" cy="6858000"/>
          </a:xfrm>
          <a:prstGeom prst="line">
            <a:avLst/>
          </a:prstGeom>
          <a:noFill/>
          <a:ln w="12700">
            <a:solidFill>
              <a:srgbClr val="FFFFFF">
                <a:alpha val="4000"/>
              </a:srgbClr>
            </a:solidFill>
            <a:prstDash val="solid"/>
          </a:ln>
        </p:spPr>
      </p:sp>
      <p:sp>
        <p:nvSpPr>
          <p:cNvPr id="5" name="Shape 3"/>
          <p:cNvSpPr/>
          <p:nvPr/>
        </p:nvSpPr>
        <p:spPr>
          <a:xfrm>
            <a:off x="1005840" y="0"/>
            <a:ext cx="0" cy="6858000"/>
          </a:xfrm>
          <a:prstGeom prst="line">
            <a:avLst/>
          </a:prstGeom>
          <a:noFill/>
          <a:ln w="12700">
            <a:solidFill>
              <a:srgbClr val="FFFFFF">
                <a:alpha val="4000"/>
              </a:srgbClr>
            </a:solidFill>
            <a:prstDash val="solid"/>
          </a:ln>
        </p:spPr>
      </p:sp>
      <p:sp>
        <p:nvSpPr>
          <p:cNvPr id="6" name="Shape 4"/>
          <p:cNvSpPr/>
          <p:nvPr/>
        </p:nvSpPr>
        <p:spPr>
          <a:xfrm>
            <a:off x="1508760" y="0"/>
            <a:ext cx="0" cy="6858000"/>
          </a:xfrm>
          <a:prstGeom prst="line">
            <a:avLst/>
          </a:prstGeom>
          <a:noFill/>
          <a:ln w="12700">
            <a:solidFill>
              <a:srgbClr val="FFFFFF">
                <a:alpha val="4000"/>
              </a:srgbClr>
            </a:solidFill>
            <a:prstDash val="solid"/>
          </a:ln>
        </p:spPr>
      </p:sp>
      <p:sp>
        <p:nvSpPr>
          <p:cNvPr id="7" name="Shape 5"/>
          <p:cNvSpPr/>
          <p:nvPr/>
        </p:nvSpPr>
        <p:spPr>
          <a:xfrm>
            <a:off x="2011680" y="0"/>
            <a:ext cx="0" cy="6858000"/>
          </a:xfrm>
          <a:prstGeom prst="line">
            <a:avLst/>
          </a:prstGeom>
          <a:noFill/>
          <a:ln w="12700">
            <a:solidFill>
              <a:srgbClr val="FFFFFF">
                <a:alpha val="4000"/>
              </a:srgbClr>
            </a:solidFill>
            <a:prstDash val="solid"/>
          </a:ln>
        </p:spPr>
      </p:sp>
      <p:sp>
        <p:nvSpPr>
          <p:cNvPr id="8" name="Shape 6"/>
          <p:cNvSpPr/>
          <p:nvPr/>
        </p:nvSpPr>
        <p:spPr>
          <a:xfrm>
            <a:off x="2514600" y="0"/>
            <a:ext cx="0" cy="6858000"/>
          </a:xfrm>
          <a:prstGeom prst="line">
            <a:avLst/>
          </a:prstGeom>
          <a:noFill/>
          <a:ln w="12700">
            <a:solidFill>
              <a:srgbClr val="FFFFFF">
                <a:alpha val="4000"/>
              </a:srgbClr>
            </a:solidFill>
            <a:prstDash val="solid"/>
          </a:ln>
        </p:spPr>
      </p:sp>
      <p:sp>
        <p:nvSpPr>
          <p:cNvPr id="9" name="Shape 7"/>
          <p:cNvSpPr/>
          <p:nvPr/>
        </p:nvSpPr>
        <p:spPr>
          <a:xfrm>
            <a:off x="3017520" y="0"/>
            <a:ext cx="0" cy="6858000"/>
          </a:xfrm>
          <a:prstGeom prst="line">
            <a:avLst/>
          </a:prstGeom>
          <a:noFill/>
          <a:ln w="12700">
            <a:solidFill>
              <a:srgbClr val="FFFFFF">
                <a:alpha val="4000"/>
              </a:srgbClr>
            </a:solidFill>
            <a:prstDash val="solid"/>
          </a:ln>
        </p:spPr>
      </p:sp>
      <p:sp>
        <p:nvSpPr>
          <p:cNvPr id="10" name="Shape 8"/>
          <p:cNvSpPr/>
          <p:nvPr/>
        </p:nvSpPr>
        <p:spPr>
          <a:xfrm>
            <a:off x="3520440" y="0"/>
            <a:ext cx="0" cy="6858000"/>
          </a:xfrm>
          <a:prstGeom prst="line">
            <a:avLst/>
          </a:prstGeom>
          <a:noFill/>
          <a:ln w="12700">
            <a:solidFill>
              <a:srgbClr val="FFFFFF">
                <a:alpha val="4000"/>
              </a:srgbClr>
            </a:solidFill>
            <a:prstDash val="solid"/>
          </a:ln>
        </p:spPr>
      </p:sp>
      <p:sp>
        <p:nvSpPr>
          <p:cNvPr id="11" name="Shape 9"/>
          <p:cNvSpPr/>
          <p:nvPr/>
        </p:nvSpPr>
        <p:spPr>
          <a:xfrm>
            <a:off x="4023360" y="0"/>
            <a:ext cx="0" cy="6858000"/>
          </a:xfrm>
          <a:prstGeom prst="line">
            <a:avLst/>
          </a:prstGeom>
          <a:noFill/>
          <a:ln w="12700">
            <a:solidFill>
              <a:srgbClr val="FFFFFF">
                <a:alpha val="4000"/>
              </a:srgbClr>
            </a:solidFill>
            <a:prstDash val="solid"/>
          </a:ln>
        </p:spPr>
      </p:sp>
      <p:sp>
        <p:nvSpPr>
          <p:cNvPr id="12" name="Shape 10"/>
          <p:cNvSpPr/>
          <p:nvPr/>
        </p:nvSpPr>
        <p:spPr>
          <a:xfrm>
            <a:off x="4526280" y="0"/>
            <a:ext cx="0" cy="6858000"/>
          </a:xfrm>
          <a:prstGeom prst="line">
            <a:avLst/>
          </a:prstGeom>
          <a:noFill/>
          <a:ln w="12700">
            <a:solidFill>
              <a:srgbClr val="FFFFFF">
                <a:alpha val="4000"/>
              </a:srgbClr>
            </a:solidFill>
            <a:prstDash val="solid"/>
          </a:ln>
        </p:spPr>
      </p:sp>
      <p:sp>
        <p:nvSpPr>
          <p:cNvPr id="13" name="Shape 11"/>
          <p:cNvSpPr/>
          <p:nvPr/>
        </p:nvSpPr>
        <p:spPr>
          <a:xfrm>
            <a:off x="5029200" y="0"/>
            <a:ext cx="0" cy="6858000"/>
          </a:xfrm>
          <a:prstGeom prst="line">
            <a:avLst/>
          </a:prstGeom>
          <a:noFill/>
          <a:ln w="12700">
            <a:solidFill>
              <a:srgbClr val="FFFFFF">
                <a:alpha val="4000"/>
              </a:srgbClr>
            </a:solidFill>
            <a:prstDash val="solid"/>
          </a:ln>
        </p:spPr>
      </p:sp>
      <p:sp>
        <p:nvSpPr>
          <p:cNvPr id="14" name="Shape 12"/>
          <p:cNvSpPr/>
          <p:nvPr/>
        </p:nvSpPr>
        <p:spPr>
          <a:xfrm>
            <a:off x="5532120" y="0"/>
            <a:ext cx="0" cy="6858000"/>
          </a:xfrm>
          <a:prstGeom prst="line">
            <a:avLst/>
          </a:prstGeom>
          <a:noFill/>
          <a:ln w="12700">
            <a:solidFill>
              <a:srgbClr val="FFFFFF">
                <a:alpha val="4000"/>
              </a:srgbClr>
            </a:solidFill>
            <a:prstDash val="solid"/>
          </a:ln>
        </p:spPr>
      </p:sp>
      <p:sp>
        <p:nvSpPr>
          <p:cNvPr id="15" name="Shape 13"/>
          <p:cNvSpPr/>
          <p:nvPr/>
        </p:nvSpPr>
        <p:spPr>
          <a:xfrm>
            <a:off x="6035040" y="0"/>
            <a:ext cx="0" cy="6858000"/>
          </a:xfrm>
          <a:prstGeom prst="line">
            <a:avLst/>
          </a:prstGeom>
          <a:noFill/>
          <a:ln w="12700">
            <a:solidFill>
              <a:srgbClr val="FFFFFF">
                <a:alpha val="4000"/>
              </a:srgbClr>
            </a:solidFill>
            <a:prstDash val="solid"/>
          </a:ln>
        </p:spPr>
      </p:sp>
      <p:sp>
        <p:nvSpPr>
          <p:cNvPr id="16" name="Shape 14"/>
          <p:cNvSpPr/>
          <p:nvPr/>
        </p:nvSpPr>
        <p:spPr>
          <a:xfrm>
            <a:off x="6537960" y="0"/>
            <a:ext cx="0" cy="6858000"/>
          </a:xfrm>
          <a:prstGeom prst="line">
            <a:avLst/>
          </a:prstGeom>
          <a:noFill/>
          <a:ln w="12700">
            <a:solidFill>
              <a:srgbClr val="FFFFFF">
                <a:alpha val="4000"/>
              </a:srgbClr>
            </a:solidFill>
            <a:prstDash val="solid"/>
          </a:ln>
        </p:spPr>
      </p:sp>
      <p:sp>
        <p:nvSpPr>
          <p:cNvPr id="17" name="Shape 15"/>
          <p:cNvSpPr/>
          <p:nvPr/>
        </p:nvSpPr>
        <p:spPr>
          <a:xfrm>
            <a:off x="7040880" y="0"/>
            <a:ext cx="0" cy="6858000"/>
          </a:xfrm>
          <a:prstGeom prst="line">
            <a:avLst/>
          </a:prstGeom>
          <a:noFill/>
          <a:ln w="12700">
            <a:solidFill>
              <a:srgbClr val="FFFFFF">
                <a:alpha val="4000"/>
              </a:srgbClr>
            </a:solidFill>
            <a:prstDash val="solid"/>
          </a:ln>
        </p:spPr>
      </p:sp>
      <p:sp>
        <p:nvSpPr>
          <p:cNvPr id="18" name="Shape 16"/>
          <p:cNvSpPr/>
          <p:nvPr/>
        </p:nvSpPr>
        <p:spPr>
          <a:xfrm>
            <a:off x="7543800" y="0"/>
            <a:ext cx="0" cy="6858000"/>
          </a:xfrm>
          <a:prstGeom prst="line">
            <a:avLst/>
          </a:prstGeom>
          <a:noFill/>
          <a:ln w="12700">
            <a:solidFill>
              <a:srgbClr val="FFFFFF">
                <a:alpha val="4000"/>
              </a:srgbClr>
            </a:solidFill>
            <a:prstDash val="solid"/>
          </a:ln>
        </p:spPr>
      </p:sp>
      <p:sp>
        <p:nvSpPr>
          <p:cNvPr id="19" name="Shape 17"/>
          <p:cNvSpPr/>
          <p:nvPr/>
        </p:nvSpPr>
        <p:spPr>
          <a:xfrm>
            <a:off x="8046720" y="0"/>
            <a:ext cx="0" cy="6858000"/>
          </a:xfrm>
          <a:prstGeom prst="line">
            <a:avLst/>
          </a:prstGeom>
          <a:noFill/>
          <a:ln w="12700">
            <a:solidFill>
              <a:srgbClr val="FFFFFF">
                <a:alpha val="4000"/>
              </a:srgbClr>
            </a:solidFill>
            <a:prstDash val="solid"/>
          </a:ln>
        </p:spPr>
      </p:sp>
      <p:sp>
        <p:nvSpPr>
          <p:cNvPr id="20" name="Shape 18"/>
          <p:cNvSpPr/>
          <p:nvPr/>
        </p:nvSpPr>
        <p:spPr>
          <a:xfrm>
            <a:off x="8549640" y="0"/>
            <a:ext cx="0" cy="6858000"/>
          </a:xfrm>
          <a:prstGeom prst="line">
            <a:avLst/>
          </a:prstGeom>
          <a:noFill/>
          <a:ln w="12700">
            <a:solidFill>
              <a:srgbClr val="FFFFFF">
                <a:alpha val="4000"/>
              </a:srgbClr>
            </a:solidFill>
            <a:prstDash val="solid"/>
          </a:ln>
        </p:spPr>
      </p:sp>
      <p:sp>
        <p:nvSpPr>
          <p:cNvPr id="21" name="Shape 19"/>
          <p:cNvSpPr/>
          <p:nvPr/>
        </p:nvSpPr>
        <p:spPr>
          <a:xfrm>
            <a:off x="9052560" y="0"/>
            <a:ext cx="0" cy="6858000"/>
          </a:xfrm>
          <a:prstGeom prst="line">
            <a:avLst/>
          </a:prstGeom>
          <a:noFill/>
          <a:ln w="12700">
            <a:solidFill>
              <a:srgbClr val="FFFFFF">
                <a:alpha val="4000"/>
              </a:srgbClr>
            </a:solidFill>
            <a:prstDash val="solid"/>
          </a:ln>
        </p:spPr>
      </p:sp>
      <p:sp>
        <p:nvSpPr>
          <p:cNvPr id="22" name="Shape 20"/>
          <p:cNvSpPr/>
          <p:nvPr/>
        </p:nvSpPr>
        <p:spPr>
          <a:xfrm>
            <a:off x="9555480" y="0"/>
            <a:ext cx="0" cy="6858000"/>
          </a:xfrm>
          <a:prstGeom prst="line">
            <a:avLst/>
          </a:prstGeom>
          <a:noFill/>
          <a:ln w="12700">
            <a:solidFill>
              <a:srgbClr val="FFFFFF">
                <a:alpha val="4000"/>
              </a:srgbClr>
            </a:solidFill>
            <a:prstDash val="solid"/>
          </a:ln>
        </p:spPr>
      </p:sp>
      <p:sp>
        <p:nvSpPr>
          <p:cNvPr id="23" name="Shape 21"/>
          <p:cNvSpPr/>
          <p:nvPr/>
        </p:nvSpPr>
        <p:spPr>
          <a:xfrm>
            <a:off x="10058400" y="0"/>
            <a:ext cx="0" cy="6858000"/>
          </a:xfrm>
          <a:prstGeom prst="line">
            <a:avLst/>
          </a:prstGeom>
          <a:noFill/>
          <a:ln w="12700">
            <a:solidFill>
              <a:srgbClr val="FFFFFF">
                <a:alpha val="4000"/>
              </a:srgbClr>
            </a:solidFill>
            <a:prstDash val="solid"/>
          </a:ln>
        </p:spPr>
      </p:sp>
      <p:sp>
        <p:nvSpPr>
          <p:cNvPr id="24" name="Shape 22"/>
          <p:cNvSpPr/>
          <p:nvPr/>
        </p:nvSpPr>
        <p:spPr>
          <a:xfrm>
            <a:off x="10561320" y="0"/>
            <a:ext cx="0" cy="6858000"/>
          </a:xfrm>
          <a:prstGeom prst="line">
            <a:avLst/>
          </a:prstGeom>
          <a:noFill/>
          <a:ln w="12700">
            <a:solidFill>
              <a:srgbClr val="FFFFFF">
                <a:alpha val="4000"/>
              </a:srgbClr>
            </a:solidFill>
            <a:prstDash val="solid"/>
          </a:ln>
        </p:spPr>
      </p:sp>
      <p:sp>
        <p:nvSpPr>
          <p:cNvPr id="25" name="Shape 23"/>
          <p:cNvSpPr/>
          <p:nvPr/>
        </p:nvSpPr>
        <p:spPr>
          <a:xfrm>
            <a:off x="11064240" y="0"/>
            <a:ext cx="0" cy="6858000"/>
          </a:xfrm>
          <a:prstGeom prst="line">
            <a:avLst/>
          </a:prstGeom>
          <a:noFill/>
          <a:ln w="12700">
            <a:solidFill>
              <a:srgbClr val="FFFFFF">
                <a:alpha val="4000"/>
              </a:srgbClr>
            </a:solidFill>
            <a:prstDash val="solid"/>
          </a:ln>
        </p:spPr>
      </p:sp>
      <p:sp>
        <p:nvSpPr>
          <p:cNvPr id="26" name="Shape 24"/>
          <p:cNvSpPr/>
          <p:nvPr/>
        </p:nvSpPr>
        <p:spPr>
          <a:xfrm>
            <a:off x="11567160" y="0"/>
            <a:ext cx="0" cy="6858000"/>
          </a:xfrm>
          <a:prstGeom prst="line">
            <a:avLst/>
          </a:prstGeom>
          <a:noFill/>
          <a:ln w="12700">
            <a:solidFill>
              <a:srgbClr val="FFFFFF">
                <a:alpha val="4000"/>
              </a:srgbClr>
            </a:solidFill>
            <a:prstDash val="solid"/>
          </a:ln>
        </p:spPr>
      </p:sp>
      <p:sp>
        <p:nvSpPr>
          <p:cNvPr id="27" name="Shape 25"/>
          <p:cNvSpPr/>
          <p:nvPr/>
        </p:nvSpPr>
        <p:spPr>
          <a:xfrm>
            <a:off x="12070080" y="0"/>
            <a:ext cx="0" cy="6858000"/>
          </a:xfrm>
          <a:prstGeom prst="line">
            <a:avLst/>
          </a:prstGeom>
          <a:noFill/>
          <a:ln w="12700">
            <a:solidFill>
              <a:srgbClr val="FFFFFF">
                <a:alpha val="4000"/>
              </a:srgbClr>
            </a:solidFill>
            <a:prstDash val="solid"/>
          </a:ln>
        </p:spPr>
      </p:sp>
      <p:sp>
        <p:nvSpPr>
          <p:cNvPr id="28" name="Shape 26"/>
          <p:cNvSpPr/>
          <p:nvPr/>
        </p:nvSpPr>
        <p:spPr>
          <a:xfrm>
            <a:off x="0" y="0"/>
            <a:ext cx="12191695" cy="0"/>
          </a:xfrm>
          <a:prstGeom prst="line">
            <a:avLst/>
          </a:prstGeom>
          <a:noFill/>
          <a:ln w="12700">
            <a:solidFill>
              <a:srgbClr val="FFFFFF">
                <a:alpha val="4000"/>
              </a:srgbClr>
            </a:solidFill>
            <a:prstDash val="solid"/>
          </a:ln>
        </p:spPr>
      </p:sp>
      <p:sp>
        <p:nvSpPr>
          <p:cNvPr id="29" name="Shape 27"/>
          <p:cNvSpPr/>
          <p:nvPr/>
        </p:nvSpPr>
        <p:spPr>
          <a:xfrm>
            <a:off x="0" y="502920"/>
            <a:ext cx="12191695" cy="0"/>
          </a:xfrm>
          <a:prstGeom prst="line">
            <a:avLst/>
          </a:prstGeom>
          <a:noFill/>
          <a:ln w="12700">
            <a:solidFill>
              <a:srgbClr val="FFFFFF">
                <a:alpha val="4000"/>
              </a:srgbClr>
            </a:solidFill>
            <a:prstDash val="solid"/>
          </a:ln>
        </p:spPr>
      </p:sp>
      <p:sp>
        <p:nvSpPr>
          <p:cNvPr id="30" name="Shape 28"/>
          <p:cNvSpPr/>
          <p:nvPr/>
        </p:nvSpPr>
        <p:spPr>
          <a:xfrm>
            <a:off x="0" y="1005840"/>
            <a:ext cx="12191695" cy="0"/>
          </a:xfrm>
          <a:prstGeom prst="line">
            <a:avLst/>
          </a:prstGeom>
          <a:noFill/>
          <a:ln w="12700">
            <a:solidFill>
              <a:srgbClr val="FFFFFF">
                <a:alpha val="4000"/>
              </a:srgbClr>
            </a:solidFill>
            <a:prstDash val="solid"/>
          </a:ln>
        </p:spPr>
      </p:sp>
      <p:sp>
        <p:nvSpPr>
          <p:cNvPr id="31" name="Shape 29"/>
          <p:cNvSpPr/>
          <p:nvPr/>
        </p:nvSpPr>
        <p:spPr>
          <a:xfrm>
            <a:off x="0" y="1508760"/>
            <a:ext cx="12191695" cy="0"/>
          </a:xfrm>
          <a:prstGeom prst="line">
            <a:avLst/>
          </a:prstGeom>
          <a:noFill/>
          <a:ln w="12700">
            <a:solidFill>
              <a:srgbClr val="FFFFFF">
                <a:alpha val="4000"/>
              </a:srgbClr>
            </a:solidFill>
            <a:prstDash val="solid"/>
          </a:ln>
        </p:spPr>
      </p:sp>
      <p:sp>
        <p:nvSpPr>
          <p:cNvPr id="32" name="Shape 30"/>
          <p:cNvSpPr/>
          <p:nvPr/>
        </p:nvSpPr>
        <p:spPr>
          <a:xfrm>
            <a:off x="0" y="2011680"/>
            <a:ext cx="12191695" cy="0"/>
          </a:xfrm>
          <a:prstGeom prst="line">
            <a:avLst/>
          </a:prstGeom>
          <a:noFill/>
          <a:ln w="12700">
            <a:solidFill>
              <a:srgbClr val="FFFFFF">
                <a:alpha val="4000"/>
              </a:srgbClr>
            </a:solidFill>
            <a:prstDash val="solid"/>
          </a:ln>
        </p:spPr>
      </p:sp>
      <p:sp>
        <p:nvSpPr>
          <p:cNvPr id="33" name="Shape 31"/>
          <p:cNvSpPr/>
          <p:nvPr/>
        </p:nvSpPr>
        <p:spPr>
          <a:xfrm>
            <a:off x="0" y="2514600"/>
            <a:ext cx="12191695" cy="0"/>
          </a:xfrm>
          <a:prstGeom prst="line">
            <a:avLst/>
          </a:prstGeom>
          <a:noFill/>
          <a:ln w="12700">
            <a:solidFill>
              <a:srgbClr val="FFFFFF">
                <a:alpha val="4000"/>
              </a:srgbClr>
            </a:solidFill>
            <a:prstDash val="solid"/>
          </a:ln>
        </p:spPr>
      </p:sp>
      <p:sp>
        <p:nvSpPr>
          <p:cNvPr id="34" name="Shape 32"/>
          <p:cNvSpPr/>
          <p:nvPr/>
        </p:nvSpPr>
        <p:spPr>
          <a:xfrm>
            <a:off x="0" y="3017520"/>
            <a:ext cx="12191695" cy="0"/>
          </a:xfrm>
          <a:prstGeom prst="line">
            <a:avLst/>
          </a:prstGeom>
          <a:noFill/>
          <a:ln w="12700">
            <a:solidFill>
              <a:srgbClr val="FFFFFF">
                <a:alpha val="4000"/>
              </a:srgbClr>
            </a:solidFill>
            <a:prstDash val="solid"/>
          </a:ln>
        </p:spPr>
      </p:sp>
      <p:sp>
        <p:nvSpPr>
          <p:cNvPr id="35" name="Shape 33"/>
          <p:cNvSpPr/>
          <p:nvPr/>
        </p:nvSpPr>
        <p:spPr>
          <a:xfrm>
            <a:off x="0" y="3520440"/>
            <a:ext cx="12191695" cy="0"/>
          </a:xfrm>
          <a:prstGeom prst="line">
            <a:avLst/>
          </a:prstGeom>
          <a:noFill/>
          <a:ln w="12700">
            <a:solidFill>
              <a:srgbClr val="FFFFFF">
                <a:alpha val="4000"/>
              </a:srgbClr>
            </a:solidFill>
            <a:prstDash val="solid"/>
          </a:ln>
        </p:spPr>
      </p:sp>
      <p:sp>
        <p:nvSpPr>
          <p:cNvPr id="36" name="Shape 34"/>
          <p:cNvSpPr/>
          <p:nvPr/>
        </p:nvSpPr>
        <p:spPr>
          <a:xfrm>
            <a:off x="0" y="4023360"/>
            <a:ext cx="12191695" cy="0"/>
          </a:xfrm>
          <a:prstGeom prst="line">
            <a:avLst/>
          </a:prstGeom>
          <a:noFill/>
          <a:ln w="12700">
            <a:solidFill>
              <a:srgbClr val="FFFFFF">
                <a:alpha val="4000"/>
              </a:srgbClr>
            </a:solidFill>
            <a:prstDash val="solid"/>
          </a:ln>
        </p:spPr>
      </p:sp>
      <p:sp>
        <p:nvSpPr>
          <p:cNvPr id="37" name="Shape 35"/>
          <p:cNvSpPr/>
          <p:nvPr/>
        </p:nvSpPr>
        <p:spPr>
          <a:xfrm>
            <a:off x="0" y="4526280"/>
            <a:ext cx="12191695" cy="0"/>
          </a:xfrm>
          <a:prstGeom prst="line">
            <a:avLst/>
          </a:prstGeom>
          <a:noFill/>
          <a:ln w="12700">
            <a:solidFill>
              <a:srgbClr val="FFFFFF">
                <a:alpha val="4000"/>
              </a:srgbClr>
            </a:solidFill>
            <a:prstDash val="solid"/>
          </a:ln>
        </p:spPr>
      </p:sp>
      <p:sp>
        <p:nvSpPr>
          <p:cNvPr id="38" name="Shape 36"/>
          <p:cNvSpPr/>
          <p:nvPr/>
        </p:nvSpPr>
        <p:spPr>
          <a:xfrm>
            <a:off x="0" y="5029200"/>
            <a:ext cx="12191695" cy="0"/>
          </a:xfrm>
          <a:prstGeom prst="line">
            <a:avLst/>
          </a:prstGeom>
          <a:noFill/>
          <a:ln w="12700">
            <a:solidFill>
              <a:srgbClr val="FFFFFF">
                <a:alpha val="4000"/>
              </a:srgbClr>
            </a:solidFill>
            <a:prstDash val="solid"/>
          </a:ln>
        </p:spPr>
      </p:sp>
      <p:sp>
        <p:nvSpPr>
          <p:cNvPr id="39" name="Shape 37"/>
          <p:cNvSpPr/>
          <p:nvPr/>
        </p:nvSpPr>
        <p:spPr>
          <a:xfrm>
            <a:off x="0" y="5532120"/>
            <a:ext cx="12191695" cy="0"/>
          </a:xfrm>
          <a:prstGeom prst="line">
            <a:avLst/>
          </a:prstGeom>
          <a:noFill/>
          <a:ln w="12700">
            <a:solidFill>
              <a:srgbClr val="FFFFFF">
                <a:alpha val="4000"/>
              </a:srgbClr>
            </a:solidFill>
            <a:prstDash val="solid"/>
          </a:ln>
        </p:spPr>
      </p:sp>
      <p:sp>
        <p:nvSpPr>
          <p:cNvPr id="40" name="Shape 38"/>
          <p:cNvSpPr/>
          <p:nvPr/>
        </p:nvSpPr>
        <p:spPr>
          <a:xfrm>
            <a:off x="0" y="6035040"/>
            <a:ext cx="12191695" cy="0"/>
          </a:xfrm>
          <a:prstGeom prst="line">
            <a:avLst/>
          </a:prstGeom>
          <a:noFill/>
          <a:ln w="12700">
            <a:solidFill>
              <a:srgbClr val="FFFFFF">
                <a:alpha val="4000"/>
              </a:srgbClr>
            </a:solidFill>
            <a:prstDash val="solid"/>
          </a:ln>
        </p:spPr>
      </p:sp>
      <p:sp>
        <p:nvSpPr>
          <p:cNvPr id="41" name="Shape 39"/>
          <p:cNvSpPr/>
          <p:nvPr/>
        </p:nvSpPr>
        <p:spPr>
          <a:xfrm>
            <a:off x="0" y="6537960"/>
            <a:ext cx="12191695" cy="0"/>
          </a:xfrm>
          <a:prstGeom prst="line">
            <a:avLst/>
          </a:prstGeom>
          <a:noFill/>
          <a:ln w="12700">
            <a:solidFill>
              <a:srgbClr val="FFFFFF">
                <a:alpha val="4000"/>
              </a:srgbClr>
            </a:solidFill>
            <a:prstDash val="solid"/>
          </a:ln>
        </p:spPr>
      </p:sp>
      <p:sp>
        <p:nvSpPr>
          <p:cNvPr id="42" name="Shape 40"/>
          <p:cNvSpPr/>
          <p:nvPr/>
        </p:nvSpPr>
        <p:spPr>
          <a:xfrm>
            <a:off x="0" y="0"/>
            <a:ext cx="12191695" cy="6858000"/>
          </a:xfrm>
          <a:prstGeom prst="rect">
            <a:avLst/>
          </a:prstGeom>
          <a:solidFill>
            <a:srgbClr val="1667CC">
              <a:alpha val="6000"/>
            </a:srgbClr>
          </a:solidFill>
          <a:ln w="12700">
            <a:solidFill>
              <a:srgbClr val="333333">
                <a:alpha val="0"/>
              </a:srgbClr>
            </a:solidFill>
            <a:prstDash val="solid"/>
          </a:ln>
        </p:spPr>
      </p:sp>
      <p:pic>
        <p:nvPicPr>
          <p:cNvPr id="43" name="Image 0" descr="/home/openclaw/.openclaw/workspace/revio-logo.png">    </p:cNvPr>
          <p:cNvPicPr>
            <a:picLocks noChangeAspect="1"/>
          </p:cNvPicPr>
          <p:nvPr/>
        </p:nvPicPr>
        <p:blipFill>
          <a:blip r:embed="rId1"/>
          <a:stretch>
            <a:fillRect/>
          </a:stretch>
        </p:blipFill>
        <p:spPr>
          <a:xfrm>
            <a:off x="530352" y="411480"/>
            <a:ext cx="1307592" cy="320040"/>
          </a:xfrm>
          <a:prstGeom prst="rect">
            <a:avLst/>
          </a:prstGeom>
        </p:spPr>
      </p:pic>
      <p:sp>
        <p:nvSpPr>
          <p:cNvPr id="44" name="Shape 41"/>
          <p:cNvSpPr/>
          <p:nvPr/>
        </p:nvSpPr>
        <p:spPr>
          <a:xfrm>
            <a:off x="2057400" y="393192"/>
            <a:ext cx="0" cy="393192"/>
          </a:xfrm>
          <a:prstGeom prst="line">
            <a:avLst/>
          </a:prstGeom>
          <a:noFill/>
          <a:ln w="12700">
            <a:solidFill>
              <a:srgbClr val="FFFFFF">
                <a:alpha val="22000"/>
              </a:srgbClr>
            </a:solidFill>
            <a:prstDash val="solid"/>
          </a:ln>
        </p:spPr>
      </p:sp>
      <p:sp>
        <p:nvSpPr>
          <p:cNvPr id="45" name="Shape 42"/>
          <p:cNvSpPr/>
          <p:nvPr/>
        </p:nvSpPr>
        <p:spPr>
          <a:xfrm>
            <a:off x="2267712" y="356616"/>
            <a:ext cx="1444752" cy="438912"/>
          </a:xfrm>
          <a:prstGeom prst="roundRect">
            <a:avLst>
              <a:gd name="adj" fmla="val 12500"/>
            </a:avLst>
          </a:prstGeom>
          <a:solidFill>
            <a:srgbClr val="FFFFFF"/>
          </a:solidFill>
          <a:ln w="12700">
            <a:solidFill>
              <a:srgbClr val="333333">
                <a:alpha val="0"/>
              </a:srgbClr>
            </a:solidFill>
            <a:prstDash val="solid"/>
          </a:ln>
        </p:spPr>
      </p:sp>
      <p:pic>
        <p:nvPicPr>
          <p:cNvPr id="46" name="Image 1" descr="/home/openclaw/.openclaw/workspace/intermedia-logo.png">    </p:cNvPr>
          <p:cNvPicPr>
            <a:picLocks noChangeAspect="1"/>
          </p:cNvPicPr>
          <p:nvPr/>
        </p:nvPicPr>
        <p:blipFill>
          <a:blip r:embed="rId2"/>
          <a:stretch>
            <a:fillRect/>
          </a:stretch>
        </p:blipFill>
        <p:spPr>
          <a:xfrm>
            <a:off x="2395728" y="438912"/>
            <a:ext cx="1188720" cy="265176"/>
          </a:xfrm>
          <a:prstGeom prst="rect">
            <a:avLst/>
          </a:prstGeom>
        </p:spPr>
      </p:pic>
      <p:sp>
        <p:nvSpPr>
          <p:cNvPr id="47" name="Text 43"/>
          <p:cNvSpPr/>
          <p:nvPr/>
        </p:nvSpPr>
        <p:spPr>
          <a:xfrm>
            <a:off x="640080" y="1353312"/>
            <a:ext cx="4023360" cy="182880"/>
          </a:xfrm>
          <a:prstGeom prst="rect">
            <a:avLst/>
          </a:prstGeom>
          <a:noFill/>
          <a:ln/>
        </p:spPr>
        <p:txBody>
          <a:bodyPr wrap="square" rtlCol="0" anchor="ctr"/>
          <a:lstStyle/>
          <a:p>
            <a:pPr indent="0" marL="0">
              <a:buNone/>
            </a:pPr>
            <a:r>
              <a:rPr lang="en-US" sz="880" b="1" dirty="0">
                <a:solidFill>
                  <a:srgbClr val="2499B6"/>
                </a:solidFill>
              </a:rPr>
              <a:t>REVII AI MODERNIZATION USE CASE</a:t>
            </a:r>
            <a:endParaRPr lang="en-US" sz="880" dirty="0"/>
          </a:p>
        </p:txBody>
      </p:sp>
      <p:sp>
        <p:nvSpPr>
          <p:cNvPr id="48" name="Text 44"/>
          <p:cNvSpPr/>
          <p:nvPr/>
        </p:nvSpPr>
        <p:spPr>
          <a:xfrm>
            <a:off x="621792" y="1719072"/>
            <a:ext cx="7726680" cy="1024128"/>
          </a:xfrm>
          <a:prstGeom prst="rect">
            <a:avLst/>
          </a:prstGeom>
          <a:noFill/>
          <a:ln/>
        </p:spPr>
        <p:txBody>
          <a:bodyPr wrap="square" lIns="0" tIns="0" rIns="0" bIns="0" rtlCol="0" anchor="ctr">
            <a:normAutofit/>
          </a:bodyPr>
          <a:lstStyle/>
          <a:p>
            <a:pPr indent="0" marL="0">
              <a:buNone/>
            </a:pPr>
            <a:r>
              <a:rPr lang="en-US" sz="3700" b="1" dirty="0">
                <a:solidFill>
                  <a:srgbClr val="FFFFFF"/>
                </a:solidFill>
              </a:rPr>
              <a:t>Intermedia's path to modern billing intelligence</a:t>
            </a:r>
            <a:endParaRPr lang="en-US" sz="3700" dirty="0"/>
          </a:p>
        </p:txBody>
      </p:sp>
      <p:sp>
        <p:nvSpPr>
          <p:cNvPr id="49" name="Text 45"/>
          <p:cNvSpPr/>
          <p:nvPr/>
        </p:nvSpPr>
        <p:spPr>
          <a:xfrm>
            <a:off x="640080" y="2962656"/>
            <a:ext cx="6995160" cy="585216"/>
          </a:xfrm>
          <a:prstGeom prst="rect">
            <a:avLst/>
          </a:prstGeom>
          <a:noFill/>
          <a:ln/>
        </p:spPr>
        <p:txBody>
          <a:bodyPr wrap="square" lIns="0" tIns="0" rIns="0" bIns="0" rtlCol="0" anchor="ctr">
            <a:normAutofit/>
          </a:bodyPr>
          <a:lstStyle/>
          <a:p>
            <a:pPr indent="0" marL="0">
              <a:buNone/>
            </a:pPr>
            <a:r>
              <a:rPr lang="en-US" sz="1240" dirty="0">
                <a:solidFill>
                  <a:srgbClr val="C8D6E5"/>
                </a:solidFill>
              </a:rPr>
              <a:t>Keep HostPilot where it matters. Move Atlas and BRM billing logic into Rev.io over time. Use Revii to make billing searchable, explainable, and revenue-protective.</a:t>
            </a:r>
            <a:endParaRPr lang="en-US" sz="1240" dirty="0"/>
          </a:p>
        </p:txBody>
      </p:sp>
      <p:sp>
        <p:nvSpPr>
          <p:cNvPr id="50" name="Shape 46"/>
          <p:cNvSpPr/>
          <p:nvPr/>
        </p:nvSpPr>
        <p:spPr>
          <a:xfrm>
            <a:off x="6995160" y="868680"/>
            <a:ext cx="3291840" cy="3291840"/>
          </a:xfrm>
          <a:prstGeom prst="arc">
            <a:avLst/>
          </a:prstGeom>
          <a:noFill/>
          <a:ln w="12700">
            <a:solidFill>
              <a:srgbClr val="2499B6">
                <a:alpha val="85000"/>
              </a:srgbClr>
            </a:solidFill>
            <a:prstDash val="solid"/>
          </a:ln>
        </p:spPr>
      </p:sp>
      <p:sp>
        <p:nvSpPr>
          <p:cNvPr id="51" name="Shape 47"/>
          <p:cNvSpPr/>
          <p:nvPr/>
        </p:nvSpPr>
        <p:spPr>
          <a:xfrm>
            <a:off x="7470648" y="1344168"/>
            <a:ext cx="2340864" cy="2340864"/>
          </a:xfrm>
          <a:prstGeom prst="arc">
            <a:avLst/>
          </a:prstGeom>
          <a:noFill/>
          <a:ln w="12700">
            <a:solidFill>
              <a:srgbClr val="6EBE4F">
                <a:alpha val="95000"/>
              </a:srgbClr>
            </a:solidFill>
            <a:prstDash val="solid"/>
          </a:ln>
        </p:spPr>
      </p:sp>
      <p:sp>
        <p:nvSpPr>
          <p:cNvPr id="52" name="Shape 48"/>
          <p:cNvSpPr/>
          <p:nvPr/>
        </p:nvSpPr>
        <p:spPr>
          <a:xfrm>
            <a:off x="8110728" y="1984248"/>
            <a:ext cx="1060704" cy="1060704"/>
          </a:xfrm>
          <a:prstGeom prst="ellipse">
            <a:avLst/>
          </a:prstGeom>
          <a:solidFill>
            <a:srgbClr val="6EBE4F"/>
          </a:solidFill>
          <a:ln w="12700">
            <a:solidFill>
              <a:srgbClr val="333333">
                <a:alpha val="0"/>
              </a:srgbClr>
            </a:solidFill>
            <a:prstDash val="solid"/>
          </a:ln>
        </p:spPr>
      </p:sp>
      <p:sp>
        <p:nvSpPr>
          <p:cNvPr id="53" name="Text 49"/>
          <p:cNvSpPr/>
          <p:nvPr/>
        </p:nvSpPr>
        <p:spPr>
          <a:xfrm>
            <a:off x="8183880" y="2423160"/>
            <a:ext cx="914400" cy="164592"/>
          </a:xfrm>
          <a:prstGeom prst="rect">
            <a:avLst/>
          </a:prstGeom>
          <a:noFill/>
          <a:ln/>
        </p:spPr>
        <p:txBody>
          <a:bodyPr wrap="square" lIns="0" tIns="0" rIns="0" bIns="0" rtlCol="0" anchor="ctr"/>
          <a:lstStyle/>
          <a:p>
            <a:pPr algn="ctr" indent="0" marL="0">
              <a:buNone/>
            </a:pPr>
            <a:r>
              <a:rPr lang="en-US" sz="1200" b="1" dirty="0">
                <a:solidFill>
                  <a:srgbClr val="07111F"/>
                </a:solidFill>
              </a:rPr>
              <a:t>Revii</a:t>
            </a:r>
            <a:endParaRPr lang="en-US" sz="1200" dirty="0"/>
          </a:p>
        </p:txBody>
      </p:sp>
      <p:sp>
        <p:nvSpPr>
          <p:cNvPr id="54" name="Shape 50"/>
          <p:cNvSpPr/>
          <p:nvPr/>
        </p:nvSpPr>
        <p:spPr>
          <a:xfrm>
            <a:off x="7406640" y="1051560"/>
            <a:ext cx="1444752" cy="402336"/>
          </a:xfrm>
          <a:prstGeom prst="roundRect">
            <a:avLst>
              <a:gd name="adj" fmla="val 18182"/>
            </a:avLst>
          </a:prstGeom>
          <a:solidFill>
            <a:srgbClr val="F5B64B">
              <a:alpha val="92000"/>
            </a:srgbClr>
          </a:solidFill>
          <a:ln w="12700">
            <a:solidFill>
              <a:srgbClr val="F5B64B">
                <a:alpha val="85000"/>
              </a:srgbClr>
            </a:solidFill>
            <a:prstDash val="solid"/>
          </a:ln>
        </p:spPr>
      </p:sp>
      <p:sp>
        <p:nvSpPr>
          <p:cNvPr id="55" name="Text 51"/>
          <p:cNvSpPr/>
          <p:nvPr/>
        </p:nvSpPr>
        <p:spPr>
          <a:xfrm>
            <a:off x="7479792" y="1179576"/>
            <a:ext cx="1298448"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HostPilot</a:t>
            </a:r>
            <a:endParaRPr lang="en-US" sz="750" dirty="0"/>
          </a:p>
        </p:txBody>
      </p:sp>
      <p:sp>
        <p:nvSpPr>
          <p:cNvPr id="56" name="Shape 52"/>
          <p:cNvSpPr/>
          <p:nvPr/>
        </p:nvSpPr>
        <p:spPr>
          <a:xfrm>
            <a:off x="8129016" y="1463040"/>
            <a:ext cx="512064" cy="1051560"/>
          </a:xfrm>
          <a:prstGeom prst="line">
            <a:avLst/>
          </a:prstGeom>
          <a:noFill/>
          <a:ln w="12700">
            <a:solidFill>
              <a:srgbClr val="F5B64B"/>
            </a:solidFill>
            <a:prstDash val="solid"/>
            <a:headEnd type="none"/>
            <a:tailEnd type="triangle"/>
          </a:ln>
        </p:spPr>
      </p:sp>
      <p:sp>
        <p:nvSpPr>
          <p:cNvPr id="57" name="Shape 53"/>
          <p:cNvSpPr/>
          <p:nvPr/>
        </p:nvSpPr>
        <p:spPr>
          <a:xfrm>
            <a:off x="10058400" y="1417320"/>
            <a:ext cx="1444752" cy="402336"/>
          </a:xfrm>
          <a:prstGeom prst="roundRect">
            <a:avLst>
              <a:gd name="adj" fmla="val 18182"/>
            </a:avLst>
          </a:prstGeom>
          <a:solidFill>
            <a:srgbClr val="FC6120">
              <a:alpha val="92000"/>
            </a:srgbClr>
          </a:solidFill>
          <a:ln w="12700">
            <a:solidFill>
              <a:srgbClr val="FC6120">
                <a:alpha val="85000"/>
              </a:srgbClr>
            </a:solidFill>
            <a:prstDash val="solid"/>
          </a:ln>
        </p:spPr>
      </p:sp>
      <p:sp>
        <p:nvSpPr>
          <p:cNvPr id="58" name="Text 54"/>
          <p:cNvSpPr/>
          <p:nvPr/>
        </p:nvSpPr>
        <p:spPr>
          <a:xfrm>
            <a:off x="10131552" y="1545336"/>
            <a:ext cx="1298448"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Atlas</a:t>
            </a:r>
            <a:endParaRPr lang="en-US" sz="750" dirty="0"/>
          </a:p>
        </p:txBody>
      </p:sp>
      <p:sp>
        <p:nvSpPr>
          <p:cNvPr id="59" name="Shape 55"/>
          <p:cNvSpPr/>
          <p:nvPr/>
        </p:nvSpPr>
        <p:spPr>
          <a:xfrm>
            <a:off x="10780776" y="1828800"/>
            <a:ext cx="-2139696" cy="685800"/>
          </a:xfrm>
          <a:prstGeom prst="line">
            <a:avLst/>
          </a:prstGeom>
          <a:noFill/>
          <a:ln w="12700">
            <a:solidFill>
              <a:srgbClr val="FC6120"/>
            </a:solidFill>
            <a:prstDash val="solid"/>
            <a:headEnd type="none"/>
            <a:tailEnd type="triangle"/>
          </a:ln>
        </p:spPr>
      </p:sp>
      <p:sp>
        <p:nvSpPr>
          <p:cNvPr id="60" name="Shape 56"/>
          <p:cNvSpPr/>
          <p:nvPr/>
        </p:nvSpPr>
        <p:spPr>
          <a:xfrm>
            <a:off x="10287000" y="3776472"/>
            <a:ext cx="1444752" cy="402336"/>
          </a:xfrm>
          <a:prstGeom prst="roundRect">
            <a:avLst>
              <a:gd name="adj" fmla="val 18182"/>
            </a:avLst>
          </a:prstGeom>
          <a:solidFill>
            <a:srgbClr val="FC6120">
              <a:alpha val="92000"/>
            </a:srgbClr>
          </a:solidFill>
          <a:ln w="12700">
            <a:solidFill>
              <a:srgbClr val="FC6120">
                <a:alpha val="85000"/>
              </a:srgbClr>
            </a:solidFill>
            <a:prstDash val="solid"/>
          </a:ln>
        </p:spPr>
      </p:sp>
      <p:sp>
        <p:nvSpPr>
          <p:cNvPr id="61" name="Text 57"/>
          <p:cNvSpPr/>
          <p:nvPr/>
        </p:nvSpPr>
        <p:spPr>
          <a:xfrm>
            <a:off x="10360152" y="3904488"/>
            <a:ext cx="1298448"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BRM</a:t>
            </a:r>
            <a:endParaRPr lang="en-US" sz="750" dirty="0"/>
          </a:p>
        </p:txBody>
      </p:sp>
      <p:sp>
        <p:nvSpPr>
          <p:cNvPr id="62" name="Shape 58"/>
          <p:cNvSpPr/>
          <p:nvPr/>
        </p:nvSpPr>
        <p:spPr>
          <a:xfrm>
            <a:off x="11009376" y="4187952"/>
            <a:ext cx="-2368296" cy="-1673352"/>
          </a:xfrm>
          <a:prstGeom prst="line">
            <a:avLst/>
          </a:prstGeom>
          <a:noFill/>
          <a:ln w="12700">
            <a:solidFill>
              <a:srgbClr val="FC6120"/>
            </a:solidFill>
            <a:prstDash val="solid"/>
            <a:headEnd type="none"/>
            <a:tailEnd type="triangle"/>
          </a:ln>
        </p:spPr>
      </p:sp>
      <p:sp>
        <p:nvSpPr>
          <p:cNvPr id="63" name="Shape 59"/>
          <p:cNvSpPr/>
          <p:nvPr/>
        </p:nvSpPr>
        <p:spPr>
          <a:xfrm>
            <a:off x="6931152" y="4251960"/>
            <a:ext cx="1444752" cy="402336"/>
          </a:xfrm>
          <a:prstGeom prst="roundRect">
            <a:avLst>
              <a:gd name="adj" fmla="val 18182"/>
            </a:avLst>
          </a:prstGeom>
          <a:solidFill>
            <a:srgbClr val="1667CC">
              <a:alpha val="92000"/>
            </a:srgbClr>
          </a:solidFill>
          <a:ln w="12700">
            <a:solidFill>
              <a:srgbClr val="1667CC">
                <a:alpha val="85000"/>
              </a:srgbClr>
            </a:solidFill>
            <a:prstDash val="solid"/>
          </a:ln>
        </p:spPr>
      </p:sp>
      <p:sp>
        <p:nvSpPr>
          <p:cNvPr id="64" name="Text 60"/>
          <p:cNvSpPr/>
          <p:nvPr/>
        </p:nvSpPr>
        <p:spPr>
          <a:xfrm>
            <a:off x="7004304" y="4379976"/>
            <a:ext cx="1298448" cy="91440"/>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Rev.io Billing</a:t>
            </a:r>
            <a:endParaRPr lang="en-US" sz="750" dirty="0"/>
          </a:p>
        </p:txBody>
      </p:sp>
      <p:sp>
        <p:nvSpPr>
          <p:cNvPr id="65" name="Shape 61"/>
          <p:cNvSpPr/>
          <p:nvPr/>
        </p:nvSpPr>
        <p:spPr>
          <a:xfrm>
            <a:off x="7653528" y="4663440"/>
            <a:ext cx="987552" cy="-2148840"/>
          </a:xfrm>
          <a:prstGeom prst="line">
            <a:avLst/>
          </a:prstGeom>
          <a:noFill/>
          <a:ln w="12700">
            <a:solidFill>
              <a:srgbClr val="1667CC"/>
            </a:solidFill>
            <a:prstDash val="solid"/>
            <a:headEnd type="none"/>
            <a:tailEnd type="triangle"/>
          </a:ln>
        </p:spPr>
      </p:sp>
      <p:sp>
        <p:nvSpPr>
          <p:cNvPr id="66" name="Shape 62"/>
          <p:cNvSpPr/>
          <p:nvPr/>
        </p:nvSpPr>
        <p:spPr>
          <a:xfrm>
            <a:off x="640080" y="5074920"/>
            <a:ext cx="2377440" cy="841248"/>
          </a:xfrm>
          <a:prstGeom prst="roundRect">
            <a:avLst>
              <a:gd name="adj" fmla="val 8696"/>
            </a:avLst>
          </a:prstGeom>
          <a:solidFill>
            <a:srgbClr val="101A2A"/>
          </a:solidFill>
          <a:ln w="12700">
            <a:solidFill>
              <a:srgbClr val="26374F"/>
            </a:solidFill>
            <a:prstDash val="solid"/>
          </a:ln>
        </p:spPr>
      </p:sp>
      <p:sp>
        <p:nvSpPr>
          <p:cNvPr id="67" name="Text 63"/>
          <p:cNvSpPr/>
          <p:nvPr/>
        </p:nvSpPr>
        <p:spPr>
          <a:xfrm>
            <a:off x="749808" y="5193792"/>
            <a:ext cx="2157984" cy="256032"/>
          </a:xfrm>
          <a:prstGeom prst="rect">
            <a:avLst/>
          </a:prstGeom>
          <a:noFill/>
          <a:ln/>
        </p:spPr>
        <p:txBody>
          <a:bodyPr wrap="square" lIns="0" tIns="0" rIns="0" bIns="0" rtlCol="0" anchor="ctr">
            <a:normAutofit/>
          </a:bodyPr>
          <a:lstStyle/>
          <a:p>
            <a:pPr algn="ctr" indent="0" marL="0">
              <a:buNone/>
            </a:pPr>
            <a:r>
              <a:rPr lang="en-US" sz="1900" b="1" dirty="0">
                <a:solidFill>
                  <a:srgbClr val="6EBE4F"/>
                </a:solidFill>
              </a:rPr>
              <a:t>$439.23M</a:t>
            </a:r>
            <a:endParaRPr lang="en-US" sz="1900" dirty="0"/>
          </a:p>
        </p:txBody>
      </p:sp>
      <p:sp>
        <p:nvSpPr>
          <p:cNvPr id="68" name="Text 64"/>
          <p:cNvSpPr/>
          <p:nvPr/>
        </p:nvSpPr>
        <p:spPr>
          <a:xfrm>
            <a:off x="749808" y="5550408"/>
            <a:ext cx="2157984" cy="164592"/>
          </a:xfrm>
          <a:prstGeom prst="rect">
            <a:avLst/>
          </a:prstGeom>
          <a:noFill/>
          <a:ln/>
        </p:spPr>
        <p:txBody>
          <a:bodyPr wrap="square" lIns="0" tIns="0" rIns="0" bIns="0" rtlCol="0" anchor="ctr">
            <a:normAutofit/>
          </a:bodyPr>
          <a:lstStyle/>
          <a:p>
            <a:pPr algn="ctr" indent="0" marL="0">
              <a:buNone/>
            </a:pPr>
            <a:r>
              <a:rPr lang="en-US" sz="670" b="1" dirty="0">
                <a:solidFill>
                  <a:srgbClr val="91A2B8"/>
                </a:solidFill>
              </a:rPr>
              <a:t>ARR PROTECTED</a:t>
            </a:r>
            <a:endParaRPr lang="en-US" sz="670" dirty="0"/>
          </a:p>
        </p:txBody>
      </p:sp>
      <p:sp>
        <p:nvSpPr>
          <p:cNvPr id="69" name="Shape 65"/>
          <p:cNvSpPr/>
          <p:nvPr/>
        </p:nvSpPr>
        <p:spPr>
          <a:xfrm>
            <a:off x="3273552" y="5074920"/>
            <a:ext cx="2377440" cy="841248"/>
          </a:xfrm>
          <a:prstGeom prst="roundRect">
            <a:avLst>
              <a:gd name="adj" fmla="val 8696"/>
            </a:avLst>
          </a:prstGeom>
          <a:solidFill>
            <a:srgbClr val="101A2A"/>
          </a:solidFill>
          <a:ln w="12700">
            <a:solidFill>
              <a:srgbClr val="26374F"/>
            </a:solidFill>
            <a:prstDash val="solid"/>
          </a:ln>
        </p:spPr>
      </p:sp>
      <p:sp>
        <p:nvSpPr>
          <p:cNvPr id="70" name="Text 66"/>
          <p:cNvSpPr/>
          <p:nvPr/>
        </p:nvSpPr>
        <p:spPr>
          <a:xfrm>
            <a:off x="3383280" y="5193792"/>
            <a:ext cx="2157984" cy="256032"/>
          </a:xfrm>
          <a:prstGeom prst="rect">
            <a:avLst/>
          </a:prstGeom>
          <a:noFill/>
          <a:ln/>
        </p:spPr>
        <p:txBody>
          <a:bodyPr wrap="square" lIns="0" tIns="0" rIns="0" bIns="0" rtlCol="0" anchor="ctr">
            <a:normAutofit/>
          </a:bodyPr>
          <a:lstStyle/>
          <a:p>
            <a:pPr algn="ctr" indent="0" marL="0">
              <a:buNone/>
            </a:pPr>
            <a:r>
              <a:rPr lang="en-US" sz="1900" b="1" dirty="0">
                <a:solidFill>
                  <a:srgbClr val="2499B6"/>
                </a:solidFill>
              </a:rPr>
              <a:t>3</a:t>
            </a:r>
            <a:endParaRPr lang="en-US" sz="1900" dirty="0"/>
          </a:p>
        </p:txBody>
      </p:sp>
      <p:sp>
        <p:nvSpPr>
          <p:cNvPr id="71" name="Text 67"/>
          <p:cNvSpPr/>
          <p:nvPr/>
        </p:nvSpPr>
        <p:spPr>
          <a:xfrm>
            <a:off x="3383280" y="5550408"/>
            <a:ext cx="2157984" cy="164592"/>
          </a:xfrm>
          <a:prstGeom prst="rect">
            <a:avLst/>
          </a:prstGeom>
          <a:noFill/>
          <a:ln/>
        </p:spPr>
        <p:txBody>
          <a:bodyPr wrap="square" lIns="0" tIns="0" rIns="0" bIns="0" rtlCol="0" anchor="ctr">
            <a:normAutofit/>
          </a:bodyPr>
          <a:lstStyle/>
          <a:p>
            <a:pPr algn="ctr" indent="0" marL="0">
              <a:buNone/>
            </a:pPr>
            <a:r>
              <a:rPr lang="en-US" sz="670" b="1" dirty="0">
                <a:solidFill>
                  <a:srgbClr val="91A2B8"/>
                </a:solidFill>
              </a:rPr>
              <a:t>SYSTEMS RECONCILED</a:t>
            </a:r>
            <a:endParaRPr lang="en-US" sz="670" dirty="0"/>
          </a:p>
        </p:txBody>
      </p:sp>
      <p:sp>
        <p:nvSpPr>
          <p:cNvPr id="72" name="Shape 68"/>
          <p:cNvSpPr/>
          <p:nvPr/>
        </p:nvSpPr>
        <p:spPr>
          <a:xfrm>
            <a:off x="5907024" y="5074920"/>
            <a:ext cx="2377440" cy="841248"/>
          </a:xfrm>
          <a:prstGeom prst="roundRect">
            <a:avLst>
              <a:gd name="adj" fmla="val 8696"/>
            </a:avLst>
          </a:prstGeom>
          <a:solidFill>
            <a:srgbClr val="101A2A"/>
          </a:solidFill>
          <a:ln w="12700">
            <a:solidFill>
              <a:srgbClr val="26374F"/>
            </a:solidFill>
            <a:prstDash val="solid"/>
          </a:ln>
        </p:spPr>
      </p:sp>
      <p:sp>
        <p:nvSpPr>
          <p:cNvPr id="73" name="Text 69"/>
          <p:cNvSpPr/>
          <p:nvPr/>
        </p:nvSpPr>
        <p:spPr>
          <a:xfrm>
            <a:off x="6016752" y="5193792"/>
            <a:ext cx="2157984" cy="256032"/>
          </a:xfrm>
          <a:prstGeom prst="rect">
            <a:avLst/>
          </a:prstGeom>
          <a:noFill/>
          <a:ln/>
        </p:spPr>
        <p:txBody>
          <a:bodyPr wrap="square" lIns="0" tIns="0" rIns="0" bIns="0" rtlCol="0" anchor="ctr">
            <a:normAutofit/>
          </a:bodyPr>
          <a:lstStyle/>
          <a:p>
            <a:pPr algn="ctr" indent="0" marL="0">
              <a:buNone/>
            </a:pPr>
            <a:r>
              <a:rPr lang="en-US" sz="1900" b="1" dirty="0">
                <a:solidFill>
                  <a:srgbClr val="F5B64B"/>
                </a:solidFill>
              </a:rPr>
              <a:t>1,000+</a:t>
            </a:r>
            <a:endParaRPr lang="en-US" sz="1900" dirty="0"/>
          </a:p>
        </p:txBody>
      </p:sp>
      <p:sp>
        <p:nvSpPr>
          <p:cNvPr id="74" name="Text 70"/>
          <p:cNvSpPr/>
          <p:nvPr/>
        </p:nvSpPr>
        <p:spPr>
          <a:xfrm>
            <a:off x="6016752" y="5550408"/>
            <a:ext cx="2157984" cy="164592"/>
          </a:xfrm>
          <a:prstGeom prst="rect">
            <a:avLst/>
          </a:prstGeom>
          <a:noFill/>
          <a:ln/>
        </p:spPr>
        <p:txBody>
          <a:bodyPr wrap="square" lIns="0" tIns="0" rIns="0" bIns="0" rtlCol="0" anchor="ctr">
            <a:normAutofit/>
          </a:bodyPr>
          <a:lstStyle/>
          <a:p>
            <a:pPr algn="ctr" indent="0" marL="0">
              <a:buNone/>
            </a:pPr>
            <a:r>
              <a:rPr lang="en-US" sz="670" b="1" dirty="0">
                <a:solidFill>
                  <a:srgbClr val="91A2B8"/>
                </a:solidFill>
              </a:rPr>
              <a:t>SKU RELATIONSHIPS</a:t>
            </a:r>
            <a:endParaRPr lang="en-US" sz="670" dirty="0"/>
          </a:p>
        </p:txBody>
      </p:sp>
      <p:sp>
        <p:nvSpPr>
          <p:cNvPr id="75" name="Shape 71"/>
          <p:cNvSpPr/>
          <p:nvPr/>
        </p:nvSpPr>
        <p:spPr>
          <a:xfrm>
            <a:off x="8540496" y="5074920"/>
            <a:ext cx="2377440" cy="841248"/>
          </a:xfrm>
          <a:prstGeom prst="roundRect">
            <a:avLst>
              <a:gd name="adj" fmla="val 8696"/>
            </a:avLst>
          </a:prstGeom>
          <a:solidFill>
            <a:srgbClr val="101A2A"/>
          </a:solidFill>
          <a:ln w="12700">
            <a:solidFill>
              <a:srgbClr val="26374F"/>
            </a:solidFill>
            <a:prstDash val="solid"/>
          </a:ln>
        </p:spPr>
      </p:sp>
      <p:sp>
        <p:nvSpPr>
          <p:cNvPr id="76" name="Text 72"/>
          <p:cNvSpPr/>
          <p:nvPr/>
        </p:nvSpPr>
        <p:spPr>
          <a:xfrm>
            <a:off x="8650224" y="5193792"/>
            <a:ext cx="2157984" cy="256032"/>
          </a:xfrm>
          <a:prstGeom prst="rect">
            <a:avLst/>
          </a:prstGeom>
          <a:noFill/>
          <a:ln/>
        </p:spPr>
        <p:txBody>
          <a:bodyPr wrap="square" lIns="0" tIns="0" rIns="0" bIns="0" rtlCol="0" anchor="ctr">
            <a:normAutofit/>
          </a:bodyPr>
          <a:lstStyle/>
          <a:p>
            <a:pPr algn="ctr" indent="0" marL="0">
              <a:buNone/>
            </a:pPr>
            <a:r>
              <a:rPr lang="en-US" sz="1900" b="1" dirty="0">
                <a:solidFill>
                  <a:srgbClr val="FC6120"/>
                </a:solidFill>
              </a:rPr>
              <a:t>0.28%</a:t>
            </a:r>
            <a:endParaRPr lang="en-US" sz="1900" dirty="0"/>
          </a:p>
        </p:txBody>
      </p:sp>
      <p:sp>
        <p:nvSpPr>
          <p:cNvPr id="77" name="Text 73"/>
          <p:cNvSpPr/>
          <p:nvPr/>
        </p:nvSpPr>
        <p:spPr>
          <a:xfrm>
            <a:off x="8650224" y="5550408"/>
            <a:ext cx="2157984" cy="164592"/>
          </a:xfrm>
          <a:prstGeom prst="rect">
            <a:avLst/>
          </a:prstGeom>
          <a:noFill/>
          <a:ln/>
        </p:spPr>
        <p:txBody>
          <a:bodyPr wrap="square" lIns="0" tIns="0" rIns="0" bIns="0" rtlCol="0" anchor="ctr">
            <a:normAutofit/>
          </a:bodyPr>
          <a:lstStyle/>
          <a:p>
            <a:pPr algn="ctr" indent="0" marL="0">
              <a:buNone/>
            </a:pPr>
            <a:r>
              <a:rPr lang="en-US" sz="670" b="1" dirty="0">
                <a:solidFill>
                  <a:srgbClr val="91A2B8"/>
                </a:solidFill>
              </a:rPr>
              <a:t>LEAKAGE OFFSET</a:t>
            </a:r>
            <a:endParaRPr lang="en-US" sz="670" dirty="0"/>
          </a:p>
        </p:txBody>
      </p:sp>
      <p:sp>
        <p:nvSpPr>
          <p:cNvPr id="78" name="Text 74"/>
          <p:cNvSpPr/>
          <p:nvPr/>
        </p:nvSpPr>
        <p:spPr>
          <a:xfrm>
            <a:off x="530352" y="6473952"/>
            <a:ext cx="6583680" cy="164592"/>
          </a:xfrm>
          <a:prstGeom prst="rect">
            <a:avLst/>
          </a:prstGeom>
          <a:noFill/>
          <a:ln/>
        </p:spPr>
        <p:txBody>
          <a:bodyPr wrap="square" rtlCol="0" anchor="ctr"/>
          <a:lstStyle/>
          <a:p>
            <a:pPr indent="0" marL="0">
              <a:buNone/>
            </a:pPr>
            <a:r>
              <a:rPr lang="en-US" sz="750" dirty="0">
                <a:solidFill>
                  <a:srgbClr val="6E7F96"/>
                </a:solidFill>
              </a:rPr>
              <a:t>Rev.io x Intermedia | Revii AI billing modernization | Confidential</a:t>
            </a:r>
            <a:endParaRPr lang="en-US" sz="750" dirty="0"/>
          </a:p>
        </p:txBody>
      </p:sp>
      <p:sp>
        <p:nvSpPr>
          <p:cNvPr id="79" name="Text 75"/>
          <p:cNvSpPr/>
          <p:nvPr/>
        </p:nvSpPr>
        <p:spPr>
          <a:xfrm>
            <a:off x="10652760" y="6473952"/>
            <a:ext cx="1005840" cy="164592"/>
          </a:xfrm>
          <a:prstGeom prst="rect">
            <a:avLst/>
          </a:prstGeom>
          <a:noFill/>
          <a:ln/>
        </p:spPr>
        <p:txBody>
          <a:bodyPr wrap="square" rtlCol="0" anchor="ctr"/>
          <a:lstStyle/>
          <a:p>
            <a:pPr algn="r" indent="0" marL="0">
              <a:buNone/>
            </a:pPr>
            <a:r>
              <a:rPr lang="en-US" sz="750" dirty="0">
                <a:solidFill>
                  <a:srgbClr val="6E7F96"/>
                </a:solidFill>
              </a:rPr>
              <a:t>June 2026</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333333">
                <a:alpha val="0"/>
              </a:srgbClr>
            </a:solidFill>
            <a:prstDash val="solid"/>
          </a:ln>
        </p:spPr>
      </p:sp>
      <p:sp>
        <p:nvSpPr>
          <p:cNvPr id="3" name="Shape 1"/>
          <p:cNvSpPr/>
          <p:nvPr/>
        </p:nvSpPr>
        <p:spPr>
          <a:xfrm>
            <a:off x="0" y="0"/>
            <a:ext cx="0" cy="6858000"/>
          </a:xfrm>
          <a:prstGeom prst="line">
            <a:avLst/>
          </a:prstGeom>
          <a:noFill/>
          <a:ln w="12700">
            <a:solidFill>
              <a:srgbClr val="FFFFFF">
                <a:alpha val="4000"/>
              </a:srgbClr>
            </a:solidFill>
            <a:prstDash val="solid"/>
          </a:ln>
        </p:spPr>
      </p:sp>
      <p:sp>
        <p:nvSpPr>
          <p:cNvPr id="4" name="Shape 2"/>
          <p:cNvSpPr/>
          <p:nvPr/>
        </p:nvSpPr>
        <p:spPr>
          <a:xfrm>
            <a:off x="502920" y="0"/>
            <a:ext cx="0" cy="6858000"/>
          </a:xfrm>
          <a:prstGeom prst="line">
            <a:avLst/>
          </a:prstGeom>
          <a:noFill/>
          <a:ln w="12700">
            <a:solidFill>
              <a:srgbClr val="FFFFFF">
                <a:alpha val="4000"/>
              </a:srgbClr>
            </a:solidFill>
            <a:prstDash val="solid"/>
          </a:ln>
        </p:spPr>
      </p:sp>
      <p:sp>
        <p:nvSpPr>
          <p:cNvPr id="5" name="Shape 3"/>
          <p:cNvSpPr/>
          <p:nvPr/>
        </p:nvSpPr>
        <p:spPr>
          <a:xfrm>
            <a:off x="1005840" y="0"/>
            <a:ext cx="0" cy="6858000"/>
          </a:xfrm>
          <a:prstGeom prst="line">
            <a:avLst/>
          </a:prstGeom>
          <a:noFill/>
          <a:ln w="12700">
            <a:solidFill>
              <a:srgbClr val="FFFFFF">
                <a:alpha val="4000"/>
              </a:srgbClr>
            </a:solidFill>
            <a:prstDash val="solid"/>
          </a:ln>
        </p:spPr>
      </p:sp>
      <p:sp>
        <p:nvSpPr>
          <p:cNvPr id="6" name="Shape 4"/>
          <p:cNvSpPr/>
          <p:nvPr/>
        </p:nvSpPr>
        <p:spPr>
          <a:xfrm>
            <a:off x="1508760" y="0"/>
            <a:ext cx="0" cy="6858000"/>
          </a:xfrm>
          <a:prstGeom prst="line">
            <a:avLst/>
          </a:prstGeom>
          <a:noFill/>
          <a:ln w="12700">
            <a:solidFill>
              <a:srgbClr val="FFFFFF">
                <a:alpha val="4000"/>
              </a:srgbClr>
            </a:solidFill>
            <a:prstDash val="solid"/>
          </a:ln>
        </p:spPr>
      </p:sp>
      <p:sp>
        <p:nvSpPr>
          <p:cNvPr id="7" name="Shape 5"/>
          <p:cNvSpPr/>
          <p:nvPr/>
        </p:nvSpPr>
        <p:spPr>
          <a:xfrm>
            <a:off x="2011680" y="0"/>
            <a:ext cx="0" cy="6858000"/>
          </a:xfrm>
          <a:prstGeom prst="line">
            <a:avLst/>
          </a:prstGeom>
          <a:noFill/>
          <a:ln w="12700">
            <a:solidFill>
              <a:srgbClr val="FFFFFF">
                <a:alpha val="4000"/>
              </a:srgbClr>
            </a:solidFill>
            <a:prstDash val="solid"/>
          </a:ln>
        </p:spPr>
      </p:sp>
      <p:sp>
        <p:nvSpPr>
          <p:cNvPr id="8" name="Shape 6"/>
          <p:cNvSpPr/>
          <p:nvPr/>
        </p:nvSpPr>
        <p:spPr>
          <a:xfrm>
            <a:off x="2514600" y="0"/>
            <a:ext cx="0" cy="6858000"/>
          </a:xfrm>
          <a:prstGeom prst="line">
            <a:avLst/>
          </a:prstGeom>
          <a:noFill/>
          <a:ln w="12700">
            <a:solidFill>
              <a:srgbClr val="FFFFFF">
                <a:alpha val="4000"/>
              </a:srgbClr>
            </a:solidFill>
            <a:prstDash val="solid"/>
          </a:ln>
        </p:spPr>
      </p:sp>
      <p:sp>
        <p:nvSpPr>
          <p:cNvPr id="9" name="Shape 7"/>
          <p:cNvSpPr/>
          <p:nvPr/>
        </p:nvSpPr>
        <p:spPr>
          <a:xfrm>
            <a:off x="3017520" y="0"/>
            <a:ext cx="0" cy="6858000"/>
          </a:xfrm>
          <a:prstGeom prst="line">
            <a:avLst/>
          </a:prstGeom>
          <a:noFill/>
          <a:ln w="12700">
            <a:solidFill>
              <a:srgbClr val="FFFFFF">
                <a:alpha val="4000"/>
              </a:srgbClr>
            </a:solidFill>
            <a:prstDash val="solid"/>
          </a:ln>
        </p:spPr>
      </p:sp>
      <p:sp>
        <p:nvSpPr>
          <p:cNvPr id="10" name="Shape 8"/>
          <p:cNvSpPr/>
          <p:nvPr/>
        </p:nvSpPr>
        <p:spPr>
          <a:xfrm>
            <a:off x="3520440" y="0"/>
            <a:ext cx="0" cy="6858000"/>
          </a:xfrm>
          <a:prstGeom prst="line">
            <a:avLst/>
          </a:prstGeom>
          <a:noFill/>
          <a:ln w="12700">
            <a:solidFill>
              <a:srgbClr val="FFFFFF">
                <a:alpha val="4000"/>
              </a:srgbClr>
            </a:solidFill>
            <a:prstDash val="solid"/>
          </a:ln>
        </p:spPr>
      </p:sp>
      <p:sp>
        <p:nvSpPr>
          <p:cNvPr id="11" name="Shape 9"/>
          <p:cNvSpPr/>
          <p:nvPr/>
        </p:nvSpPr>
        <p:spPr>
          <a:xfrm>
            <a:off x="4023360" y="0"/>
            <a:ext cx="0" cy="6858000"/>
          </a:xfrm>
          <a:prstGeom prst="line">
            <a:avLst/>
          </a:prstGeom>
          <a:noFill/>
          <a:ln w="12700">
            <a:solidFill>
              <a:srgbClr val="FFFFFF">
                <a:alpha val="4000"/>
              </a:srgbClr>
            </a:solidFill>
            <a:prstDash val="solid"/>
          </a:ln>
        </p:spPr>
      </p:sp>
      <p:sp>
        <p:nvSpPr>
          <p:cNvPr id="12" name="Shape 10"/>
          <p:cNvSpPr/>
          <p:nvPr/>
        </p:nvSpPr>
        <p:spPr>
          <a:xfrm>
            <a:off x="4526280" y="0"/>
            <a:ext cx="0" cy="6858000"/>
          </a:xfrm>
          <a:prstGeom prst="line">
            <a:avLst/>
          </a:prstGeom>
          <a:noFill/>
          <a:ln w="12700">
            <a:solidFill>
              <a:srgbClr val="FFFFFF">
                <a:alpha val="4000"/>
              </a:srgbClr>
            </a:solidFill>
            <a:prstDash val="solid"/>
          </a:ln>
        </p:spPr>
      </p:sp>
      <p:sp>
        <p:nvSpPr>
          <p:cNvPr id="13" name="Shape 11"/>
          <p:cNvSpPr/>
          <p:nvPr/>
        </p:nvSpPr>
        <p:spPr>
          <a:xfrm>
            <a:off x="5029200" y="0"/>
            <a:ext cx="0" cy="6858000"/>
          </a:xfrm>
          <a:prstGeom prst="line">
            <a:avLst/>
          </a:prstGeom>
          <a:noFill/>
          <a:ln w="12700">
            <a:solidFill>
              <a:srgbClr val="FFFFFF">
                <a:alpha val="4000"/>
              </a:srgbClr>
            </a:solidFill>
            <a:prstDash val="solid"/>
          </a:ln>
        </p:spPr>
      </p:sp>
      <p:sp>
        <p:nvSpPr>
          <p:cNvPr id="14" name="Shape 12"/>
          <p:cNvSpPr/>
          <p:nvPr/>
        </p:nvSpPr>
        <p:spPr>
          <a:xfrm>
            <a:off x="5532120" y="0"/>
            <a:ext cx="0" cy="6858000"/>
          </a:xfrm>
          <a:prstGeom prst="line">
            <a:avLst/>
          </a:prstGeom>
          <a:noFill/>
          <a:ln w="12700">
            <a:solidFill>
              <a:srgbClr val="FFFFFF">
                <a:alpha val="4000"/>
              </a:srgbClr>
            </a:solidFill>
            <a:prstDash val="solid"/>
          </a:ln>
        </p:spPr>
      </p:sp>
      <p:sp>
        <p:nvSpPr>
          <p:cNvPr id="15" name="Shape 13"/>
          <p:cNvSpPr/>
          <p:nvPr/>
        </p:nvSpPr>
        <p:spPr>
          <a:xfrm>
            <a:off x="6035040" y="0"/>
            <a:ext cx="0" cy="6858000"/>
          </a:xfrm>
          <a:prstGeom prst="line">
            <a:avLst/>
          </a:prstGeom>
          <a:noFill/>
          <a:ln w="12700">
            <a:solidFill>
              <a:srgbClr val="FFFFFF">
                <a:alpha val="4000"/>
              </a:srgbClr>
            </a:solidFill>
            <a:prstDash val="solid"/>
          </a:ln>
        </p:spPr>
      </p:sp>
      <p:sp>
        <p:nvSpPr>
          <p:cNvPr id="16" name="Shape 14"/>
          <p:cNvSpPr/>
          <p:nvPr/>
        </p:nvSpPr>
        <p:spPr>
          <a:xfrm>
            <a:off x="6537960" y="0"/>
            <a:ext cx="0" cy="6858000"/>
          </a:xfrm>
          <a:prstGeom prst="line">
            <a:avLst/>
          </a:prstGeom>
          <a:noFill/>
          <a:ln w="12700">
            <a:solidFill>
              <a:srgbClr val="FFFFFF">
                <a:alpha val="4000"/>
              </a:srgbClr>
            </a:solidFill>
            <a:prstDash val="solid"/>
          </a:ln>
        </p:spPr>
      </p:sp>
      <p:sp>
        <p:nvSpPr>
          <p:cNvPr id="17" name="Shape 15"/>
          <p:cNvSpPr/>
          <p:nvPr/>
        </p:nvSpPr>
        <p:spPr>
          <a:xfrm>
            <a:off x="7040880" y="0"/>
            <a:ext cx="0" cy="6858000"/>
          </a:xfrm>
          <a:prstGeom prst="line">
            <a:avLst/>
          </a:prstGeom>
          <a:noFill/>
          <a:ln w="12700">
            <a:solidFill>
              <a:srgbClr val="FFFFFF">
                <a:alpha val="4000"/>
              </a:srgbClr>
            </a:solidFill>
            <a:prstDash val="solid"/>
          </a:ln>
        </p:spPr>
      </p:sp>
      <p:sp>
        <p:nvSpPr>
          <p:cNvPr id="18" name="Shape 16"/>
          <p:cNvSpPr/>
          <p:nvPr/>
        </p:nvSpPr>
        <p:spPr>
          <a:xfrm>
            <a:off x="7543800" y="0"/>
            <a:ext cx="0" cy="6858000"/>
          </a:xfrm>
          <a:prstGeom prst="line">
            <a:avLst/>
          </a:prstGeom>
          <a:noFill/>
          <a:ln w="12700">
            <a:solidFill>
              <a:srgbClr val="FFFFFF">
                <a:alpha val="4000"/>
              </a:srgbClr>
            </a:solidFill>
            <a:prstDash val="solid"/>
          </a:ln>
        </p:spPr>
      </p:sp>
      <p:sp>
        <p:nvSpPr>
          <p:cNvPr id="19" name="Shape 17"/>
          <p:cNvSpPr/>
          <p:nvPr/>
        </p:nvSpPr>
        <p:spPr>
          <a:xfrm>
            <a:off x="8046720" y="0"/>
            <a:ext cx="0" cy="6858000"/>
          </a:xfrm>
          <a:prstGeom prst="line">
            <a:avLst/>
          </a:prstGeom>
          <a:noFill/>
          <a:ln w="12700">
            <a:solidFill>
              <a:srgbClr val="FFFFFF">
                <a:alpha val="4000"/>
              </a:srgbClr>
            </a:solidFill>
            <a:prstDash val="solid"/>
          </a:ln>
        </p:spPr>
      </p:sp>
      <p:sp>
        <p:nvSpPr>
          <p:cNvPr id="20" name="Shape 18"/>
          <p:cNvSpPr/>
          <p:nvPr/>
        </p:nvSpPr>
        <p:spPr>
          <a:xfrm>
            <a:off x="8549640" y="0"/>
            <a:ext cx="0" cy="6858000"/>
          </a:xfrm>
          <a:prstGeom prst="line">
            <a:avLst/>
          </a:prstGeom>
          <a:noFill/>
          <a:ln w="12700">
            <a:solidFill>
              <a:srgbClr val="FFFFFF">
                <a:alpha val="4000"/>
              </a:srgbClr>
            </a:solidFill>
            <a:prstDash val="solid"/>
          </a:ln>
        </p:spPr>
      </p:sp>
      <p:sp>
        <p:nvSpPr>
          <p:cNvPr id="21" name="Shape 19"/>
          <p:cNvSpPr/>
          <p:nvPr/>
        </p:nvSpPr>
        <p:spPr>
          <a:xfrm>
            <a:off x="9052560" y="0"/>
            <a:ext cx="0" cy="6858000"/>
          </a:xfrm>
          <a:prstGeom prst="line">
            <a:avLst/>
          </a:prstGeom>
          <a:noFill/>
          <a:ln w="12700">
            <a:solidFill>
              <a:srgbClr val="FFFFFF">
                <a:alpha val="4000"/>
              </a:srgbClr>
            </a:solidFill>
            <a:prstDash val="solid"/>
          </a:ln>
        </p:spPr>
      </p:sp>
      <p:sp>
        <p:nvSpPr>
          <p:cNvPr id="22" name="Shape 20"/>
          <p:cNvSpPr/>
          <p:nvPr/>
        </p:nvSpPr>
        <p:spPr>
          <a:xfrm>
            <a:off x="9555480" y="0"/>
            <a:ext cx="0" cy="6858000"/>
          </a:xfrm>
          <a:prstGeom prst="line">
            <a:avLst/>
          </a:prstGeom>
          <a:noFill/>
          <a:ln w="12700">
            <a:solidFill>
              <a:srgbClr val="FFFFFF">
                <a:alpha val="4000"/>
              </a:srgbClr>
            </a:solidFill>
            <a:prstDash val="solid"/>
          </a:ln>
        </p:spPr>
      </p:sp>
      <p:sp>
        <p:nvSpPr>
          <p:cNvPr id="23" name="Shape 21"/>
          <p:cNvSpPr/>
          <p:nvPr/>
        </p:nvSpPr>
        <p:spPr>
          <a:xfrm>
            <a:off x="10058400" y="0"/>
            <a:ext cx="0" cy="6858000"/>
          </a:xfrm>
          <a:prstGeom prst="line">
            <a:avLst/>
          </a:prstGeom>
          <a:noFill/>
          <a:ln w="12700">
            <a:solidFill>
              <a:srgbClr val="FFFFFF">
                <a:alpha val="4000"/>
              </a:srgbClr>
            </a:solidFill>
            <a:prstDash val="solid"/>
          </a:ln>
        </p:spPr>
      </p:sp>
      <p:sp>
        <p:nvSpPr>
          <p:cNvPr id="24" name="Shape 22"/>
          <p:cNvSpPr/>
          <p:nvPr/>
        </p:nvSpPr>
        <p:spPr>
          <a:xfrm>
            <a:off x="10561320" y="0"/>
            <a:ext cx="0" cy="6858000"/>
          </a:xfrm>
          <a:prstGeom prst="line">
            <a:avLst/>
          </a:prstGeom>
          <a:noFill/>
          <a:ln w="12700">
            <a:solidFill>
              <a:srgbClr val="FFFFFF">
                <a:alpha val="4000"/>
              </a:srgbClr>
            </a:solidFill>
            <a:prstDash val="solid"/>
          </a:ln>
        </p:spPr>
      </p:sp>
      <p:sp>
        <p:nvSpPr>
          <p:cNvPr id="25" name="Shape 23"/>
          <p:cNvSpPr/>
          <p:nvPr/>
        </p:nvSpPr>
        <p:spPr>
          <a:xfrm>
            <a:off x="11064240" y="0"/>
            <a:ext cx="0" cy="6858000"/>
          </a:xfrm>
          <a:prstGeom prst="line">
            <a:avLst/>
          </a:prstGeom>
          <a:noFill/>
          <a:ln w="12700">
            <a:solidFill>
              <a:srgbClr val="FFFFFF">
                <a:alpha val="4000"/>
              </a:srgbClr>
            </a:solidFill>
            <a:prstDash val="solid"/>
          </a:ln>
        </p:spPr>
      </p:sp>
      <p:sp>
        <p:nvSpPr>
          <p:cNvPr id="26" name="Shape 24"/>
          <p:cNvSpPr/>
          <p:nvPr/>
        </p:nvSpPr>
        <p:spPr>
          <a:xfrm>
            <a:off x="11567160" y="0"/>
            <a:ext cx="0" cy="6858000"/>
          </a:xfrm>
          <a:prstGeom prst="line">
            <a:avLst/>
          </a:prstGeom>
          <a:noFill/>
          <a:ln w="12700">
            <a:solidFill>
              <a:srgbClr val="FFFFFF">
                <a:alpha val="4000"/>
              </a:srgbClr>
            </a:solidFill>
            <a:prstDash val="solid"/>
          </a:ln>
        </p:spPr>
      </p:sp>
      <p:sp>
        <p:nvSpPr>
          <p:cNvPr id="27" name="Shape 25"/>
          <p:cNvSpPr/>
          <p:nvPr/>
        </p:nvSpPr>
        <p:spPr>
          <a:xfrm>
            <a:off x="12070080" y="0"/>
            <a:ext cx="0" cy="6858000"/>
          </a:xfrm>
          <a:prstGeom prst="line">
            <a:avLst/>
          </a:prstGeom>
          <a:noFill/>
          <a:ln w="12700">
            <a:solidFill>
              <a:srgbClr val="FFFFFF">
                <a:alpha val="4000"/>
              </a:srgbClr>
            </a:solidFill>
            <a:prstDash val="solid"/>
          </a:ln>
        </p:spPr>
      </p:sp>
      <p:sp>
        <p:nvSpPr>
          <p:cNvPr id="28" name="Shape 26"/>
          <p:cNvSpPr/>
          <p:nvPr/>
        </p:nvSpPr>
        <p:spPr>
          <a:xfrm>
            <a:off x="0" y="0"/>
            <a:ext cx="12191695" cy="0"/>
          </a:xfrm>
          <a:prstGeom prst="line">
            <a:avLst/>
          </a:prstGeom>
          <a:noFill/>
          <a:ln w="12700">
            <a:solidFill>
              <a:srgbClr val="FFFFFF">
                <a:alpha val="4000"/>
              </a:srgbClr>
            </a:solidFill>
            <a:prstDash val="solid"/>
          </a:ln>
        </p:spPr>
      </p:sp>
      <p:sp>
        <p:nvSpPr>
          <p:cNvPr id="29" name="Shape 27"/>
          <p:cNvSpPr/>
          <p:nvPr/>
        </p:nvSpPr>
        <p:spPr>
          <a:xfrm>
            <a:off x="0" y="502920"/>
            <a:ext cx="12191695" cy="0"/>
          </a:xfrm>
          <a:prstGeom prst="line">
            <a:avLst/>
          </a:prstGeom>
          <a:noFill/>
          <a:ln w="12700">
            <a:solidFill>
              <a:srgbClr val="FFFFFF">
                <a:alpha val="4000"/>
              </a:srgbClr>
            </a:solidFill>
            <a:prstDash val="solid"/>
          </a:ln>
        </p:spPr>
      </p:sp>
      <p:sp>
        <p:nvSpPr>
          <p:cNvPr id="30" name="Shape 28"/>
          <p:cNvSpPr/>
          <p:nvPr/>
        </p:nvSpPr>
        <p:spPr>
          <a:xfrm>
            <a:off x="0" y="1005840"/>
            <a:ext cx="12191695" cy="0"/>
          </a:xfrm>
          <a:prstGeom prst="line">
            <a:avLst/>
          </a:prstGeom>
          <a:noFill/>
          <a:ln w="12700">
            <a:solidFill>
              <a:srgbClr val="FFFFFF">
                <a:alpha val="4000"/>
              </a:srgbClr>
            </a:solidFill>
            <a:prstDash val="solid"/>
          </a:ln>
        </p:spPr>
      </p:sp>
      <p:sp>
        <p:nvSpPr>
          <p:cNvPr id="31" name="Shape 29"/>
          <p:cNvSpPr/>
          <p:nvPr/>
        </p:nvSpPr>
        <p:spPr>
          <a:xfrm>
            <a:off x="0" y="1508760"/>
            <a:ext cx="12191695" cy="0"/>
          </a:xfrm>
          <a:prstGeom prst="line">
            <a:avLst/>
          </a:prstGeom>
          <a:noFill/>
          <a:ln w="12700">
            <a:solidFill>
              <a:srgbClr val="FFFFFF">
                <a:alpha val="4000"/>
              </a:srgbClr>
            </a:solidFill>
            <a:prstDash val="solid"/>
          </a:ln>
        </p:spPr>
      </p:sp>
      <p:sp>
        <p:nvSpPr>
          <p:cNvPr id="32" name="Shape 30"/>
          <p:cNvSpPr/>
          <p:nvPr/>
        </p:nvSpPr>
        <p:spPr>
          <a:xfrm>
            <a:off x="0" y="2011680"/>
            <a:ext cx="12191695" cy="0"/>
          </a:xfrm>
          <a:prstGeom prst="line">
            <a:avLst/>
          </a:prstGeom>
          <a:noFill/>
          <a:ln w="12700">
            <a:solidFill>
              <a:srgbClr val="FFFFFF">
                <a:alpha val="4000"/>
              </a:srgbClr>
            </a:solidFill>
            <a:prstDash val="solid"/>
          </a:ln>
        </p:spPr>
      </p:sp>
      <p:sp>
        <p:nvSpPr>
          <p:cNvPr id="33" name="Shape 31"/>
          <p:cNvSpPr/>
          <p:nvPr/>
        </p:nvSpPr>
        <p:spPr>
          <a:xfrm>
            <a:off x="0" y="2514600"/>
            <a:ext cx="12191695" cy="0"/>
          </a:xfrm>
          <a:prstGeom prst="line">
            <a:avLst/>
          </a:prstGeom>
          <a:noFill/>
          <a:ln w="12700">
            <a:solidFill>
              <a:srgbClr val="FFFFFF">
                <a:alpha val="4000"/>
              </a:srgbClr>
            </a:solidFill>
            <a:prstDash val="solid"/>
          </a:ln>
        </p:spPr>
      </p:sp>
      <p:sp>
        <p:nvSpPr>
          <p:cNvPr id="34" name="Shape 32"/>
          <p:cNvSpPr/>
          <p:nvPr/>
        </p:nvSpPr>
        <p:spPr>
          <a:xfrm>
            <a:off x="0" y="3017520"/>
            <a:ext cx="12191695" cy="0"/>
          </a:xfrm>
          <a:prstGeom prst="line">
            <a:avLst/>
          </a:prstGeom>
          <a:noFill/>
          <a:ln w="12700">
            <a:solidFill>
              <a:srgbClr val="FFFFFF">
                <a:alpha val="4000"/>
              </a:srgbClr>
            </a:solidFill>
            <a:prstDash val="solid"/>
          </a:ln>
        </p:spPr>
      </p:sp>
      <p:sp>
        <p:nvSpPr>
          <p:cNvPr id="35" name="Shape 33"/>
          <p:cNvSpPr/>
          <p:nvPr/>
        </p:nvSpPr>
        <p:spPr>
          <a:xfrm>
            <a:off x="0" y="3520440"/>
            <a:ext cx="12191695" cy="0"/>
          </a:xfrm>
          <a:prstGeom prst="line">
            <a:avLst/>
          </a:prstGeom>
          <a:noFill/>
          <a:ln w="12700">
            <a:solidFill>
              <a:srgbClr val="FFFFFF">
                <a:alpha val="4000"/>
              </a:srgbClr>
            </a:solidFill>
            <a:prstDash val="solid"/>
          </a:ln>
        </p:spPr>
      </p:sp>
      <p:sp>
        <p:nvSpPr>
          <p:cNvPr id="36" name="Shape 34"/>
          <p:cNvSpPr/>
          <p:nvPr/>
        </p:nvSpPr>
        <p:spPr>
          <a:xfrm>
            <a:off x="0" y="4023360"/>
            <a:ext cx="12191695" cy="0"/>
          </a:xfrm>
          <a:prstGeom prst="line">
            <a:avLst/>
          </a:prstGeom>
          <a:noFill/>
          <a:ln w="12700">
            <a:solidFill>
              <a:srgbClr val="FFFFFF">
                <a:alpha val="4000"/>
              </a:srgbClr>
            </a:solidFill>
            <a:prstDash val="solid"/>
          </a:ln>
        </p:spPr>
      </p:sp>
      <p:sp>
        <p:nvSpPr>
          <p:cNvPr id="37" name="Shape 35"/>
          <p:cNvSpPr/>
          <p:nvPr/>
        </p:nvSpPr>
        <p:spPr>
          <a:xfrm>
            <a:off x="0" y="4526280"/>
            <a:ext cx="12191695" cy="0"/>
          </a:xfrm>
          <a:prstGeom prst="line">
            <a:avLst/>
          </a:prstGeom>
          <a:noFill/>
          <a:ln w="12700">
            <a:solidFill>
              <a:srgbClr val="FFFFFF">
                <a:alpha val="4000"/>
              </a:srgbClr>
            </a:solidFill>
            <a:prstDash val="solid"/>
          </a:ln>
        </p:spPr>
      </p:sp>
      <p:sp>
        <p:nvSpPr>
          <p:cNvPr id="38" name="Shape 36"/>
          <p:cNvSpPr/>
          <p:nvPr/>
        </p:nvSpPr>
        <p:spPr>
          <a:xfrm>
            <a:off x="0" y="5029200"/>
            <a:ext cx="12191695" cy="0"/>
          </a:xfrm>
          <a:prstGeom prst="line">
            <a:avLst/>
          </a:prstGeom>
          <a:noFill/>
          <a:ln w="12700">
            <a:solidFill>
              <a:srgbClr val="FFFFFF">
                <a:alpha val="4000"/>
              </a:srgbClr>
            </a:solidFill>
            <a:prstDash val="solid"/>
          </a:ln>
        </p:spPr>
      </p:sp>
      <p:sp>
        <p:nvSpPr>
          <p:cNvPr id="39" name="Shape 37"/>
          <p:cNvSpPr/>
          <p:nvPr/>
        </p:nvSpPr>
        <p:spPr>
          <a:xfrm>
            <a:off x="0" y="5532120"/>
            <a:ext cx="12191695" cy="0"/>
          </a:xfrm>
          <a:prstGeom prst="line">
            <a:avLst/>
          </a:prstGeom>
          <a:noFill/>
          <a:ln w="12700">
            <a:solidFill>
              <a:srgbClr val="FFFFFF">
                <a:alpha val="4000"/>
              </a:srgbClr>
            </a:solidFill>
            <a:prstDash val="solid"/>
          </a:ln>
        </p:spPr>
      </p:sp>
      <p:sp>
        <p:nvSpPr>
          <p:cNvPr id="40" name="Shape 38"/>
          <p:cNvSpPr/>
          <p:nvPr/>
        </p:nvSpPr>
        <p:spPr>
          <a:xfrm>
            <a:off x="0" y="6035040"/>
            <a:ext cx="12191695" cy="0"/>
          </a:xfrm>
          <a:prstGeom prst="line">
            <a:avLst/>
          </a:prstGeom>
          <a:noFill/>
          <a:ln w="12700">
            <a:solidFill>
              <a:srgbClr val="FFFFFF">
                <a:alpha val="4000"/>
              </a:srgbClr>
            </a:solidFill>
            <a:prstDash val="solid"/>
          </a:ln>
        </p:spPr>
      </p:sp>
      <p:sp>
        <p:nvSpPr>
          <p:cNvPr id="41" name="Shape 39"/>
          <p:cNvSpPr/>
          <p:nvPr/>
        </p:nvSpPr>
        <p:spPr>
          <a:xfrm>
            <a:off x="0" y="6537960"/>
            <a:ext cx="12191695" cy="0"/>
          </a:xfrm>
          <a:prstGeom prst="line">
            <a:avLst/>
          </a:prstGeom>
          <a:noFill/>
          <a:ln w="12700">
            <a:solidFill>
              <a:srgbClr val="FFFFFF">
                <a:alpha val="4000"/>
              </a:srgbClr>
            </a:solidFill>
            <a:prstDash val="solid"/>
          </a:ln>
        </p:spPr>
      </p:sp>
      <p:sp>
        <p:nvSpPr>
          <p:cNvPr id="42" name="Shape 40"/>
          <p:cNvSpPr/>
          <p:nvPr/>
        </p:nvSpPr>
        <p:spPr>
          <a:xfrm>
            <a:off x="0" y="0"/>
            <a:ext cx="12191695" cy="6858000"/>
          </a:xfrm>
          <a:prstGeom prst="rect">
            <a:avLst/>
          </a:prstGeom>
          <a:solidFill>
            <a:srgbClr val="1667CC">
              <a:alpha val="6000"/>
            </a:srgbClr>
          </a:solidFill>
          <a:ln w="12700">
            <a:solidFill>
              <a:srgbClr val="333333">
                <a:alpha val="0"/>
              </a:srgbClr>
            </a:solidFill>
            <a:prstDash val="solid"/>
          </a:ln>
        </p:spPr>
      </p:sp>
      <p:pic>
        <p:nvPicPr>
          <p:cNvPr id="43" name="Image 0" descr="/home/openclaw/.openclaw/workspace/revio-logo.png">    </p:cNvPr>
          <p:cNvPicPr>
            <a:picLocks noChangeAspect="1"/>
          </p:cNvPicPr>
          <p:nvPr/>
        </p:nvPicPr>
        <p:blipFill>
          <a:blip r:embed="rId1"/>
          <a:stretch>
            <a:fillRect/>
          </a:stretch>
        </p:blipFill>
        <p:spPr>
          <a:xfrm>
            <a:off x="530352" y="320040"/>
            <a:ext cx="1307592" cy="320040"/>
          </a:xfrm>
          <a:prstGeom prst="rect">
            <a:avLst/>
          </a:prstGeom>
        </p:spPr>
      </p:pic>
      <p:sp>
        <p:nvSpPr>
          <p:cNvPr id="44" name="Shape 41"/>
          <p:cNvSpPr/>
          <p:nvPr/>
        </p:nvSpPr>
        <p:spPr>
          <a:xfrm>
            <a:off x="2057400" y="301752"/>
            <a:ext cx="0" cy="393192"/>
          </a:xfrm>
          <a:prstGeom prst="line">
            <a:avLst/>
          </a:prstGeom>
          <a:noFill/>
          <a:ln w="12700">
            <a:solidFill>
              <a:srgbClr val="FFFFFF">
                <a:alpha val="22000"/>
              </a:srgbClr>
            </a:solidFill>
            <a:prstDash val="solid"/>
          </a:ln>
        </p:spPr>
      </p:sp>
      <p:sp>
        <p:nvSpPr>
          <p:cNvPr id="45" name="Shape 42"/>
          <p:cNvSpPr/>
          <p:nvPr/>
        </p:nvSpPr>
        <p:spPr>
          <a:xfrm>
            <a:off x="2267712" y="265176"/>
            <a:ext cx="1444752" cy="438912"/>
          </a:xfrm>
          <a:prstGeom prst="roundRect">
            <a:avLst>
              <a:gd name="adj" fmla="val 12500"/>
            </a:avLst>
          </a:prstGeom>
          <a:solidFill>
            <a:srgbClr val="FFFFFF"/>
          </a:solidFill>
          <a:ln w="12700">
            <a:solidFill>
              <a:srgbClr val="333333">
                <a:alpha val="0"/>
              </a:srgbClr>
            </a:solidFill>
            <a:prstDash val="solid"/>
          </a:ln>
        </p:spPr>
      </p:sp>
      <p:pic>
        <p:nvPicPr>
          <p:cNvPr id="46" name="Image 1" descr="/home/openclaw/.openclaw/workspace/intermedia-logo.png">    </p:cNvPr>
          <p:cNvPicPr>
            <a:picLocks noChangeAspect="1"/>
          </p:cNvPicPr>
          <p:nvPr/>
        </p:nvPicPr>
        <p:blipFill>
          <a:blip r:embed="rId2"/>
          <a:stretch>
            <a:fillRect/>
          </a:stretch>
        </p:blipFill>
        <p:spPr>
          <a:xfrm>
            <a:off x="2395728" y="347472"/>
            <a:ext cx="1188720" cy="265176"/>
          </a:xfrm>
          <a:prstGeom prst="rect">
            <a:avLst/>
          </a:prstGeom>
        </p:spPr>
      </p:pic>
      <p:sp>
        <p:nvSpPr>
          <p:cNvPr id="47" name="Text 43"/>
          <p:cNvSpPr/>
          <p:nvPr/>
        </p:nvSpPr>
        <p:spPr>
          <a:xfrm>
            <a:off x="530352" y="786384"/>
            <a:ext cx="4023360" cy="201168"/>
          </a:xfrm>
          <a:prstGeom prst="rect">
            <a:avLst/>
          </a:prstGeom>
          <a:noFill/>
          <a:ln/>
        </p:spPr>
        <p:txBody>
          <a:bodyPr wrap="square" rtlCol="0" anchor="ctr"/>
          <a:lstStyle/>
          <a:p>
            <a:pPr indent="0" marL="0">
              <a:buNone/>
            </a:pPr>
            <a:r>
              <a:rPr lang="en-US" sz="850" b="1" dirty="0">
                <a:solidFill>
                  <a:srgbClr val="2499B6"/>
                </a:solidFill>
              </a:rPr>
              <a:t>CURRENT STATE</a:t>
            </a:r>
            <a:endParaRPr lang="en-US" sz="850" dirty="0"/>
          </a:p>
        </p:txBody>
      </p:sp>
      <p:sp>
        <p:nvSpPr>
          <p:cNvPr id="48" name="Text 44"/>
          <p:cNvSpPr/>
          <p:nvPr/>
        </p:nvSpPr>
        <p:spPr>
          <a:xfrm>
            <a:off x="530352" y="1051560"/>
            <a:ext cx="6949440" cy="658368"/>
          </a:xfrm>
          <a:prstGeom prst="rect">
            <a:avLst/>
          </a:prstGeom>
          <a:noFill/>
          <a:ln/>
        </p:spPr>
        <p:txBody>
          <a:bodyPr wrap="square" lIns="0" tIns="0" rIns="0" bIns="0" rtlCol="0" anchor="ctr">
            <a:normAutofit/>
          </a:bodyPr>
          <a:lstStyle/>
          <a:p>
            <a:pPr indent="0" marL="0">
              <a:buNone/>
            </a:pPr>
            <a:r>
              <a:rPr lang="en-US" sz="2700" b="1" dirty="0">
                <a:solidFill>
                  <a:srgbClr val="FFFFFF"/>
                </a:solidFill>
              </a:rPr>
              <a:t>Their billing knowledge is trapped across systems.</a:t>
            </a:r>
            <a:endParaRPr lang="en-US" sz="2700" dirty="0"/>
          </a:p>
        </p:txBody>
      </p:sp>
      <p:sp>
        <p:nvSpPr>
          <p:cNvPr id="49" name="Text 45"/>
          <p:cNvSpPr/>
          <p:nvPr/>
        </p:nvSpPr>
        <p:spPr>
          <a:xfrm>
            <a:off x="530352" y="1783080"/>
            <a:ext cx="7772400" cy="420624"/>
          </a:xfrm>
          <a:prstGeom prst="rect">
            <a:avLst/>
          </a:prstGeom>
          <a:noFill/>
          <a:ln/>
        </p:spPr>
        <p:txBody>
          <a:bodyPr wrap="square" lIns="0" tIns="0" rIns="0" bIns="0" rtlCol="0" anchor="ctr">
            <a:normAutofit/>
          </a:bodyPr>
          <a:lstStyle/>
          <a:p>
            <a:pPr indent="0" marL="0">
              <a:buNone/>
            </a:pPr>
            <a:r>
              <a:rPr lang="en-US" sz="1060" dirty="0">
                <a:solidFill>
                  <a:srgbClr val="B9C7D8"/>
                </a:solidFill>
              </a:rPr>
              <a:t>Intermedia's issue is not just software age. It is that billing logic, exceptions, and reconciliation knowledge are scattered across proprietary platforms, legacy systems, and people.</a:t>
            </a:r>
            <a:endParaRPr lang="en-US" sz="1060" dirty="0"/>
          </a:p>
        </p:txBody>
      </p:sp>
      <p:sp>
        <p:nvSpPr>
          <p:cNvPr id="50" name="Shape 46"/>
          <p:cNvSpPr/>
          <p:nvPr/>
        </p:nvSpPr>
        <p:spPr>
          <a:xfrm>
            <a:off x="594360" y="2487168"/>
            <a:ext cx="2423160" cy="2697480"/>
          </a:xfrm>
          <a:prstGeom prst="roundRect">
            <a:avLst>
              <a:gd name="adj" fmla="val 3019"/>
            </a:avLst>
          </a:prstGeom>
          <a:solidFill>
            <a:srgbClr val="101A2A"/>
          </a:solidFill>
          <a:ln w="12700">
            <a:solidFill>
              <a:srgbClr val="26374F"/>
            </a:solidFill>
            <a:prstDash val="solid"/>
          </a:ln>
        </p:spPr>
      </p:sp>
      <p:sp>
        <p:nvSpPr>
          <p:cNvPr id="51" name="Shape 47"/>
          <p:cNvSpPr/>
          <p:nvPr/>
        </p:nvSpPr>
        <p:spPr>
          <a:xfrm>
            <a:off x="594360" y="2487168"/>
            <a:ext cx="2423160" cy="64008"/>
          </a:xfrm>
          <a:prstGeom prst="rect">
            <a:avLst/>
          </a:prstGeom>
          <a:solidFill>
            <a:srgbClr val="FC6120"/>
          </a:solidFill>
          <a:ln w="12700">
            <a:solidFill>
              <a:srgbClr val="333333">
                <a:alpha val="0"/>
              </a:srgbClr>
            </a:solidFill>
            <a:prstDash val="solid"/>
          </a:ln>
        </p:spPr>
      </p:sp>
      <p:sp>
        <p:nvSpPr>
          <p:cNvPr id="52" name="Text 48"/>
          <p:cNvSpPr/>
          <p:nvPr/>
        </p:nvSpPr>
        <p:spPr>
          <a:xfrm>
            <a:off x="758952" y="2633472"/>
            <a:ext cx="2093976" cy="256032"/>
          </a:xfrm>
          <a:prstGeom prst="rect">
            <a:avLst/>
          </a:prstGeom>
          <a:noFill/>
          <a:ln/>
        </p:spPr>
        <p:txBody>
          <a:bodyPr wrap="square" lIns="0" tIns="0" rIns="0" bIns="0" rtlCol="0" anchor="ctr">
            <a:normAutofit/>
          </a:bodyPr>
          <a:lstStyle/>
          <a:p>
            <a:pPr indent="0" marL="0">
              <a:buNone/>
            </a:pPr>
            <a:r>
              <a:rPr lang="en-US" sz="1120" b="1" dirty="0">
                <a:solidFill>
                  <a:srgbClr val="FFFFFF"/>
                </a:solidFill>
              </a:rPr>
              <a:t>Atlas</a:t>
            </a:r>
            <a:endParaRPr lang="en-US" sz="1120" dirty="0"/>
          </a:p>
        </p:txBody>
      </p:sp>
      <p:sp>
        <p:nvSpPr>
          <p:cNvPr id="53" name="Text 49"/>
          <p:cNvSpPr/>
          <p:nvPr/>
        </p:nvSpPr>
        <p:spPr>
          <a:xfrm>
            <a:off x="758952" y="2971800"/>
            <a:ext cx="2093976" cy="2093976"/>
          </a:xfrm>
          <a:prstGeom prst="rect">
            <a:avLst/>
          </a:prstGeom>
          <a:noFill/>
          <a:ln/>
        </p:spPr>
        <p:txBody>
          <a:bodyPr wrap="square" lIns="0" tIns="0" rIns="0" bIns="0" rtlCol="0" anchor="t">
            <a:normAutofit/>
          </a:bodyPr>
          <a:lstStyle/>
          <a:p>
            <a:pPr indent="0" marL="0">
              <a:buNone/>
            </a:pPr>
            <a:r>
              <a:rPr lang="en-US" sz="880" dirty="0">
                <a:solidFill>
                  <a:srgbClr val="91A2B8"/>
                </a:solidFill>
              </a:rPr>
              <a:t>Legacy provisioning and billing logic. Still demands developer attention and keeps old product behavior alive.</a:t>
            </a:r>
            <a:endParaRPr lang="en-US" sz="880" dirty="0"/>
          </a:p>
        </p:txBody>
      </p:sp>
      <p:sp>
        <p:nvSpPr>
          <p:cNvPr id="54" name="Shape 50"/>
          <p:cNvSpPr/>
          <p:nvPr/>
        </p:nvSpPr>
        <p:spPr>
          <a:xfrm>
            <a:off x="3246120" y="2487168"/>
            <a:ext cx="2423160" cy="2697480"/>
          </a:xfrm>
          <a:prstGeom prst="roundRect">
            <a:avLst>
              <a:gd name="adj" fmla="val 3019"/>
            </a:avLst>
          </a:prstGeom>
          <a:solidFill>
            <a:srgbClr val="101A2A"/>
          </a:solidFill>
          <a:ln w="12700">
            <a:solidFill>
              <a:srgbClr val="26374F"/>
            </a:solidFill>
            <a:prstDash val="solid"/>
          </a:ln>
        </p:spPr>
      </p:sp>
      <p:sp>
        <p:nvSpPr>
          <p:cNvPr id="55" name="Shape 51"/>
          <p:cNvSpPr/>
          <p:nvPr/>
        </p:nvSpPr>
        <p:spPr>
          <a:xfrm>
            <a:off x="3246120" y="2487168"/>
            <a:ext cx="2423160" cy="64008"/>
          </a:xfrm>
          <a:prstGeom prst="rect">
            <a:avLst/>
          </a:prstGeom>
          <a:solidFill>
            <a:srgbClr val="FC6120"/>
          </a:solidFill>
          <a:ln w="12700">
            <a:solidFill>
              <a:srgbClr val="333333">
                <a:alpha val="0"/>
              </a:srgbClr>
            </a:solidFill>
            <a:prstDash val="solid"/>
          </a:ln>
        </p:spPr>
      </p:sp>
      <p:sp>
        <p:nvSpPr>
          <p:cNvPr id="56" name="Text 52"/>
          <p:cNvSpPr/>
          <p:nvPr/>
        </p:nvSpPr>
        <p:spPr>
          <a:xfrm>
            <a:off x="3410712" y="2633472"/>
            <a:ext cx="2093976" cy="256032"/>
          </a:xfrm>
          <a:prstGeom prst="rect">
            <a:avLst/>
          </a:prstGeom>
          <a:noFill/>
          <a:ln/>
        </p:spPr>
        <p:txBody>
          <a:bodyPr wrap="square" lIns="0" tIns="0" rIns="0" bIns="0" rtlCol="0" anchor="ctr">
            <a:normAutofit/>
          </a:bodyPr>
          <a:lstStyle/>
          <a:p>
            <a:pPr indent="0" marL="0">
              <a:buNone/>
            </a:pPr>
            <a:r>
              <a:rPr lang="en-US" sz="1120" b="1" dirty="0">
                <a:solidFill>
                  <a:srgbClr val="FFFFFF"/>
                </a:solidFill>
              </a:rPr>
              <a:t>Oracle BRM</a:t>
            </a:r>
            <a:endParaRPr lang="en-US" sz="1120" dirty="0"/>
          </a:p>
        </p:txBody>
      </p:sp>
      <p:sp>
        <p:nvSpPr>
          <p:cNvPr id="57" name="Text 53"/>
          <p:cNvSpPr/>
          <p:nvPr/>
        </p:nvSpPr>
        <p:spPr>
          <a:xfrm>
            <a:off x="3410712" y="2971800"/>
            <a:ext cx="2093976" cy="2093976"/>
          </a:xfrm>
          <a:prstGeom prst="rect">
            <a:avLst/>
          </a:prstGeom>
          <a:noFill/>
          <a:ln/>
        </p:spPr>
        <p:txBody>
          <a:bodyPr wrap="square" lIns="0" tIns="0" rIns="0" bIns="0" rtlCol="0" anchor="t">
            <a:normAutofit/>
          </a:bodyPr>
          <a:lstStyle/>
          <a:p>
            <a:pPr indent="0" marL="0">
              <a:buNone/>
            </a:pPr>
            <a:r>
              <a:rPr lang="en-US" sz="880" dirty="0">
                <a:solidFill>
                  <a:srgbClr val="91A2B8"/>
                </a:solidFill>
              </a:rPr>
              <a:t>UCaaS, CCaaS, usage buckets, CDR rating, channel pricing, and specialized maintenance burden.</a:t>
            </a:r>
            <a:endParaRPr lang="en-US" sz="880" dirty="0"/>
          </a:p>
        </p:txBody>
      </p:sp>
      <p:sp>
        <p:nvSpPr>
          <p:cNvPr id="58" name="Shape 54"/>
          <p:cNvSpPr/>
          <p:nvPr/>
        </p:nvSpPr>
        <p:spPr>
          <a:xfrm>
            <a:off x="5897880" y="2487168"/>
            <a:ext cx="2423160" cy="2697480"/>
          </a:xfrm>
          <a:prstGeom prst="roundRect">
            <a:avLst>
              <a:gd name="adj" fmla="val 3019"/>
            </a:avLst>
          </a:prstGeom>
          <a:solidFill>
            <a:srgbClr val="101A2A"/>
          </a:solidFill>
          <a:ln w="12700">
            <a:solidFill>
              <a:srgbClr val="26374F"/>
            </a:solidFill>
            <a:prstDash val="solid"/>
          </a:ln>
        </p:spPr>
      </p:sp>
      <p:sp>
        <p:nvSpPr>
          <p:cNvPr id="59" name="Shape 55"/>
          <p:cNvSpPr/>
          <p:nvPr/>
        </p:nvSpPr>
        <p:spPr>
          <a:xfrm>
            <a:off x="5897880" y="2487168"/>
            <a:ext cx="2423160" cy="64008"/>
          </a:xfrm>
          <a:prstGeom prst="rect">
            <a:avLst/>
          </a:prstGeom>
          <a:solidFill>
            <a:srgbClr val="F5B64B"/>
          </a:solidFill>
          <a:ln w="12700">
            <a:solidFill>
              <a:srgbClr val="333333">
                <a:alpha val="0"/>
              </a:srgbClr>
            </a:solidFill>
            <a:prstDash val="solid"/>
          </a:ln>
        </p:spPr>
      </p:sp>
      <p:sp>
        <p:nvSpPr>
          <p:cNvPr id="60" name="Text 56"/>
          <p:cNvSpPr/>
          <p:nvPr/>
        </p:nvSpPr>
        <p:spPr>
          <a:xfrm>
            <a:off x="6062472" y="2633472"/>
            <a:ext cx="2093976" cy="256032"/>
          </a:xfrm>
          <a:prstGeom prst="rect">
            <a:avLst/>
          </a:prstGeom>
          <a:noFill/>
          <a:ln/>
        </p:spPr>
        <p:txBody>
          <a:bodyPr wrap="square" lIns="0" tIns="0" rIns="0" bIns="0" rtlCol="0" anchor="ctr">
            <a:normAutofit/>
          </a:bodyPr>
          <a:lstStyle/>
          <a:p>
            <a:pPr indent="0" marL="0">
              <a:buNone/>
            </a:pPr>
            <a:r>
              <a:rPr lang="en-US" sz="1120" b="1" dirty="0">
                <a:solidFill>
                  <a:srgbClr val="FFFFFF"/>
                </a:solidFill>
              </a:rPr>
              <a:t>HostPilot</a:t>
            </a:r>
            <a:endParaRPr lang="en-US" sz="1120" dirty="0"/>
          </a:p>
        </p:txBody>
      </p:sp>
      <p:sp>
        <p:nvSpPr>
          <p:cNvPr id="61" name="Text 57"/>
          <p:cNvSpPr/>
          <p:nvPr/>
        </p:nvSpPr>
        <p:spPr>
          <a:xfrm>
            <a:off x="6062472" y="2971800"/>
            <a:ext cx="2093976" cy="2093976"/>
          </a:xfrm>
          <a:prstGeom prst="rect">
            <a:avLst/>
          </a:prstGeom>
          <a:noFill/>
          <a:ln/>
        </p:spPr>
        <p:txBody>
          <a:bodyPr wrap="square" lIns="0" tIns="0" rIns="0" bIns="0" rtlCol="0" anchor="t">
            <a:normAutofit/>
          </a:bodyPr>
          <a:lstStyle/>
          <a:p>
            <a:pPr indent="0" marL="0">
              <a:buNone/>
            </a:pPr>
            <a:r>
              <a:rPr lang="en-US" sz="880" dirty="0">
                <a:solidFill>
                  <a:srgbClr val="91A2B8"/>
                </a:solidFill>
              </a:rPr>
              <a:t>Customer-facing invoice, payment, portal, and account experience that Intermedia does not need to rip out on day one.</a:t>
            </a:r>
            <a:endParaRPr lang="en-US" sz="880" dirty="0"/>
          </a:p>
        </p:txBody>
      </p:sp>
      <p:sp>
        <p:nvSpPr>
          <p:cNvPr id="62" name="Shape 58"/>
          <p:cNvSpPr/>
          <p:nvPr/>
        </p:nvSpPr>
        <p:spPr>
          <a:xfrm>
            <a:off x="8549640" y="2487168"/>
            <a:ext cx="2423160" cy="2697480"/>
          </a:xfrm>
          <a:prstGeom prst="roundRect">
            <a:avLst>
              <a:gd name="adj" fmla="val 3019"/>
            </a:avLst>
          </a:prstGeom>
          <a:solidFill>
            <a:srgbClr val="101A2A"/>
          </a:solidFill>
          <a:ln w="12700">
            <a:solidFill>
              <a:srgbClr val="26374F"/>
            </a:solidFill>
            <a:prstDash val="solid"/>
          </a:ln>
        </p:spPr>
      </p:sp>
      <p:sp>
        <p:nvSpPr>
          <p:cNvPr id="63" name="Shape 59"/>
          <p:cNvSpPr/>
          <p:nvPr/>
        </p:nvSpPr>
        <p:spPr>
          <a:xfrm>
            <a:off x="8549640" y="2487168"/>
            <a:ext cx="2423160" cy="64008"/>
          </a:xfrm>
          <a:prstGeom prst="rect">
            <a:avLst/>
          </a:prstGeom>
          <a:solidFill>
            <a:srgbClr val="FF6B77"/>
          </a:solidFill>
          <a:ln w="12700">
            <a:solidFill>
              <a:srgbClr val="333333">
                <a:alpha val="0"/>
              </a:srgbClr>
            </a:solidFill>
            <a:prstDash val="solid"/>
          </a:ln>
        </p:spPr>
      </p:sp>
      <p:sp>
        <p:nvSpPr>
          <p:cNvPr id="64" name="Text 60"/>
          <p:cNvSpPr/>
          <p:nvPr/>
        </p:nvSpPr>
        <p:spPr>
          <a:xfrm>
            <a:off x="8714232" y="2633472"/>
            <a:ext cx="2093976" cy="256032"/>
          </a:xfrm>
          <a:prstGeom prst="rect">
            <a:avLst/>
          </a:prstGeom>
          <a:noFill/>
          <a:ln/>
        </p:spPr>
        <p:txBody>
          <a:bodyPr wrap="square" lIns="0" tIns="0" rIns="0" bIns="0" rtlCol="0" anchor="ctr">
            <a:normAutofit/>
          </a:bodyPr>
          <a:lstStyle/>
          <a:p>
            <a:pPr indent="0" marL="0">
              <a:buNone/>
            </a:pPr>
            <a:r>
              <a:rPr lang="en-US" sz="1120" b="1" dirty="0">
                <a:solidFill>
                  <a:srgbClr val="FFFFFF"/>
                </a:solidFill>
              </a:rPr>
              <a:t>Manual Sync</a:t>
            </a:r>
            <a:endParaRPr lang="en-US" sz="1120" dirty="0"/>
          </a:p>
        </p:txBody>
      </p:sp>
      <p:sp>
        <p:nvSpPr>
          <p:cNvPr id="65" name="Text 61"/>
          <p:cNvSpPr/>
          <p:nvPr/>
        </p:nvSpPr>
        <p:spPr>
          <a:xfrm>
            <a:off x="8714232" y="2971800"/>
            <a:ext cx="2093976" cy="2093976"/>
          </a:xfrm>
          <a:prstGeom prst="rect">
            <a:avLst/>
          </a:prstGeom>
          <a:noFill/>
          <a:ln/>
        </p:spPr>
        <p:txBody>
          <a:bodyPr wrap="square" lIns="0" tIns="0" rIns="0" bIns="0" rtlCol="0" anchor="t">
            <a:normAutofit/>
          </a:bodyPr>
          <a:lstStyle/>
          <a:p>
            <a:pPr indent="0" marL="0">
              <a:buNone/>
            </a:pPr>
            <a:r>
              <a:rPr lang="en-US" sz="880" dirty="0">
                <a:solidFill>
                  <a:srgbClr val="91A2B8"/>
                </a:solidFill>
              </a:rPr>
              <a:t>Billing teams and engineers reconcile across systems before customers see the result.</a:t>
            </a:r>
            <a:endParaRPr lang="en-US" sz="880" dirty="0"/>
          </a:p>
        </p:txBody>
      </p:sp>
      <p:sp>
        <p:nvSpPr>
          <p:cNvPr id="66" name="Shape 62"/>
          <p:cNvSpPr/>
          <p:nvPr/>
        </p:nvSpPr>
        <p:spPr>
          <a:xfrm>
            <a:off x="640080" y="5623560"/>
            <a:ext cx="2103120" cy="320040"/>
          </a:xfrm>
          <a:prstGeom prst="roundRect">
            <a:avLst>
              <a:gd name="adj" fmla="val 45714"/>
            </a:avLst>
          </a:prstGeom>
          <a:solidFill>
            <a:srgbClr val="2499B6">
              <a:alpha val="14000"/>
            </a:srgbClr>
          </a:solidFill>
          <a:ln w="12700">
            <a:solidFill>
              <a:srgbClr val="2499B6">
                <a:alpha val="70000"/>
              </a:srgbClr>
            </a:solidFill>
            <a:prstDash val="solid"/>
          </a:ln>
        </p:spPr>
      </p:sp>
      <p:sp>
        <p:nvSpPr>
          <p:cNvPr id="67" name="Text 63"/>
          <p:cNvSpPr/>
          <p:nvPr/>
        </p:nvSpPr>
        <p:spPr>
          <a:xfrm>
            <a:off x="749808" y="5705856"/>
            <a:ext cx="1883664" cy="109728"/>
          </a:xfrm>
          <a:prstGeom prst="rect">
            <a:avLst/>
          </a:prstGeom>
          <a:noFill/>
          <a:ln/>
        </p:spPr>
        <p:txBody>
          <a:bodyPr wrap="square" rtlCol="0" anchor="ctr">
            <a:normAutofit/>
          </a:bodyPr>
          <a:lstStyle/>
          <a:p>
            <a:pPr algn="ctr" indent="0" marL="0">
              <a:buNone/>
            </a:pPr>
            <a:r>
              <a:rPr lang="en-US" sz="740" b="1" dirty="0">
                <a:solidFill>
                  <a:srgbClr val="FFFFFF"/>
                </a:solidFill>
              </a:rPr>
              <a:t>multi-tier channel billing</a:t>
            </a:r>
            <a:endParaRPr lang="en-US" sz="740" dirty="0"/>
          </a:p>
        </p:txBody>
      </p:sp>
      <p:sp>
        <p:nvSpPr>
          <p:cNvPr id="68" name="Shape 64"/>
          <p:cNvSpPr/>
          <p:nvPr/>
        </p:nvSpPr>
        <p:spPr>
          <a:xfrm>
            <a:off x="2880360" y="5623560"/>
            <a:ext cx="2103120" cy="320040"/>
          </a:xfrm>
          <a:prstGeom prst="roundRect">
            <a:avLst>
              <a:gd name="adj" fmla="val 45714"/>
            </a:avLst>
          </a:prstGeom>
          <a:solidFill>
            <a:srgbClr val="6EBE4F">
              <a:alpha val="14000"/>
            </a:srgbClr>
          </a:solidFill>
          <a:ln w="12700">
            <a:solidFill>
              <a:srgbClr val="6EBE4F">
                <a:alpha val="70000"/>
              </a:srgbClr>
            </a:solidFill>
            <a:prstDash val="solid"/>
          </a:ln>
        </p:spPr>
      </p:sp>
      <p:sp>
        <p:nvSpPr>
          <p:cNvPr id="69" name="Text 65"/>
          <p:cNvSpPr/>
          <p:nvPr/>
        </p:nvSpPr>
        <p:spPr>
          <a:xfrm>
            <a:off x="2990088" y="5705856"/>
            <a:ext cx="1883664" cy="109728"/>
          </a:xfrm>
          <a:prstGeom prst="rect">
            <a:avLst/>
          </a:prstGeom>
          <a:noFill/>
          <a:ln/>
        </p:spPr>
        <p:txBody>
          <a:bodyPr wrap="square" rtlCol="0" anchor="ctr">
            <a:normAutofit/>
          </a:bodyPr>
          <a:lstStyle/>
          <a:p>
            <a:pPr algn="ctr" indent="0" marL="0">
              <a:buNone/>
            </a:pPr>
            <a:r>
              <a:rPr lang="en-US" sz="740" b="1" dirty="0">
                <a:solidFill>
                  <a:srgbClr val="FFFFFF"/>
                </a:solidFill>
              </a:rPr>
              <a:t>PSTN CDR rating</a:t>
            </a:r>
            <a:endParaRPr lang="en-US" sz="740" dirty="0"/>
          </a:p>
        </p:txBody>
      </p:sp>
      <p:sp>
        <p:nvSpPr>
          <p:cNvPr id="70" name="Shape 66"/>
          <p:cNvSpPr/>
          <p:nvPr/>
        </p:nvSpPr>
        <p:spPr>
          <a:xfrm>
            <a:off x="5120640" y="5623560"/>
            <a:ext cx="2103120" cy="320040"/>
          </a:xfrm>
          <a:prstGeom prst="roundRect">
            <a:avLst>
              <a:gd name="adj" fmla="val 45714"/>
            </a:avLst>
          </a:prstGeom>
          <a:solidFill>
            <a:srgbClr val="1667CC">
              <a:alpha val="14000"/>
            </a:srgbClr>
          </a:solidFill>
          <a:ln w="12700">
            <a:solidFill>
              <a:srgbClr val="1667CC">
                <a:alpha val="70000"/>
              </a:srgbClr>
            </a:solidFill>
            <a:prstDash val="solid"/>
          </a:ln>
        </p:spPr>
      </p:sp>
      <p:sp>
        <p:nvSpPr>
          <p:cNvPr id="71" name="Text 67"/>
          <p:cNvSpPr/>
          <p:nvPr/>
        </p:nvSpPr>
        <p:spPr>
          <a:xfrm>
            <a:off x="5230368" y="5705856"/>
            <a:ext cx="1883664" cy="109728"/>
          </a:xfrm>
          <a:prstGeom prst="rect">
            <a:avLst/>
          </a:prstGeom>
          <a:noFill/>
          <a:ln/>
        </p:spPr>
        <p:txBody>
          <a:bodyPr wrap="square" rtlCol="0" anchor="ctr">
            <a:normAutofit/>
          </a:bodyPr>
          <a:lstStyle/>
          <a:p>
            <a:pPr algn="ctr" indent="0" marL="0">
              <a:buNone/>
            </a:pPr>
            <a:r>
              <a:rPr lang="en-US" sz="740" b="1" dirty="0">
                <a:solidFill>
                  <a:srgbClr val="FFFFFF"/>
                </a:solidFill>
              </a:rPr>
              <a:t>allowances + overages</a:t>
            </a:r>
            <a:endParaRPr lang="en-US" sz="740" dirty="0"/>
          </a:p>
        </p:txBody>
      </p:sp>
      <p:sp>
        <p:nvSpPr>
          <p:cNvPr id="72" name="Shape 68"/>
          <p:cNvSpPr/>
          <p:nvPr/>
        </p:nvSpPr>
        <p:spPr>
          <a:xfrm>
            <a:off x="7360920" y="5623560"/>
            <a:ext cx="2103120" cy="320040"/>
          </a:xfrm>
          <a:prstGeom prst="roundRect">
            <a:avLst>
              <a:gd name="adj" fmla="val 45714"/>
            </a:avLst>
          </a:prstGeom>
          <a:solidFill>
            <a:srgbClr val="F5B64B">
              <a:alpha val="14000"/>
            </a:srgbClr>
          </a:solidFill>
          <a:ln w="12700">
            <a:solidFill>
              <a:srgbClr val="F5B64B">
                <a:alpha val="70000"/>
              </a:srgbClr>
            </a:solidFill>
            <a:prstDash val="solid"/>
          </a:ln>
        </p:spPr>
      </p:sp>
      <p:sp>
        <p:nvSpPr>
          <p:cNvPr id="73" name="Text 69"/>
          <p:cNvSpPr/>
          <p:nvPr/>
        </p:nvSpPr>
        <p:spPr>
          <a:xfrm>
            <a:off x="7470648" y="5705856"/>
            <a:ext cx="1883664" cy="109728"/>
          </a:xfrm>
          <a:prstGeom prst="rect">
            <a:avLst/>
          </a:prstGeom>
          <a:noFill/>
          <a:ln/>
        </p:spPr>
        <p:txBody>
          <a:bodyPr wrap="square" rtlCol="0" anchor="ctr">
            <a:normAutofit/>
          </a:bodyPr>
          <a:lstStyle/>
          <a:p>
            <a:pPr algn="ctr" indent="0" marL="0">
              <a:buNone/>
            </a:pPr>
            <a:r>
              <a:rPr lang="en-US" sz="740" b="1" dirty="0">
                <a:solidFill>
                  <a:srgbClr val="FFFFFF"/>
                </a:solidFill>
              </a:rPr>
              <a:t>tax-ready outputs</a:t>
            </a:r>
            <a:endParaRPr lang="en-US" sz="740" dirty="0"/>
          </a:p>
        </p:txBody>
      </p:sp>
      <p:sp>
        <p:nvSpPr>
          <p:cNvPr id="74" name="Shape 70"/>
          <p:cNvSpPr/>
          <p:nvPr/>
        </p:nvSpPr>
        <p:spPr>
          <a:xfrm>
            <a:off x="9601200" y="5623560"/>
            <a:ext cx="2103120" cy="320040"/>
          </a:xfrm>
          <a:prstGeom prst="roundRect">
            <a:avLst>
              <a:gd name="adj" fmla="val 45714"/>
            </a:avLst>
          </a:prstGeom>
          <a:solidFill>
            <a:srgbClr val="FC6120">
              <a:alpha val="14000"/>
            </a:srgbClr>
          </a:solidFill>
          <a:ln w="12700">
            <a:solidFill>
              <a:srgbClr val="FC6120">
                <a:alpha val="70000"/>
              </a:srgbClr>
            </a:solidFill>
            <a:prstDash val="solid"/>
          </a:ln>
        </p:spPr>
      </p:sp>
      <p:sp>
        <p:nvSpPr>
          <p:cNvPr id="75" name="Text 71"/>
          <p:cNvSpPr/>
          <p:nvPr/>
        </p:nvSpPr>
        <p:spPr>
          <a:xfrm>
            <a:off x="9710928" y="5705856"/>
            <a:ext cx="1883664" cy="109728"/>
          </a:xfrm>
          <a:prstGeom prst="rect">
            <a:avLst/>
          </a:prstGeom>
          <a:noFill/>
          <a:ln/>
        </p:spPr>
        <p:txBody>
          <a:bodyPr wrap="square" rtlCol="0" anchor="ctr">
            <a:normAutofit/>
          </a:bodyPr>
          <a:lstStyle/>
          <a:p>
            <a:pPr algn="ctr" indent="0" marL="0">
              <a:buNone/>
            </a:pPr>
            <a:r>
              <a:rPr lang="en-US" sz="740" b="1" dirty="0">
                <a:solidFill>
                  <a:srgbClr val="FFFFFF"/>
                </a:solidFill>
              </a:rPr>
              <a:t>AI reporting gap</a:t>
            </a:r>
            <a:endParaRPr lang="en-US" sz="740" dirty="0"/>
          </a:p>
        </p:txBody>
      </p:sp>
      <p:sp>
        <p:nvSpPr>
          <p:cNvPr id="76" name="Text 72"/>
          <p:cNvSpPr/>
          <p:nvPr/>
        </p:nvSpPr>
        <p:spPr>
          <a:xfrm>
            <a:off x="530352" y="6473952"/>
            <a:ext cx="6583680" cy="164592"/>
          </a:xfrm>
          <a:prstGeom prst="rect">
            <a:avLst/>
          </a:prstGeom>
          <a:noFill/>
          <a:ln/>
        </p:spPr>
        <p:txBody>
          <a:bodyPr wrap="square" rtlCol="0" anchor="ctr"/>
          <a:lstStyle/>
          <a:p>
            <a:pPr indent="0" marL="0">
              <a:buNone/>
            </a:pPr>
            <a:r>
              <a:rPr lang="en-US" sz="750" dirty="0">
                <a:solidFill>
                  <a:srgbClr val="6E7F96"/>
                </a:solidFill>
              </a:rPr>
              <a:t>Rev.io x Intermedia | Revii AI billing modernization | Confidential</a:t>
            </a:r>
            <a:endParaRPr lang="en-US" sz="750" dirty="0"/>
          </a:p>
        </p:txBody>
      </p:sp>
      <p:sp>
        <p:nvSpPr>
          <p:cNvPr id="77" name="Text 73"/>
          <p:cNvSpPr/>
          <p:nvPr/>
        </p:nvSpPr>
        <p:spPr>
          <a:xfrm>
            <a:off x="10652760" y="6473952"/>
            <a:ext cx="1005840" cy="164592"/>
          </a:xfrm>
          <a:prstGeom prst="rect">
            <a:avLst/>
          </a:prstGeom>
          <a:noFill/>
          <a:ln/>
        </p:spPr>
        <p:txBody>
          <a:bodyPr wrap="square" rtlCol="0" anchor="ctr"/>
          <a:lstStyle/>
          <a:p>
            <a:pPr algn="r" indent="0" marL="0">
              <a:buNone/>
            </a:pPr>
            <a:r>
              <a:rPr lang="en-US" sz="750" dirty="0">
                <a:solidFill>
                  <a:srgbClr val="6E7F96"/>
                </a:solidFill>
              </a:rPr>
              <a:t>June 2026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9FC"/>
          </a:solidFill>
          <a:ln w="12700">
            <a:solidFill>
              <a:srgbClr val="333333">
                <a:alpha val="0"/>
              </a:srgbClr>
            </a:solidFill>
            <a:prstDash val="solid"/>
          </a:ln>
        </p:spPr>
      </p:sp>
      <p:pic>
        <p:nvPicPr>
          <p:cNvPr id="3" name="Image 0" descr="/home/openclaw/.openclaw/workspace/revio-logo.png">    </p:cNvPr>
          <p:cNvPicPr>
            <a:picLocks noChangeAspect="1"/>
          </p:cNvPicPr>
          <p:nvPr/>
        </p:nvPicPr>
        <p:blipFill>
          <a:blip r:embed="rId1"/>
          <a:stretch>
            <a:fillRect/>
          </a:stretch>
        </p:blipFill>
        <p:spPr>
          <a:xfrm>
            <a:off x="530352" y="320040"/>
            <a:ext cx="1307592" cy="320040"/>
          </a:xfrm>
          <a:prstGeom prst="rect">
            <a:avLst/>
          </a:prstGeom>
        </p:spPr>
      </p:pic>
      <p:sp>
        <p:nvSpPr>
          <p:cNvPr id="4" name="Shape 1"/>
          <p:cNvSpPr/>
          <p:nvPr/>
        </p:nvSpPr>
        <p:spPr>
          <a:xfrm>
            <a:off x="2057400" y="301752"/>
            <a:ext cx="0" cy="393192"/>
          </a:xfrm>
          <a:prstGeom prst="line">
            <a:avLst/>
          </a:prstGeom>
          <a:noFill/>
          <a:ln w="12700">
            <a:solidFill>
              <a:srgbClr val="26374F">
                <a:alpha val="60000"/>
              </a:srgbClr>
            </a:solidFill>
            <a:prstDash val="solid"/>
          </a:ln>
        </p:spPr>
      </p:sp>
      <p:sp>
        <p:nvSpPr>
          <p:cNvPr id="5" name="Shape 2"/>
          <p:cNvSpPr/>
          <p:nvPr/>
        </p:nvSpPr>
        <p:spPr>
          <a:xfrm>
            <a:off x="2267712" y="265176"/>
            <a:ext cx="1444752" cy="438912"/>
          </a:xfrm>
          <a:prstGeom prst="roundRect">
            <a:avLst>
              <a:gd name="adj" fmla="val 12500"/>
            </a:avLst>
          </a:prstGeom>
          <a:solidFill>
            <a:srgbClr val="FFFFFF"/>
          </a:solidFill>
          <a:ln w="12700">
            <a:solidFill>
              <a:srgbClr val="333333">
                <a:alpha val="0"/>
              </a:srgbClr>
            </a:solidFill>
            <a:prstDash val="solid"/>
          </a:ln>
        </p:spPr>
      </p:sp>
      <p:pic>
        <p:nvPicPr>
          <p:cNvPr id="6" name="Image 1" descr="/home/openclaw/.openclaw/workspace/intermedia-logo.png">    </p:cNvPr>
          <p:cNvPicPr>
            <a:picLocks noChangeAspect="1"/>
          </p:cNvPicPr>
          <p:nvPr/>
        </p:nvPicPr>
        <p:blipFill>
          <a:blip r:embed="rId2"/>
          <a:stretch>
            <a:fillRect/>
          </a:stretch>
        </p:blipFill>
        <p:spPr>
          <a:xfrm>
            <a:off x="2395728" y="347472"/>
            <a:ext cx="1188720" cy="265176"/>
          </a:xfrm>
          <a:prstGeom prst="rect">
            <a:avLst/>
          </a:prstGeom>
        </p:spPr>
      </p:pic>
      <p:sp>
        <p:nvSpPr>
          <p:cNvPr id="7" name="Text 3"/>
          <p:cNvSpPr/>
          <p:nvPr/>
        </p:nvSpPr>
        <p:spPr>
          <a:xfrm>
            <a:off x="530352" y="786384"/>
            <a:ext cx="4023360" cy="201168"/>
          </a:xfrm>
          <a:prstGeom prst="rect">
            <a:avLst/>
          </a:prstGeom>
          <a:noFill/>
          <a:ln/>
        </p:spPr>
        <p:txBody>
          <a:bodyPr wrap="square" rtlCol="0" anchor="ctr"/>
          <a:lstStyle/>
          <a:p>
            <a:pPr indent="0" marL="0">
              <a:buNone/>
            </a:pPr>
            <a:r>
              <a:rPr lang="en-US" sz="850" b="1" dirty="0">
                <a:solidFill>
                  <a:srgbClr val="1667CC"/>
                </a:solidFill>
              </a:rPr>
              <a:t>THE BIG IDEA</a:t>
            </a:r>
            <a:endParaRPr lang="en-US" sz="850" dirty="0"/>
          </a:p>
        </p:txBody>
      </p:sp>
      <p:sp>
        <p:nvSpPr>
          <p:cNvPr id="8" name="Text 4"/>
          <p:cNvSpPr/>
          <p:nvPr/>
        </p:nvSpPr>
        <p:spPr>
          <a:xfrm>
            <a:off x="530352" y="1051560"/>
            <a:ext cx="6949440" cy="658368"/>
          </a:xfrm>
          <a:prstGeom prst="rect">
            <a:avLst/>
          </a:prstGeom>
          <a:noFill/>
          <a:ln/>
        </p:spPr>
        <p:txBody>
          <a:bodyPr wrap="square" lIns="0" tIns="0" rIns="0" bIns="0" rtlCol="0" anchor="ctr">
            <a:normAutofit/>
          </a:bodyPr>
          <a:lstStyle/>
          <a:p>
            <a:pPr indent="0" marL="0">
              <a:buNone/>
            </a:pPr>
            <a:r>
              <a:rPr lang="en-US" sz="2700" b="1" dirty="0">
                <a:solidFill>
                  <a:srgbClr val="1B2A3D"/>
                </a:solidFill>
              </a:rPr>
              <a:t>Modernize the engine before replacing the whole cockpit.</a:t>
            </a:r>
            <a:endParaRPr lang="en-US" sz="2700" dirty="0"/>
          </a:p>
        </p:txBody>
      </p:sp>
      <p:sp>
        <p:nvSpPr>
          <p:cNvPr id="9" name="Text 5"/>
          <p:cNvSpPr/>
          <p:nvPr/>
        </p:nvSpPr>
        <p:spPr>
          <a:xfrm>
            <a:off x="530352" y="1783080"/>
            <a:ext cx="7772400" cy="420624"/>
          </a:xfrm>
          <a:prstGeom prst="rect">
            <a:avLst/>
          </a:prstGeom>
          <a:noFill/>
          <a:ln/>
        </p:spPr>
        <p:txBody>
          <a:bodyPr wrap="square" lIns="0" tIns="0" rIns="0" bIns="0" rtlCol="0" anchor="ctr">
            <a:normAutofit/>
          </a:bodyPr>
          <a:lstStyle/>
          <a:p>
            <a:pPr indent="0" marL="0">
              <a:buNone/>
            </a:pPr>
            <a:r>
              <a:rPr lang="en-US" sz="1060" dirty="0">
                <a:solidFill>
                  <a:srgbClr val="65758A"/>
                </a:solidFill>
              </a:rPr>
              <a:t>Rev.io can become the billing engine underneath Intermedia's proprietary customer experience. Revii becomes the intelligence layer that makes the migration visible, explainable, and safer.</a:t>
            </a:r>
            <a:endParaRPr lang="en-US" sz="1060" dirty="0"/>
          </a:p>
        </p:txBody>
      </p:sp>
      <p:sp>
        <p:nvSpPr>
          <p:cNvPr id="10" name="Shape 6"/>
          <p:cNvSpPr/>
          <p:nvPr/>
        </p:nvSpPr>
        <p:spPr>
          <a:xfrm>
            <a:off x="731520" y="2606040"/>
            <a:ext cx="2788920" cy="2103120"/>
          </a:xfrm>
          <a:prstGeom prst="roundRect">
            <a:avLst>
              <a:gd name="adj" fmla="val 3478"/>
            </a:avLst>
          </a:prstGeom>
          <a:solidFill>
            <a:srgbClr val="FFFFFF"/>
          </a:solidFill>
          <a:ln w="12700">
            <a:solidFill>
              <a:srgbClr val="D8E0EA"/>
            </a:solidFill>
            <a:prstDash val="solid"/>
          </a:ln>
        </p:spPr>
      </p:sp>
      <p:sp>
        <p:nvSpPr>
          <p:cNvPr id="11" name="Shape 7"/>
          <p:cNvSpPr/>
          <p:nvPr/>
        </p:nvSpPr>
        <p:spPr>
          <a:xfrm>
            <a:off x="731520" y="2606040"/>
            <a:ext cx="2788920" cy="64008"/>
          </a:xfrm>
          <a:prstGeom prst="rect">
            <a:avLst/>
          </a:prstGeom>
          <a:solidFill>
            <a:srgbClr val="F5B64B"/>
          </a:solidFill>
          <a:ln w="12700">
            <a:solidFill>
              <a:srgbClr val="333333">
                <a:alpha val="0"/>
              </a:srgbClr>
            </a:solidFill>
            <a:prstDash val="solid"/>
          </a:ln>
        </p:spPr>
      </p:sp>
      <p:sp>
        <p:nvSpPr>
          <p:cNvPr id="12" name="Text 8"/>
          <p:cNvSpPr/>
          <p:nvPr/>
        </p:nvSpPr>
        <p:spPr>
          <a:xfrm>
            <a:off x="896112" y="2752344"/>
            <a:ext cx="2459736" cy="256032"/>
          </a:xfrm>
          <a:prstGeom prst="rect">
            <a:avLst/>
          </a:prstGeom>
          <a:noFill/>
          <a:ln/>
        </p:spPr>
        <p:txBody>
          <a:bodyPr wrap="square" lIns="0" tIns="0" rIns="0" bIns="0" rtlCol="0" anchor="ctr">
            <a:normAutofit/>
          </a:bodyPr>
          <a:lstStyle/>
          <a:p>
            <a:pPr indent="0" marL="0">
              <a:buNone/>
            </a:pPr>
            <a:r>
              <a:rPr lang="en-US" sz="1120" b="1" dirty="0">
                <a:solidFill>
                  <a:srgbClr val="1B2A3D"/>
                </a:solidFill>
              </a:rPr>
              <a:t>1. Keep HostPilot customer-facing</a:t>
            </a:r>
            <a:endParaRPr lang="en-US" sz="1120" dirty="0"/>
          </a:p>
        </p:txBody>
      </p:sp>
      <p:sp>
        <p:nvSpPr>
          <p:cNvPr id="13" name="Text 9"/>
          <p:cNvSpPr/>
          <p:nvPr/>
        </p:nvSpPr>
        <p:spPr>
          <a:xfrm>
            <a:off x="896112" y="3090672"/>
            <a:ext cx="2459736" cy="1499616"/>
          </a:xfrm>
          <a:prstGeom prst="rect">
            <a:avLst/>
          </a:prstGeom>
          <a:noFill/>
          <a:ln/>
        </p:spPr>
        <p:txBody>
          <a:bodyPr wrap="square" lIns="0" tIns="0" rIns="0" bIns="0" rtlCol="0" anchor="t">
            <a:normAutofit/>
          </a:bodyPr>
          <a:lstStyle/>
          <a:p>
            <a:pPr indent="0" marL="0">
              <a:buNone/>
            </a:pPr>
            <a:r>
              <a:rPr lang="en-US" sz="880" dirty="0">
                <a:solidFill>
                  <a:srgbClr val="65758A"/>
                </a:solidFill>
              </a:rPr>
              <a:t>Avoid a high-risk customer experience change. HostPilot can continue presenting invoices, payments, and portal workflows while the billing engine modernizes underneath.</a:t>
            </a:r>
            <a:endParaRPr lang="en-US" sz="880" dirty="0"/>
          </a:p>
        </p:txBody>
      </p:sp>
      <p:sp>
        <p:nvSpPr>
          <p:cNvPr id="14" name="Shape 10"/>
          <p:cNvSpPr/>
          <p:nvPr/>
        </p:nvSpPr>
        <p:spPr>
          <a:xfrm>
            <a:off x="4663440" y="2606040"/>
            <a:ext cx="2788920" cy="2103120"/>
          </a:xfrm>
          <a:prstGeom prst="roundRect">
            <a:avLst>
              <a:gd name="adj" fmla="val 3478"/>
            </a:avLst>
          </a:prstGeom>
          <a:solidFill>
            <a:srgbClr val="FFFFFF"/>
          </a:solidFill>
          <a:ln w="12700">
            <a:solidFill>
              <a:srgbClr val="D8E0EA"/>
            </a:solidFill>
            <a:prstDash val="solid"/>
          </a:ln>
        </p:spPr>
      </p:sp>
      <p:sp>
        <p:nvSpPr>
          <p:cNvPr id="15" name="Shape 11"/>
          <p:cNvSpPr/>
          <p:nvPr/>
        </p:nvSpPr>
        <p:spPr>
          <a:xfrm>
            <a:off x="4663440" y="2606040"/>
            <a:ext cx="2788920" cy="64008"/>
          </a:xfrm>
          <a:prstGeom prst="rect">
            <a:avLst/>
          </a:prstGeom>
          <a:solidFill>
            <a:srgbClr val="1667CC"/>
          </a:solidFill>
          <a:ln w="12700">
            <a:solidFill>
              <a:srgbClr val="333333">
                <a:alpha val="0"/>
              </a:srgbClr>
            </a:solidFill>
            <a:prstDash val="solid"/>
          </a:ln>
        </p:spPr>
      </p:sp>
      <p:sp>
        <p:nvSpPr>
          <p:cNvPr id="16" name="Text 12"/>
          <p:cNvSpPr/>
          <p:nvPr/>
        </p:nvSpPr>
        <p:spPr>
          <a:xfrm>
            <a:off x="4828032" y="2752344"/>
            <a:ext cx="2459736" cy="256032"/>
          </a:xfrm>
          <a:prstGeom prst="rect">
            <a:avLst/>
          </a:prstGeom>
          <a:noFill/>
          <a:ln/>
        </p:spPr>
        <p:txBody>
          <a:bodyPr wrap="square" lIns="0" tIns="0" rIns="0" bIns="0" rtlCol="0" anchor="ctr">
            <a:normAutofit/>
          </a:bodyPr>
          <a:lstStyle/>
          <a:p>
            <a:pPr indent="0" marL="0">
              <a:buNone/>
            </a:pPr>
            <a:r>
              <a:rPr lang="en-US" sz="1120" b="1" dirty="0">
                <a:solidFill>
                  <a:srgbClr val="1B2A3D"/>
                </a:solidFill>
              </a:rPr>
              <a:t>2. Move charge generation to Rev.io</a:t>
            </a:r>
            <a:endParaRPr lang="en-US" sz="1120" dirty="0"/>
          </a:p>
        </p:txBody>
      </p:sp>
      <p:sp>
        <p:nvSpPr>
          <p:cNvPr id="17" name="Text 13"/>
          <p:cNvSpPr/>
          <p:nvPr/>
        </p:nvSpPr>
        <p:spPr>
          <a:xfrm>
            <a:off x="4828032" y="3090672"/>
            <a:ext cx="2459736" cy="1499616"/>
          </a:xfrm>
          <a:prstGeom prst="rect">
            <a:avLst/>
          </a:prstGeom>
          <a:noFill/>
          <a:ln/>
        </p:spPr>
        <p:txBody>
          <a:bodyPr wrap="square" lIns="0" tIns="0" rIns="0" bIns="0" rtlCol="0" anchor="t">
            <a:normAutofit/>
          </a:bodyPr>
          <a:lstStyle/>
          <a:p>
            <a:pPr indent="0" marL="0">
              <a:buNone/>
            </a:pPr>
            <a:r>
              <a:rPr lang="en-US" sz="880" dirty="0">
                <a:solidFill>
                  <a:srgbClr val="65758A"/>
                </a:solidFill>
              </a:rPr>
              <a:t>Rev.io becomes the source for recurring charges, usage rating, CDR processing, billing events, tax-ready charge data, and invoice XML.</a:t>
            </a:r>
            <a:endParaRPr lang="en-US" sz="880" dirty="0"/>
          </a:p>
        </p:txBody>
      </p:sp>
      <p:sp>
        <p:nvSpPr>
          <p:cNvPr id="18" name="Shape 14"/>
          <p:cNvSpPr/>
          <p:nvPr/>
        </p:nvSpPr>
        <p:spPr>
          <a:xfrm>
            <a:off x="8595360" y="2606040"/>
            <a:ext cx="2788920" cy="2103120"/>
          </a:xfrm>
          <a:prstGeom prst="roundRect">
            <a:avLst>
              <a:gd name="adj" fmla="val 3478"/>
            </a:avLst>
          </a:prstGeom>
          <a:solidFill>
            <a:srgbClr val="FFFFFF"/>
          </a:solidFill>
          <a:ln w="12700">
            <a:solidFill>
              <a:srgbClr val="D8E0EA"/>
            </a:solidFill>
            <a:prstDash val="solid"/>
          </a:ln>
        </p:spPr>
      </p:sp>
      <p:sp>
        <p:nvSpPr>
          <p:cNvPr id="19" name="Shape 15"/>
          <p:cNvSpPr/>
          <p:nvPr/>
        </p:nvSpPr>
        <p:spPr>
          <a:xfrm>
            <a:off x="8595360" y="2606040"/>
            <a:ext cx="2788920" cy="64008"/>
          </a:xfrm>
          <a:prstGeom prst="rect">
            <a:avLst/>
          </a:prstGeom>
          <a:solidFill>
            <a:srgbClr val="6EBE4F"/>
          </a:solidFill>
          <a:ln w="12700">
            <a:solidFill>
              <a:srgbClr val="333333">
                <a:alpha val="0"/>
              </a:srgbClr>
            </a:solidFill>
            <a:prstDash val="solid"/>
          </a:ln>
        </p:spPr>
      </p:sp>
      <p:sp>
        <p:nvSpPr>
          <p:cNvPr id="20" name="Text 16"/>
          <p:cNvSpPr/>
          <p:nvPr/>
        </p:nvSpPr>
        <p:spPr>
          <a:xfrm>
            <a:off x="8759952" y="2752344"/>
            <a:ext cx="2459736" cy="256032"/>
          </a:xfrm>
          <a:prstGeom prst="rect">
            <a:avLst/>
          </a:prstGeom>
          <a:noFill/>
          <a:ln/>
        </p:spPr>
        <p:txBody>
          <a:bodyPr wrap="square" lIns="0" tIns="0" rIns="0" bIns="0" rtlCol="0" anchor="ctr">
            <a:normAutofit/>
          </a:bodyPr>
          <a:lstStyle/>
          <a:p>
            <a:pPr indent="0" marL="0">
              <a:buNone/>
            </a:pPr>
            <a:r>
              <a:rPr lang="en-US" sz="1120" b="1" dirty="0">
                <a:solidFill>
                  <a:srgbClr val="1B2A3D"/>
                </a:solidFill>
              </a:rPr>
              <a:t>3. Let Revii explain the data</a:t>
            </a:r>
            <a:endParaRPr lang="en-US" sz="1120" dirty="0"/>
          </a:p>
        </p:txBody>
      </p:sp>
      <p:sp>
        <p:nvSpPr>
          <p:cNvPr id="21" name="Text 17"/>
          <p:cNvSpPr/>
          <p:nvPr/>
        </p:nvSpPr>
        <p:spPr>
          <a:xfrm>
            <a:off x="8759952" y="3090672"/>
            <a:ext cx="2459736" cy="1499616"/>
          </a:xfrm>
          <a:prstGeom prst="rect">
            <a:avLst/>
          </a:prstGeom>
          <a:noFill/>
          <a:ln/>
        </p:spPr>
        <p:txBody>
          <a:bodyPr wrap="square" lIns="0" tIns="0" rIns="0" bIns="0" rtlCol="0" anchor="t">
            <a:normAutofit/>
          </a:bodyPr>
          <a:lstStyle/>
          <a:p>
            <a:pPr indent="0" marL="0">
              <a:buNone/>
            </a:pPr>
            <a:r>
              <a:rPr lang="en-US" sz="880" dirty="0">
                <a:solidFill>
                  <a:srgbClr val="65758A"/>
                </a:solidFill>
              </a:rPr>
              <a:t>Revii helps billing, finance, engineering, and leadership ask questions of the billing data without waiting on custom reports or tribal knowledge.</a:t>
            </a:r>
            <a:endParaRPr lang="en-US" sz="880" dirty="0"/>
          </a:p>
        </p:txBody>
      </p:sp>
      <p:sp>
        <p:nvSpPr>
          <p:cNvPr id="22" name="Shape 18"/>
          <p:cNvSpPr/>
          <p:nvPr/>
        </p:nvSpPr>
        <p:spPr>
          <a:xfrm>
            <a:off x="3584448" y="3657600"/>
            <a:ext cx="896112" cy="0"/>
          </a:xfrm>
          <a:prstGeom prst="line">
            <a:avLst/>
          </a:prstGeom>
          <a:noFill/>
          <a:ln w="12700">
            <a:solidFill>
              <a:srgbClr val="1667CC"/>
            </a:solidFill>
            <a:prstDash val="solid"/>
            <a:headEnd type="none"/>
            <a:tailEnd type="triangle"/>
          </a:ln>
        </p:spPr>
      </p:sp>
      <p:sp>
        <p:nvSpPr>
          <p:cNvPr id="23" name="Shape 19"/>
          <p:cNvSpPr/>
          <p:nvPr/>
        </p:nvSpPr>
        <p:spPr>
          <a:xfrm>
            <a:off x="7516368" y="3657600"/>
            <a:ext cx="877824" cy="0"/>
          </a:xfrm>
          <a:prstGeom prst="line">
            <a:avLst/>
          </a:prstGeom>
          <a:noFill/>
          <a:ln w="12700">
            <a:solidFill>
              <a:srgbClr val="6EBE4F"/>
            </a:solidFill>
            <a:prstDash val="solid"/>
            <a:headEnd type="none"/>
            <a:tailEnd type="triangle"/>
          </a:ln>
        </p:spPr>
      </p:sp>
      <p:sp>
        <p:nvSpPr>
          <p:cNvPr id="24" name="Shape 20"/>
          <p:cNvSpPr/>
          <p:nvPr/>
        </p:nvSpPr>
        <p:spPr>
          <a:xfrm>
            <a:off x="1280160" y="5440680"/>
            <a:ext cx="9692640" cy="438912"/>
          </a:xfrm>
          <a:prstGeom prst="roundRect">
            <a:avLst>
              <a:gd name="adj" fmla="val 16667"/>
            </a:avLst>
          </a:prstGeom>
          <a:solidFill>
            <a:srgbClr val="07111F"/>
          </a:solidFill>
          <a:ln w="12700">
            <a:solidFill>
              <a:srgbClr val="333333">
                <a:alpha val="0"/>
              </a:srgbClr>
            </a:solidFill>
            <a:prstDash val="solid"/>
          </a:ln>
        </p:spPr>
      </p:sp>
      <p:sp>
        <p:nvSpPr>
          <p:cNvPr id="25" name="Text 21"/>
          <p:cNvSpPr/>
          <p:nvPr/>
        </p:nvSpPr>
        <p:spPr>
          <a:xfrm>
            <a:off x="1508760" y="5577840"/>
            <a:ext cx="9235440" cy="146304"/>
          </a:xfrm>
          <a:prstGeom prst="rect">
            <a:avLst/>
          </a:prstGeom>
          <a:noFill/>
          <a:ln/>
        </p:spPr>
        <p:txBody>
          <a:bodyPr wrap="square" lIns="0" tIns="0" rIns="0" bIns="0" rtlCol="0" anchor="ctr">
            <a:normAutofit/>
          </a:bodyPr>
          <a:lstStyle/>
          <a:p>
            <a:pPr algn="ctr" indent="0" marL="0">
              <a:buNone/>
            </a:pPr>
            <a:r>
              <a:rPr lang="en-US" sz="1220" b="1" dirty="0">
                <a:solidFill>
                  <a:srgbClr val="FFFFFF"/>
                </a:solidFill>
              </a:rPr>
              <a:t>Result: phased modernization without a scary big-bang billing migration.</a:t>
            </a:r>
            <a:endParaRPr lang="en-US" sz="1220" dirty="0"/>
          </a:p>
        </p:txBody>
      </p:sp>
      <p:sp>
        <p:nvSpPr>
          <p:cNvPr id="26" name="Text 22"/>
          <p:cNvSpPr/>
          <p:nvPr/>
        </p:nvSpPr>
        <p:spPr>
          <a:xfrm>
            <a:off x="530352" y="6473952"/>
            <a:ext cx="6583680" cy="164592"/>
          </a:xfrm>
          <a:prstGeom prst="rect">
            <a:avLst/>
          </a:prstGeom>
          <a:noFill/>
          <a:ln/>
        </p:spPr>
        <p:txBody>
          <a:bodyPr wrap="square" rtlCol="0" anchor="ctr"/>
          <a:lstStyle/>
          <a:p>
            <a:pPr indent="0" marL="0">
              <a:buNone/>
            </a:pPr>
            <a:r>
              <a:rPr lang="en-US" sz="750" dirty="0">
                <a:solidFill>
                  <a:srgbClr val="7A899C"/>
                </a:solidFill>
              </a:rPr>
              <a:t>Rev.io x Intermedia | Revii AI billing modernization | Confidential</a:t>
            </a:r>
            <a:endParaRPr lang="en-US" sz="750" dirty="0"/>
          </a:p>
        </p:txBody>
      </p:sp>
      <p:sp>
        <p:nvSpPr>
          <p:cNvPr id="27" name="Text 23"/>
          <p:cNvSpPr/>
          <p:nvPr/>
        </p:nvSpPr>
        <p:spPr>
          <a:xfrm>
            <a:off x="10652760" y="6473952"/>
            <a:ext cx="1005840" cy="164592"/>
          </a:xfrm>
          <a:prstGeom prst="rect">
            <a:avLst/>
          </a:prstGeom>
          <a:noFill/>
          <a:ln/>
        </p:spPr>
        <p:txBody>
          <a:bodyPr wrap="square" rtlCol="0" anchor="ctr"/>
          <a:lstStyle/>
          <a:p>
            <a:pPr algn="r" indent="0" marL="0">
              <a:buNone/>
            </a:pPr>
            <a:r>
              <a:rPr lang="en-US" sz="750" dirty="0">
                <a:solidFill>
                  <a:srgbClr val="7A899C"/>
                </a:solidFill>
              </a:rPr>
              <a:t>June 2026</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333333">
                <a:alpha val="0"/>
              </a:srgbClr>
            </a:solidFill>
            <a:prstDash val="solid"/>
          </a:ln>
        </p:spPr>
      </p:sp>
      <p:sp>
        <p:nvSpPr>
          <p:cNvPr id="3" name="Shape 1"/>
          <p:cNvSpPr/>
          <p:nvPr/>
        </p:nvSpPr>
        <p:spPr>
          <a:xfrm>
            <a:off x="0" y="0"/>
            <a:ext cx="0" cy="6858000"/>
          </a:xfrm>
          <a:prstGeom prst="line">
            <a:avLst/>
          </a:prstGeom>
          <a:noFill/>
          <a:ln w="12700">
            <a:solidFill>
              <a:srgbClr val="FFFFFF">
                <a:alpha val="4000"/>
              </a:srgbClr>
            </a:solidFill>
            <a:prstDash val="solid"/>
          </a:ln>
        </p:spPr>
      </p:sp>
      <p:sp>
        <p:nvSpPr>
          <p:cNvPr id="4" name="Shape 2"/>
          <p:cNvSpPr/>
          <p:nvPr/>
        </p:nvSpPr>
        <p:spPr>
          <a:xfrm>
            <a:off x="502920" y="0"/>
            <a:ext cx="0" cy="6858000"/>
          </a:xfrm>
          <a:prstGeom prst="line">
            <a:avLst/>
          </a:prstGeom>
          <a:noFill/>
          <a:ln w="12700">
            <a:solidFill>
              <a:srgbClr val="FFFFFF">
                <a:alpha val="4000"/>
              </a:srgbClr>
            </a:solidFill>
            <a:prstDash val="solid"/>
          </a:ln>
        </p:spPr>
      </p:sp>
      <p:sp>
        <p:nvSpPr>
          <p:cNvPr id="5" name="Shape 3"/>
          <p:cNvSpPr/>
          <p:nvPr/>
        </p:nvSpPr>
        <p:spPr>
          <a:xfrm>
            <a:off x="1005840" y="0"/>
            <a:ext cx="0" cy="6858000"/>
          </a:xfrm>
          <a:prstGeom prst="line">
            <a:avLst/>
          </a:prstGeom>
          <a:noFill/>
          <a:ln w="12700">
            <a:solidFill>
              <a:srgbClr val="FFFFFF">
                <a:alpha val="4000"/>
              </a:srgbClr>
            </a:solidFill>
            <a:prstDash val="solid"/>
          </a:ln>
        </p:spPr>
      </p:sp>
      <p:sp>
        <p:nvSpPr>
          <p:cNvPr id="6" name="Shape 4"/>
          <p:cNvSpPr/>
          <p:nvPr/>
        </p:nvSpPr>
        <p:spPr>
          <a:xfrm>
            <a:off x="1508760" y="0"/>
            <a:ext cx="0" cy="6858000"/>
          </a:xfrm>
          <a:prstGeom prst="line">
            <a:avLst/>
          </a:prstGeom>
          <a:noFill/>
          <a:ln w="12700">
            <a:solidFill>
              <a:srgbClr val="FFFFFF">
                <a:alpha val="4000"/>
              </a:srgbClr>
            </a:solidFill>
            <a:prstDash val="solid"/>
          </a:ln>
        </p:spPr>
      </p:sp>
      <p:sp>
        <p:nvSpPr>
          <p:cNvPr id="7" name="Shape 5"/>
          <p:cNvSpPr/>
          <p:nvPr/>
        </p:nvSpPr>
        <p:spPr>
          <a:xfrm>
            <a:off x="2011680" y="0"/>
            <a:ext cx="0" cy="6858000"/>
          </a:xfrm>
          <a:prstGeom prst="line">
            <a:avLst/>
          </a:prstGeom>
          <a:noFill/>
          <a:ln w="12700">
            <a:solidFill>
              <a:srgbClr val="FFFFFF">
                <a:alpha val="4000"/>
              </a:srgbClr>
            </a:solidFill>
            <a:prstDash val="solid"/>
          </a:ln>
        </p:spPr>
      </p:sp>
      <p:sp>
        <p:nvSpPr>
          <p:cNvPr id="8" name="Shape 6"/>
          <p:cNvSpPr/>
          <p:nvPr/>
        </p:nvSpPr>
        <p:spPr>
          <a:xfrm>
            <a:off x="2514600" y="0"/>
            <a:ext cx="0" cy="6858000"/>
          </a:xfrm>
          <a:prstGeom prst="line">
            <a:avLst/>
          </a:prstGeom>
          <a:noFill/>
          <a:ln w="12700">
            <a:solidFill>
              <a:srgbClr val="FFFFFF">
                <a:alpha val="4000"/>
              </a:srgbClr>
            </a:solidFill>
            <a:prstDash val="solid"/>
          </a:ln>
        </p:spPr>
      </p:sp>
      <p:sp>
        <p:nvSpPr>
          <p:cNvPr id="9" name="Shape 7"/>
          <p:cNvSpPr/>
          <p:nvPr/>
        </p:nvSpPr>
        <p:spPr>
          <a:xfrm>
            <a:off x="3017520" y="0"/>
            <a:ext cx="0" cy="6858000"/>
          </a:xfrm>
          <a:prstGeom prst="line">
            <a:avLst/>
          </a:prstGeom>
          <a:noFill/>
          <a:ln w="12700">
            <a:solidFill>
              <a:srgbClr val="FFFFFF">
                <a:alpha val="4000"/>
              </a:srgbClr>
            </a:solidFill>
            <a:prstDash val="solid"/>
          </a:ln>
        </p:spPr>
      </p:sp>
      <p:sp>
        <p:nvSpPr>
          <p:cNvPr id="10" name="Shape 8"/>
          <p:cNvSpPr/>
          <p:nvPr/>
        </p:nvSpPr>
        <p:spPr>
          <a:xfrm>
            <a:off x="3520440" y="0"/>
            <a:ext cx="0" cy="6858000"/>
          </a:xfrm>
          <a:prstGeom prst="line">
            <a:avLst/>
          </a:prstGeom>
          <a:noFill/>
          <a:ln w="12700">
            <a:solidFill>
              <a:srgbClr val="FFFFFF">
                <a:alpha val="4000"/>
              </a:srgbClr>
            </a:solidFill>
            <a:prstDash val="solid"/>
          </a:ln>
        </p:spPr>
      </p:sp>
      <p:sp>
        <p:nvSpPr>
          <p:cNvPr id="11" name="Shape 9"/>
          <p:cNvSpPr/>
          <p:nvPr/>
        </p:nvSpPr>
        <p:spPr>
          <a:xfrm>
            <a:off x="4023360" y="0"/>
            <a:ext cx="0" cy="6858000"/>
          </a:xfrm>
          <a:prstGeom prst="line">
            <a:avLst/>
          </a:prstGeom>
          <a:noFill/>
          <a:ln w="12700">
            <a:solidFill>
              <a:srgbClr val="FFFFFF">
                <a:alpha val="4000"/>
              </a:srgbClr>
            </a:solidFill>
            <a:prstDash val="solid"/>
          </a:ln>
        </p:spPr>
      </p:sp>
      <p:sp>
        <p:nvSpPr>
          <p:cNvPr id="12" name="Shape 10"/>
          <p:cNvSpPr/>
          <p:nvPr/>
        </p:nvSpPr>
        <p:spPr>
          <a:xfrm>
            <a:off x="4526280" y="0"/>
            <a:ext cx="0" cy="6858000"/>
          </a:xfrm>
          <a:prstGeom prst="line">
            <a:avLst/>
          </a:prstGeom>
          <a:noFill/>
          <a:ln w="12700">
            <a:solidFill>
              <a:srgbClr val="FFFFFF">
                <a:alpha val="4000"/>
              </a:srgbClr>
            </a:solidFill>
            <a:prstDash val="solid"/>
          </a:ln>
        </p:spPr>
      </p:sp>
      <p:sp>
        <p:nvSpPr>
          <p:cNvPr id="13" name="Shape 11"/>
          <p:cNvSpPr/>
          <p:nvPr/>
        </p:nvSpPr>
        <p:spPr>
          <a:xfrm>
            <a:off x="5029200" y="0"/>
            <a:ext cx="0" cy="6858000"/>
          </a:xfrm>
          <a:prstGeom prst="line">
            <a:avLst/>
          </a:prstGeom>
          <a:noFill/>
          <a:ln w="12700">
            <a:solidFill>
              <a:srgbClr val="FFFFFF">
                <a:alpha val="4000"/>
              </a:srgbClr>
            </a:solidFill>
            <a:prstDash val="solid"/>
          </a:ln>
        </p:spPr>
      </p:sp>
      <p:sp>
        <p:nvSpPr>
          <p:cNvPr id="14" name="Shape 12"/>
          <p:cNvSpPr/>
          <p:nvPr/>
        </p:nvSpPr>
        <p:spPr>
          <a:xfrm>
            <a:off x="5532120" y="0"/>
            <a:ext cx="0" cy="6858000"/>
          </a:xfrm>
          <a:prstGeom prst="line">
            <a:avLst/>
          </a:prstGeom>
          <a:noFill/>
          <a:ln w="12700">
            <a:solidFill>
              <a:srgbClr val="FFFFFF">
                <a:alpha val="4000"/>
              </a:srgbClr>
            </a:solidFill>
            <a:prstDash val="solid"/>
          </a:ln>
        </p:spPr>
      </p:sp>
      <p:sp>
        <p:nvSpPr>
          <p:cNvPr id="15" name="Shape 13"/>
          <p:cNvSpPr/>
          <p:nvPr/>
        </p:nvSpPr>
        <p:spPr>
          <a:xfrm>
            <a:off x="6035040" y="0"/>
            <a:ext cx="0" cy="6858000"/>
          </a:xfrm>
          <a:prstGeom prst="line">
            <a:avLst/>
          </a:prstGeom>
          <a:noFill/>
          <a:ln w="12700">
            <a:solidFill>
              <a:srgbClr val="FFFFFF">
                <a:alpha val="4000"/>
              </a:srgbClr>
            </a:solidFill>
            <a:prstDash val="solid"/>
          </a:ln>
        </p:spPr>
      </p:sp>
      <p:sp>
        <p:nvSpPr>
          <p:cNvPr id="16" name="Shape 14"/>
          <p:cNvSpPr/>
          <p:nvPr/>
        </p:nvSpPr>
        <p:spPr>
          <a:xfrm>
            <a:off x="6537960" y="0"/>
            <a:ext cx="0" cy="6858000"/>
          </a:xfrm>
          <a:prstGeom prst="line">
            <a:avLst/>
          </a:prstGeom>
          <a:noFill/>
          <a:ln w="12700">
            <a:solidFill>
              <a:srgbClr val="FFFFFF">
                <a:alpha val="4000"/>
              </a:srgbClr>
            </a:solidFill>
            <a:prstDash val="solid"/>
          </a:ln>
        </p:spPr>
      </p:sp>
      <p:sp>
        <p:nvSpPr>
          <p:cNvPr id="17" name="Shape 15"/>
          <p:cNvSpPr/>
          <p:nvPr/>
        </p:nvSpPr>
        <p:spPr>
          <a:xfrm>
            <a:off x="7040880" y="0"/>
            <a:ext cx="0" cy="6858000"/>
          </a:xfrm>
          <a:prstGeom prst="line">
            <a:avLst/>
          </a:prstGeom>
          <a:noFill/>
          <a:ln w="12700">
            <a:solidFill>
              <a:srgbClr val="FFFFFF">
                <a:alpha val="4000"/>
              </a:srgbClr>
            </a:solidFill>
            <a:prstDash val="solid"/>
          </a:ln>
        </p:spPr>
      </p:sp>
      <p:sp>
        <p:nvSpPr>
          <p:cNvPr id="18" name="Shape 16"/>
          <p:cNvSpPr/>
          <p:nvPr/>
        </p:nvSpPr>
        <p:spPr>
          <a:xfrm>
            <a:off x="7543800" y="0"/>
            <a:ext cx="0" cy="6858000"/>
          </a:xfrm>
          <a:prstGeom prst="line">
            <a:avLst/>
          </a:prstGeom>
          <a:noFill/>
          <a:ln w="12700">
            <a:solidFill>
              <a:srgbClr val="FFFFFF">
                <a:alpha val="4000"/>
              </a:srgbClr>
            </a:solidFill>
            <a:prstDash val="solid"/>
          </a:ln>
        </p:spPr>
      </p:sp>
      <p:sp>
        <p:nvSpPr>
          <p:cNvPr id="19" name="Shape 17"/>
          <p:cNvSpPr/>
          <p:nvPr/>
        </p:nvSpPr>
        <p:spPr>
          <a:xfrm>
            <a:off x="8046720" y="0"/>
            <a:ext cx="0" cy="6858000"/>
          </a:xfrm>
          <a:prstGeom prst="line">
            <a:avLst/>
          </a:prstGeom>
          <a:noFill/>
          <a:ln w="12700">
            <a:solidFill>
              <a:srgbClr val="FFFFFF">
                <a:alpha val="4000"/>
              </a:srgbClr>
            </a:solidFill>
            <a:prstDash val="solid"/>
          </a:ln>
        </p:spPr>
      </p:sp>
      <p:sp>
        <p:nvSpPr>
          <p:cNvPr id="20" name="Shape 18"/>
          <p:cNvSpPr/>
          <p:nvPr/>
        </p:nvSpPr>
        <p:spPr>
          <a:xfrm>
            <a:off x="8549640" y="0"/>
            <a:ext cx="0" cy="6858000"/>
          </a:xfrm>
          <a:prstGeom prst="line">
            <a:avLst/>
          </a:prstGeom>
          <a:noFill/>
          <a:ln w="12700">
            <a:solidFill>
              <a:srgbClr val="FFFFFF">
                <a:alpha val="4000"/>
              </a:srgbClr>
            </a:solidFill>
            <a:prstDash val="solid"/>
          </a:ln>
        </p:spPr>
      </p:sp>
      <p:sp>
        <p:nvSpPr>
          <p:cNvPr id="21" name="Shape 19"/>
          <p:cNvSpPr/>
          <p:nvPr/>
        </p:nvSpPr>
        <p:spPr>
          <a:xfrm>
            <a:off x="9052560" y="0"/>
            <a:ext cx="0" cy="6858000"/>
          </a:xfrm>
          <a:prstGeom prst="line">
            <a:avLst/>
          </a:prstGeom>
          <a:noFill/>
          <a:ln w="12700">
            <a:solidFill>
              <a:srgbClr val="FFFFFF">
                <a:alpha val="4000"/>
              </a:srgbClr>
            </a:solidFill>
            <a:prstDash val="solid"/>
          </a:ln>
        </p:spPr>
      </p:sp>
      <p:sp>
        <p:nvSpPr>
          <p:cNvPr id="22" name="Shape 20"/>
          <p:cNvSpPr/>
          <p:nvPr/>
        </p:nvSpPr>
        <p:spPr>
          <a:xfrm>
            <a:off x="9555480" y="0"/>
            <a:ext cx="0" cy="6858000"/>
          </a:xfrm>
          <a:prstGeom prst="line">
            <a:avLst/>
          </a:prstGeom>
          <a:noFill/>
          <a:ln w="12700">
            <a:solidFill>
              <a:srgbClr val="FFFFFF">
                <a:alpha val="4000"/>
              </a:srgbClr>
            </a:solidFill>
            <a:prstDash val="solid"/>
          </a:ln>
        </p:spPr>
      </p:sp>
      <p:sp>
        <p:nvSpPr>
          <p:cNvPr id="23" name="Shape 21"/>
          <p:cNvSpPr/>
          <p:nvPr/>
        </p:nvSpPr>
        <p:spPr>
          <a:xfrm>
            <a:off x="10058400" y="0"/>
            <a:ext cx="0" cy="6858000"/>
          </a:xfrm>
          <a:prstGeom prst="line">
            <a:avLst/>
          </a:prstGeom>
          <a:noFill/>
          <a:ln w="12700">
            <a:solidFill>
              <a:srgbClr val="FFFFFF">
                <a:alpha val="4000"/>
              </a:srgbClr>
            </a:solidFill>
            <a:prstDash val="solid"/>
          </a:ln>
        </p:spPr>
      </p:sp>
      <p:sp>
        <p:nvSpPr>
          <p:cNvPr id="24" name="Shape 22"/>
          <p:cNvSpPr/>
          <p:nvPr/>
        </p:nvSpPr>
        <p:spPr>
          <a:xfrm>
            <a:off x="10561320" y="0"/>
            <a:ext cx="0" cy="6858000"/>
          </a:xfrm>
          <a:prstGeom prst="line">
            <a:avLst/>
          </a:prstGeom>
          <a:noFill/>
          <a:ln w="12700">
            <a:solidFill>
              <a:srgbClr val="FFFFFF">
                <a:alpha val="4000"/>
              </a:srgbClr>
            </a:solidFill>
            <a:prstDash val="solid"/>
          </a:ln>
        </p:spPr>
      </p:sp>
      <p:sp>
        <p:nvSpPr>
          <p:cNvPr id="25" name="Shape 23"/>
          <p:cNvSpPr/>
          <p:nvPr/>
        </p:nvSpPr>
        <p:spPr>
          <a:xfrm>
            <a:off x="11064240" y="0"/>
            <a:ext cx="0" cy="6858000"/>
          </a:xfrm>
          <a:prstGeom prst="line">
            <a:avLst/>
          </a:prstGeom>
          <a:noFill/>
          <a:ln w="12700">
            <a:solidFill>
              <a:srgbClr val="FFFFFF">
                <a:alpha val="4000"/>
              </a:srgbClr>
            </a:solidFill>
            <a:prstDash val="solid"/>
          </a:ln>
        </p:spPr>
      </p:sp>
      <p:sp>
        <p:nvSpPr>
          <p:cNvPr id="26" name="Shape 24"/>
          <p:cNvSpPr/>
          <p:nvPr/>
        </p:nvSpPr>
        <p:spPr>
          <a:xfrm>
            <a:off x="11567160" y="0"/>
            <a:ext cx="0" cy="6858000"/>
          </a:xfrm>
          <a:prstGeom prst="line">
            <a:avLst/>
          </a:prstGeom>
          <a:noFill/>
          <a:ln w="12700">
            <a:solidFill>
              <a:srgbClr val="FFFFFF">
                <a:alpha val="4000"/>
              </a:srgbClr>
            </a:solidFill>
            <a:prstDash val="solid"/>
          </a:ln>
        </p:spPr>
      </p:sp>
      <p:sp>
        <p:nvSpPr>
          <p:cNvPr id="27" name="Shape 25"/>
          <p:cNvSpPr/>
          <p:nvPr/>
        </p:nvSpPr>
        <p:spPr>
          <a:xfrm>
            <a:off x="12070080" y="0"/>
            <a:ext cx="0" cy="6858000"/>
          </a:xfrm>
          <a:prstGeom prst="line">
            <a:avLst/>
          </a:prstGeom>
          <a:noFill/>
          <a:ln w="12700">
            <a:solidFill>
              <a:srgbClr val="FFFFFF">
                <a:alpha val="4000"/>
              </a:srgbClr>
            </a:solidFill>
            <a:prstDash val="solid"/>
          </a:ln>
        </p:spPr>
      </p:sp>
      <p:sp>
        <p:nvSpPr>
          <p:cNvPr id="28" name="Shape 26"/>
          <p:cNvSpPr/>
          <p:nvPr/>
        </p:nvSpPr>
        <p:spPr>
          <a:xfrm>
            <a:off x="0" y="0"/>
            <a:ext cx="12191695" cy="0"/>
          </a:xfrm>
          <a:prstGeom prst="line">
            <a:avLst/>
          </a:prstGeom>
          <a:noFill/>
          <a:ln w="12700">
            <a:solidFill>
              <a:srgbClr val="FFFFFF">
                <a:alpha val="4000"/>
              </a:srgbClr>
            </a:solidFill>
            <a:prstDash val="solid"/>
          </a:ln>
        </p:spPr>
      </p:sp>
      <p:sp>
        <p:nvSpPr>
          <p:cNvPr id="29" name="Shape 27"/>
          <p:cNvSpPr/>
          <p:nvPr/>
        </p:nvSpPr>
        <p:spPr>
          <a:xfrm>
            <a:off x="0" y="502920"/>
            <a:ext cx="12191695" cy="0"/>
          </a:xfrm>
          <a:prstGeom prst="line">
            <a:avLst/>
          </a:prstGeom>
          <a:noFill/>
          <a:ln w="12700">
            <a:solidFill>
              <a:srgbClr val="FFFFFF">
                <a:alpha val="4000"/>
              </a:srgbClr>
            </a:solidFill>
            <a:prstDash val="solid"/>
          </a:ln>
        </p:spPr>
      </p:sp>
      <p:sp>
        <p:nvSpPr>
          <p:cNvPr id="30" name="Shape 28"/>
          <p:cNvSpPr/>
          <p:nvPr/>
        </p:nvSpPr>
        <p:spPr>
          <a:xfrm>
            <a:off x="0" y="1005840"/>
            <a:ext cx="12191695" cy="0"/>
          </a:xfrm>
          <a:prstGeom prst="line">
            <a:avLst/>
          </a:prstGeom>
          <a:noFill/>
          <a:ln w="12700">
            <a:solidFill>
              <a:srgbClr val="FFFFFF">
                <a:alpha val="4000"/>
              </a:srgbClr>
            </a:solidFill>
            <a:prstDash val="solid"/>
          </a:ln>
        </p:spPr>
      </p:sp>
      <p:sp>
        <p:nvSpPr>
          <p:cNvPr id="31" name="Shape 29"/>
          <p:cNvSpPr/>
          <p:nvPr/>
        </p:nvSpPr>
        <p:spPr>
          <a:xfrm>
            <a:off x="0" y="1508760"/>
            <a:ext cx="12191695" cy="0"/>
          </a:xfrm>
          <a:prstGeom prst="line">
            <a:avLst/>
          </a:prstGeom>
          <a:noFill/>
          <a:ln w="12700">
            <a:solidFill>
              <a:srgbClr val="FFFFFF">
                <a:alpha val="4000"/>
              </a:srgbClr>
            </a:solidFill>
            <a:prstDash val="solid"/>
          </a:ln>
        </p:spPr>
      </p:sp>
      <p:sp>
        <p:nvSpPr>
          <p:cNvPr id="32" name="Shape 30"/>
          <p:cNvSpPr/>
          <p:nvPr/>
        </p:nvSpPr>
        <p:spPr>
          <a:xfrm>
            <a:off x="0" y="2011680"/>
            <a:ext cx="12191695" cy="0"/>
          </a:xfrm>
          <a:prstGeom prst="line">
            <a:avLst/>
          </a:prstGeom>
          <a:noFill/>
          <a:ln w="12700">
            <a:solidFill>
              <a:srgbClr val="FFFFFF">
                <a:alpha val="4000"/>
              </a:srgbClr>
            </a:solidFill>
            <a:prstDash val="solid"/>
          </a:ln>
        </p:spPr>
      </p:sp>
      <p:sp>
        <p:nvSpPr>
          <p:cNvPr id="33" name="Shape 31"/>
          <p:cNvSpPr/>
          <p:nvPr/>
        </p:nvSpPr>
        <p:spPr>
          <a:xfrm>
            <a:off x="0" y="2514600"/>
            <a:ext cx="12191695" cy="0"/>
          </a:xfrm>
          <a:prstGeom prst="line">
            <a:avLst/>
          </a:prstGeom>
          <a:noFill/>
          <a:ln w="12700">
            <a:solidFill>
              <a:srgbClr val="FFFFFF">
                <a:alpha val="4000"/>
              </a:srgbClr>
            </a:solidFill>
            <a:prstDash val="solid"/>
          </a:ln>
        </p:spPr>
      </p:sp>
      <p:sp>
        <p:nvSpPr>
          <p:cNvPr id="34" name="Shape 32"/>
          <p:cNvSpPr/>
          <p:nvPr/>
        </p:nvSpPr>
        <p:spPr>
          <a:xfrm>
            <a:off x="0" y="3017520"/>
            <a:ext cx="12191695" cy="0"/>
          </a:xfrm>
          <a:prstGeom prst="line">
            <a:avLst/>
          </a:prstGeom>
          <a:noFill/>
          <a:ln w="12700">
            <a:solidFill>
              <a:srgbClr val="FFFFFF">
                <a:alpha val="4000"/>
              </a:srgbClr>
            </a:solidFill>
            <a:prstDash val="solid"/>
          </a:ln>
        </p:spPr>
      </p:sp>
      <p:sp>
        <p:nvSpPr>
          <p:cNvPr id="35" name="Shape 33"/>
          <p:cNvSpPr/>
          <p:nvPr/>
        </p:nvSpPr>
        <p:spPr>
          <a:xfrm>
            <a:off x="0" y="3520440"/>
            <a:ext cx="12191695" cy="0"/>
          </a:xfrm>
          <a:prstGeom prst="line">
            <a:avLst/>
          </a:prstGeom>
          <a:noFill/>
          <a:ln w="12700">
            <a:solidFill>
              <a:srgbClr val="FFFFFF">
                <a:alpha val="4000"/>
              </a:srgbClr>
            </a:solidFill>
            <a:prstDash val="solid"/>
          </a:ln>
        </p:spPr>
      </p:sp>
      <p:sp>
        <p:nvSpPr>
          <p:cNvPr id="36" name="Shape 34"/>
          <p:cNvSpPr/>
          <p:nvPr/>
        </p:nvSpPr>
        <p:spPr>
          <a:xfrm>
            <a:off x="0" y="4023360"/>
            <a:ext cx="12191695" cy="0"/>
          </a:xfrm>
          <a:prstGeom prst="line">
            <a:avLst/>
          </a:prstGeom>
          <a:noFill/>
          <a:ln w="12700">
            <a:solidFill>
              <a:srgbClr val="FFFFFF">
                <a:alpha val="4000"/>
              </a:srgbClr>
            </a:solidFill>
            <a:prstDash val="solid"/>
          </a:ln>
        </p:spPr>
      </p:sp>
      <p:sp>
        <p:nvSpPr>
          <p:cNvPr id="37" name="Shape 35"/>
          <p:cNvSpPr/>
          <p:nvPr/>
        </p:nvSpPr>
        <p:spPr>
          <a:xfrm>
            <a:off x="0" y="4526280"/>
            <a:ext cx="12191695" cy="0"/>
          </a:xfrm>
          <a:prstGeom prst="line">
            <a:avLst/>
          </a:prstGeom>
          <a:noFill/>
          <a:ln w="12700">
            <a:solidFill>
              <a:srgbClr val="FFFFFF">
                <a:alpha val="4000"/>
              </a:srgbClr>
            </a:solidFill>
            <a:prstDash val="solid"/>
          </a:ln>
        </p:spPr>
      </p:sp>
      <p:sp>
        <p:nvSpPr>
          <p:cNvPr id="38" name="Shape 36"/>
          <p:cNvSpPr/>
          <p:nvPr/>
        </p:nvSpPr>
        <p:spPr>
          <a:xfrm>
            <a:off x="0" y="5029200"/>
            <a:ext cx="12191695" cy="0"/>
          </a:xfrm>
          <a:prstGeom prst="line">
            <a:avLst/>
          </a:prstGeom>
          <a:noFill/>
          <a:ln w="12700">
            <a:solidFill>
              <a:srgbClr val="FFFFFF">
                <a:alpha val="4000"/>
              </a:srgbClr>
            </a:solidFill>
            <a:prstDash val="solid"/>
          </a:ln>
        </p:spPr>
      </p:sp>
      <p:sp>
        <p:nvSpPr>
          <p:cNvPr id="39" name="Shape 37"/>
          <p:cNvSpPr/>
          <p:nvPr/>
        </p:nvSpPr>
        <p:spPr>
          <a:xfrm>
            <a:off x="0" y="5532120"/>
            <a:ext cx="12191695" cy="0"/>
          </a:xfrm>
          <a:prstGeom prst="line">
            <a:avLst/>
          </a:prstGeom>
          <a:noFill/>
          <a:ln w="12700">
            <a:solidFill>
              <a:srgbClr val="FFFFFF">
                <a:alpha val="4000"/>
              </a:srgbClr>
            </a:solidFill>
            <a:prstDash val="solid"/>
          </a:ln>
        </p:spPr>
      </p:sp>
      <p:sp>
        <p:nvSpPr>
          <p:cNvPr id="40" name="Shape 38"/>
          <p:cNvSpPr/>
          <p:nvPr/>
        </p:nvSpPr>
        <p:spPr>
          <a:xfrm>
            <a:off x="0" y="6035040"/>
            <a:ext cx="12191695" cy="0"/>
          </a:xfrm>
          <a:prstGeom prst="line">
            <a:avLst/>
          </a:prstGeom>
          <a:noFill/>
          <a:ln w="12700">
            <a:solidFill>
              <a:srgbClr val="FFFFFF">
                <a:alpha val="4000"/>
              </a:srgbClr>
            </a:solidFill>
            <a:prstDash val="solid"/>
          </a:ln>
        </p:spPr>
      </p:sp>
      <p:sp>
        <p:nvSpPr>
          <p:cNvPr id="41" name="Shape 39"/>
          <p:cNvSpPr/>
          <p:nvPr/>
        </p:nvSpPr>
        <p:spPr>
          <a:xfrm>
            <a:off x="0" y="6537960"/>
            <a:ext cx="12191695" cy="0"/>
          </a:xfrm>
          <a:prstGeom prst="line">
            <a:avLst/>
          </a:prstGeom>
          <a:noFill/>
          <a:ln w="12700">
            <a:solidFill>
              <a:srgbClr val="FFFFFF">
                <a:alpha val="4000"/>
              </a:srgbClr>
            </a:solidFill>
            <a:prstDash val="solid"/>
          </a:ln>
        </p:spPr>
      </p:sp>
      <p:sp>
        <p:nvSpPr>
          <p:cNvPr id="42" name="Shape 40"/>
          <p:cNvSpPr/>
          <p:nvPr/>
        </p:nvSpPr>
        <p:spPr>
          <a:xfrm>
            <a:off x="0" y="0"/>
            <a:ext cx="12191695" cy="6858000"/>
          </a:xfrm>
          <a:prstGeom prst="rect">
            <a:avLst/>
          </a:prstGeom>
          <a:solidFill>
            <a:srgbClr val="1667CC">
              <a:alpha val="6000"/>
            </a:srgbClr>
          </a:solidFill>
          <a:ln w="12700">
            <a:solidFill>
              <a:srgbClr val="333333">
                <a:alpha val="0"/>
              </a:srgbClr>
            </a:solidFill>
            <a:prstDash val="solid"/>
          </a:ln>
        </p:spPr>
      </p:sp>
      <p:pic>
        <p:nvPicPr>
          <p:cNvPr id="43" name="Image 0" descr="/home/openclaw/.openclaw/workspace/revio-logo.png">    </p:cNvPr>
          <p:cNvPicPr>
            <a:picLocks noChangeAspect="1"/>
          </p:cNvPicPr>
          <p:nvPr/>
        </p:nvPicPr>
        <p:blipFill>
          <a:blip r:embed="rId1"/>
          <a:stretch>
            <a:fillRect/>
          </a:stretch>
        </p:blipFill>
        <p:spPr>
          <a:xfrm>
            <a:off x="530352" y="320040"/>
            <a:ext cx="1307592" cy="320040"/>
          </a:xfrm>
          <a:prstGeom prst="rect">
            <a:avLst/>
          </a:prstGeom>
        </p:spPr>
      </p:pic>
      <p:sp>
        <p:nvSpPr>
          <p:cNvPr id="44" name="Shape 41"/>
          <p:cNvSpPr/>
          <p:nvPr/>
        </p:nvSpPr>
        <p:spPr>
          <a:xfrm>
            <a:off x="2057400" y="301752"/>
            <a:ext cx="0" cy="393192"/>
          </a:xfrm>
          <a:prstGeom prst="line">
            <a:avLst/>
          </a:prstGeom>
          <a:noFill/>
          <a:ln w="12700">
            <a:solidFill>
              <a:srgbClr val="FFFFFF">
                <a:alpha val="22000"/>
              </a:srgbClr>
            </a:solidFill>
            <a:prstDash val="solid"/>
          </a:ln>
        </p:spPr>
      </p:sp>
      <p:sp>
        <p:nvSpPr>
          <p:cNvPr id="45" name="Shape 42"/>
          <p:cNvSpPr/>
          <p:nvPr/>
        </p:nvSpPr>
        <p:spPr>
          <a:xfrm>
            <a:off x="2267712" y="265176"/>
            <a:ext cx="1444752" cy="438912"/>
          </a:xfrm>
          <a:prstGeom prst="roundRect">
            <a:avLst>
              <a:gd name="adj" fmla="val 12500"/>
            </a:avLst>
          </a:prstGeom>
          <a:solidFill>
            <a:srgbClr val="FFFFFF"/>
          </a:solidFill>
          <a:ln w="12700">
            <a:solidFill>
              <a:srgbClr val="333333">
                <a:alpha val="0"/>
              </a:srgbClr>
            </a:solidFill>
            <a:prstDash val="solid"/>
          </a:ln>
        </p:spPr>
      </p:sp>
      <p:pic>
        <p:nvPicPr>
          <p:cNvPr id="46" name="Image 1" descr="/home/openclaw/.openclaw/workspace/intermedia-logo.png">    </p:cNvPr>
          <p:cNvPicPr>
            <a:picLocks noChangeAspect="1"/>
          </p:cNvPicPr>
          <p:nvPr/>
        </p:nvPicPr>
        <p:blipFill>
          <a:blip r:embed="rId2"/>
          <a:stretch>
            <a:fillRect/>
          </a:stretch>
        </p:blipFill>
        <p:spPr>
          <a:xfrm>
            <a:off x="2395728" y="347472"/>
            <a:ext cx="1188720" cy="265176"/>
          </a:xfrm>
          <a:prstGeom prst="rect">
            <a:avLst/>
          </a:prstGeom>
        </p:spPr>
      </p:pic>
      <p:sp>
        <p:nvSpPr>
          <p:cNvPr id="47" name="Text 43"/>
          <p:cNvSpPr/>
          <p:nvPr/>
        </p:nvSpPr>
        <p:spPr>
          <a:xfrm>
            <a:off x="530352" y="786384"/>
            <a:ext cx="4023360" cy="201168"/>
          </a:xfrm>
          <a:prstGeom prst="rect">
            <a:avLst/>
          </a:prstGeom>
          <a:noFill/>
          <a:ln/>
        </p:spPr>
        <p:txBody>
          <a:bodyPr wrap="square" rtlCol="0" anchor="ctr"/>
          <a:lstStyle/>
          <a:p>
            <a:pPr indent="0" marL="0">
              <a:buNone/>
            </a:pPr>
            <a:r>
              <a:rPr lang="en-US" sz="850" b="1" dirty="0">
                <a:solidFill>
                  <a:srgbClr val="2499B6"/>
                </a:solidFill>
              </a:rPr>
              <a:t>ADOPTION ROADMAP</a:t>
            </a:r>
            <a:endParaRPr lang="en-US" sz="850" dirty="0"/>
          </a:p>
        </p:txBody>
      </p:sp>
      <p:sp>
        <p:nvSpPr>
          <p:cNvPr id="48" name="Text 44"/>
          <p:cNvSpPr/>
          <p:nvPr/>
        </p:nvSpPr>
        <p:spPr>
          <a:xfrm>
            <a:off x="530352" y="1051560"/>
            <a:ext cx="6949440" cy="658368"/>
          </a:xfrm>
          <a:prstGeom prst="rect">
            <a:avLst/>
          </a:prstGeom>
          <a:noFill/>
          <a:ln/>
        </p:spPr>
        <p:txBody>
          <a:bodyPr wrap="square" lIns="0" tIns="0" rIns="0" bIns="0" rtlCol="0" anchor="ctr">
            <a:normAutofit/>
          </a:bodyPr>
          <a:lstStyle/>
          <a:p>
            <a:pPr indent="0" marL="0">
              <a:buNone/>
            </a:pPr>
            <a:r>
              <a:rPr lang="en-US" sz="2700" b="1" dirty="0">
                <a:solidFill>
                  <a:srgbClr val="FFFFFF"/>
                </a:solidFill>
              </a:rPr>
              <a:t>Revii adoption should happen in phases.</a:t>
            </a:r>
            <a:endParaRPr lang="en-US" sz="2700" dirty="0"/>
          </a:p>
        </p:txBody>
      </p:sp>
      <p:sp>
        <p:nvSpPr>
          <p:cNvPr id="49" name="Text 45"/>
          <p:cNvSpPr/>
          <p:nvPr/>
        </p:nvSpPr>
        <p:spPr>
          <a:xfrm>
            <a:off x="530352" y="1783080"/>
            <a:ext cx="7772400" cy="420624"/>
          </a:xfrm>
          <a:prstGeom prst="rect">
            <a:avLst/>
          </a:prstGeom>
          <a:noFill/>
          <a:ln/>
        </p:spPr>
        <p:txBody>
          <a:bodyPr wrap="square" lIns="0" tIns="0" rIns="0" bIns="0" rtlCol="0" anchor="ctr">
            <a:normAutofit/>
          </a:bodyPr>
          <a:lstStyle/>
          <a:p>
            <a:pPr indent="0" marL="0">
              <a:buNone/>
            </a:pPr>
            <a:r>
              <a:rPr lang="en-US" sz="1060" dirty="0">
                <a:solidFill>
                  <a:srgbClr val="B9C7D8"/>
                </a:solidFill>
              </a:rPr>
              <a:t>Each phase creates value without asking Intermedia to bet the entire migration on day one.</a:t>
            </a:r>
            <a:endParaRPr lang="en-US" sz="1060" dirty="0"/>
          </a:p>
        </p:txBody>
      </p:sp>
      <p:sp>
        <p:nvSpPr>
          <p:cNvPr id="50" name="Shape 46"/>
          <p:cNvSpPr/>
          <p:nvPr/>
        </p:nvSpPr>
        <p:spPr>
          <a:xfrm>
            <a:off x="566928" y="2331720"/>
            <a:ext cx="2505456" cy="2999232"/>
          </a:xfrm>
          <a:prstGeom prst="roundRect">
            <a:avLst>
              <a:gd name="adj" fmla="val 2920"/>
            </a:avLst>
          </a:prstGeom>
          <a:solidFill>
            <a:srgbClr val="101A2A"/>
          </a:solidFill>
          <a:ln w="12700">
            <a:solidFill>
              <a:srgbClr val="26374F"/>
            </a:solidFill>
            <a:prstDash val="solid"/>
          </a:ln>
        </p:spPr>
      </p:sp>
      <p:sp>
        <p:nvSpPr>
          <p:cNvPr id="51" name="Shape 47"/>
          <p:cNvSpPr/>
          <p:nvPr/>
        </p:nvSpPr>
        <p:spPr>
          <a:xfrm>
            <a:off x="566928" y="2331720"/>
            <a:ext cx="2505456" cy="73152"/>
          </a:xfrm>
          <a:prstGeom prst="rect">
            <a:avLst/>
          </a:prstGeom>
          <a:solidFill>
            <a:srgbClr val="2499B6"/>
          </a:solidFill>
          <a:ln w="12700">
            <a:solidFill>
              <a:srgbClr val="333333">
                <a:alpha val="0"/>
              </a:srgbClr>
            </a:solidFill>
            <a:prstDash val="solid"/>
          </a:ln>
        </p:spPr>
      </p:sp>
      <p:sp>
        <p:nvSpPr>
          <p:cNvPr id="52" name="Text 48"/>
          <p:cNvSpPr/>
          <p:nvPr/>
        </p:nvSpPr>
        <p:spPr>
          <a:xfrm>
            <a:off x="731520" y="2615184"/>
            <a:ext cx="1371600" cy="128016"/>
          </a:xfrm>
          <a:prstGeom prst="rect">
            <a:avLst/>
          </a:prstGeom>
          <a:noFill/>
          <a:ln/>
        </p:spPr>
        <p:txBody>
          <a:bodyPr wrap="square" lIns="0" tIns="0" rIns="0" bIns="0" rtlCol="0" anchor="ctr"/>
          <a:lstStyle/>
          <a:p>
            <a:pPr indent="0" marL="0">
              <a:buNone/>
            </a:pPr>
            <a:r>
              <a:rPr lang="en-US" sz="730" b="1" dirty="0">
                <a:solidFill>
                  <a:srgbClr val="2499B6"/>
                </a:solidFill>
              </a:rPr>
              <a:t>PHASE 01</a:t>
            </a:r>
            <a:endParaRPr lang="en-US" sz="730" dirty="0"/>
          </a:p>
        </p:txBody>
      </p:sp>
      <p:sp>
        <p:nvSpPr>
          <p:cNvPr id="53" name="Text 49"/>
          <p:cNvSpPr/>
          <p:nvPr/>
        </p:nvSpPr>
        <p:spPr>
          <a:xfrm>
            <a:off x="731520" y="2944368"/>
            <a:ext cx="2057400" cy="512064"/>
          </a:xfrm>
          <a:prstGeom prst="rect">
            <a:avLst/>
          </a:prstGeom>
          <a:noFill/>
          <a:ln/>
        </p:spPr>
        <p:txBody>
          <a:bodyPr wrap="square" lIns="0" tIns="0" rIns="0" bIns="0" rtlCol="0" anchor="ctr">
            <a:normAutofit/>
          </a:bodyPr>
          <a:lstStyle/>
          <a:p>
            <a:pPr indent="0" marL="0">
              <a:buNone/>
            </a:pPr>
            <a:r>
              <a:rPr lang="en-US" sz="1420" b="1" dirty="0">
                <a:solidFill>
                  <a:srgbClr val="FFFFFF"/>
                </a:solidFill>
              </a:rPr>
              <a:t>AI visibility before migration</a:t>
            </a:r>
            <a:endParaRPr lang="en-US" sz="1420" dirty="0"/>
          </a:p>
        </p:txBody>
      </p:sp>
      <p:sp>
        <p:nvSpPr>
          <p:cNvPr id="54" name="Text 50"/>
          <p:cNvSpPr/>
          <p:nvPr/>
        </p:nvSpPr>
        <p:spPr>
          <a:xfrm>
            <a:off x="731520" y="3712464"/>
            <a:ext cx="2084832" cy="1097280"/>
          </a:xfrm>
          <a:prstGeom prst="rect">
            <a:avLst/>
          </a:prstGeom>
          <a:noFill/>
          <a:ln/>
        </p:spPr>
        <p:txBody>
          <a:bodyPr wrap="square" lIns="0" tIns="0" rIns="0" bIns="0" rtlCol="0" anchor="ctr">
            <a:normAutofit/>
          </a:bodyPr>
          <a:lstStyle/>
          <a:p>
            <a:pPr indent="0" marL="0">
              <a:buNone/>
            </a:pPr>
            <a:r>
              <a:rPr lang="en-US" sz="840" dirty="0">
                <a:solidFill>
                  <a:srgbClr val="B9C7D8"/>
                </a:solidFill>
              </a:rPr>
              <a:t>Analyze exports from Atlas, BRM, HostPilot, CDRs, and SKU tables. Identify mismatches, stale pricing, and recurring exceptions.</a:t>
            </a:r>
            <a:endParaRPr lang="en-US" sz="840" dirty="0"/>
          </a:p>
        </p:txBody>
      </p:sp>
      <p:sp>
        <p:nvSpPr>
          <p:cNvPr id="55" name="Shape 51"/>
          <p:cNvSpPr/>
          <p:nvPr/>
        </p:nvSpPr>
        <p:spPr>
          <a:xfrm>
            <a:off x="3419856" y="2331720"/>
            <a:ext cx="2505456" cy="2999232"/>
          </a:xfrm>
          <a:prstGeom prst="roundRect">
            <a:avLst>
              <a:gd name="adj" fmla="val 2920"/>
            </a:avLst>
          </a:prstGeom>
          <a:solidFill>
            <a:srgbClr val="101A2A"/>
          </a:solidFill>
          <a:ln w="12700">
            <a:solidFill>
              <a:srgbClr val="26374F"/>
            </a:solidFill>
            <a:prstDash val="solid"/>
          </a:ln>
        </p:spPr>
      </p:sp>
      <p:sp>
        <p:nvSpPr>
          <p:cNvPr id="56" name="Shape 52"/>
          <p:cNvSpPr/>
          <p:nvPr/>
        </p:nvSpPr>
        <p:spPr>
          <a:xfrm>
            <a:off x="3419856" y="2331720"/>
            <a:ext cx="2505456" cy="73152"/>
          </a:xfrm>
          <a:prstGeom prst="rect">
            <a:avLst/>
          </a:prstGeom>
          <a:solidFill>
            <a:srgbClr val="1667CC"/>
          </a:solidFill>
          <a:ln w="12700">
            <a:solidFill>
              <a:srgbClr val="333333">
                <a:alpha val="0"/>
              </a:srgbClr>
            </a:solidFill>
            <a:prstDash val="solid"/>
          </a:ln>
        </p:spPr>
      </p:sp>
      <p:sp>
        <p:nvSpPr>
          <p:cNvPr id="57" name="Text 53"/>
          <p:cNvSpPr/>
          <p:nvPr/>
        </p:nvSpPr>
        <p:spPr>
          <a:xfrm>
            <a:off x="3584448" y="2615184"/>
            <a:ext cx="1371600" cy="128016"/>
          </a:xfrm>
          <a:prstGeom prst="rect">
            <a:avLst/>
          </a:prstGeom>
          <a:noFill/>
          <a:ln/>
        </p:spPr>
        <p:txBody>
          <a:bodyPr wrap="square" lIns="0" tIns="0" rIns="0" bIns="0" rtlCol="0" anchor="ctr"/>
          <a:lstStyle/>
          <a:p>
            <a:pPr indent="0" marL="0">
              <a:buNone/>
            </a:pPr>
            <a:r>
              <a:rPr lang="en-US" sz="730" b="1" dirty="0">
                <a:solidFill>
                  <a:srgbClr val="1667CC"/>
                </a:solidFill>
              </a:rPr>
              <a:t>PHASE 02</a:t>
            </a:r>
            <a:endParaRPr lang="en-US" sz="730" dirty="0"/>
          </a:p>
        </p:txBody>
      </p:sp>
      <p:sp>
        <p:nvSpPr>
          <p:cNvPr id="58" name="Text 54"/>
          <p:cNvSpPr/>
          <p:nvPr/>
        </p:nvSpPr>
        <p:spPr>
          <a:xfrm>
            <a:off x="3584448" y="2944368"/>
            <a:ext cx="2057400" cy="512064"/>
          </a:xfrm>
          <a:prstGeom prst="rect">
            <a:avLst/>
          </a:prstGeom>
          <a:noFill/>
          <a:ln/>
        </p:spPr>
        <p:txBody>
          <a:bodyPr wrap="square" lIns="0" tIns="0" rIns="0" bIns="0" rtlCol="0" anchor="ctr">
            <a:normAutofit/>
          </a:bodyPr>
          <a:lstStyle/>
          <a:p>
            <a:pPr indent="0" marL="0">
              <a:buNone/>
            </a:pPr>
            <a:r>
              <a:rPr lang="en-US" sz="1420" b="1" dirty="0">
                <a:solidFill>
                  <a:srgbClr val="FFFFFF"/>
                </a:solidFill>
              </a:rPr>
              <a:t>Rev.io as billing engine</a:t>
            </a:r>
            <a:endParaRPr lang="en-US" sz="1420" dirty="0"/>
          </a:p>
        </p:txBody>
      </p:sp>
      <p:sp>
        <p:nvSpPr>
          <p:cNvPr id="59" name="Text 55"/>
          <p:cNvSpPr/>
          <p:nvPr/>
        </p:nvSpPr>
        <p:spPr>
          <a:xfrm>
            <a:off x="3584448" y="3712464"/>
            <a:ext cx="2084832" cy="1097280"/>
          </a:xfrm>
          <a:prstGeom prst="rect">
            <a:avLst/>
          </a:prstGeom>
          <a:noFill/>
          <a:ln/>
        </p:spPr>
        <p:txBody>
          <a:bodyPr wrap="square" lIns="0" tIns="0" rIns="0" bIns="0" rtlCol="0" anchor="ctr">
            <a:normAutofit/>
          </a:bodyPr>
          <a:lstStyle/>
          <a:p>
            <a:pPr indent="0" marL="0">
              <a:buNone/>
            </a:pPr>
            <a:r>
              <a:rPr lang="en-US" sz="840" dirty="0">
                <a:solidFill>
                  <a:srgbClr val="B9C7D8"/>
                </a:solidFill>
              </a:rPr>
              <a:t>Move charge generation, recurring billing, rating, usage, tax-ready data, and invoice XML into Rev.io while HostPilot remains customer-facing.</a:t>
            </a:r>
            <a:endParaRPr lang="en-US" sz="840" dirty="0"/>
          </a:p>
        </p:txBody>
      </p:sp>
      <p:sp>
        <p:nvSpPr>
          <p:cNvPr id="60" name="Shape 56"/>
          <p:cNvSpPr/>
          <p:nvPr/>
        </p:nvSpPr>
        <p:spPr>
          <a:xfrm>
            <a:off x="6272784" y="2331720"/>
            <a:ext cx="2505456" cy="2999232"/>
          </a:xfrm>
          <a:prstGeom prst="roundRect">
            <a:avLst>
              <a:gd name="adj" fmla="val 2920"/>
            </a:avLst>
          </a:prstGeom>
          <a:solidFill>
            <a:srgbClr val="101A2A"/>
          </a:solidFill>
          <a:ln w="12700">
            <a:solidFill>
              <a:srgbClr val="26374F"/>
            </a:solidFill>
            <a:prstDash val="solid"/>
          </a:ln>
        </p:spPr>
      </p:sp>
      <p:sp>
        <p:nvSpPr>
          <p:cNvPr id="61" name="Shape 57"/>
          <p:cNvSpPr/>
          <p:nvPr/>
        </p:nvSpPr>
        <p:spPr>
          <a:xfrm>
            <a:off x="6272784" y="2331720"/>
            <a:ext cx="2505456" cy="73152"/>
          </a:xfrm>
          <a:prstGeom prst="rect">
            <a:avLst/>
          </a:prstGeom>
          <a:solidFill>
            <a:srgbClr val="6EBE4F"/>
          </a:solidFill>
          <a:ln w="12700">
            <a:solidFill>
              <a:srgbClr val="333333">
                <a:alpha val="0"/>
              </a:srgbClr>
            </a:solidFill>
            <a:prstDash val="solid"/>
          </a:ln>
        </p:spPr>
      </p:sp>
      <p:sp>
        <p:nvSpPr>
          <p:cNvPr id="62" name="Text 58"/>
          <p:cNvSpPr/>
          <p:nvPr/>
        </p:nvSpPr>
        <p:spPr>
          <a:xfrm>
            <a:off x="6437376" y="2615184"/>
            <a:ext cx="1371600" cy="128016"/>
          </a:xfrm>
          <a:prstGeom prst="rect">
            <a:avLst/>
          </a:prstGeom>
          <a:noFill/>
          <a:ln/>
        </p:spPr>
        <p:txBody>
          <a:bodyPr wrap="square" lIns="0" tIns="0" rIns="0" bIns="0" rtlCol="0" anchor="ctr"/>
          <a:lstStyle/>
          <a:p>
            <a:pPr indent="0" marL="0">
              <a:buNone/>
            </a:pPr>
            <a:r>
              <a:rPr lang="en-US" sz="730" b="1" dirty="0">
                <a:solidFill>
                  <a:srgbClr val="6EBE4F"/>
                </a:solidFill>
              </a:rPr>
              <a:t>PHASE 03</a:t>
            </a:r>
            <a:endParaRPr lang="en-US" sz="730" dirty="0"/>
          </a:p>
        </p:txBody>
      </p:sp>
      <p:sp>
        <p:nvSpPr>
          <p:cNvPr id="63" name="Text 59"/>
          <p:cNvSpPr/>
          <p:nvPr/>
        </p:nvSpPr>
        <p:spPr>
          <a:xfrm>
            <a:off x="6437376" y="2944368"/>
            <a:ext cx="2057400" cy="512064"/>
          </a:xfrm>
          <a:prstGeom prst="rect">
            <a:avLst/>
          </a:prstGeom>
          <a:noFill/>
          <a:ln/>
        </p:spPr>
        <p:txBody>
          <a:bodyPr wrap="square" lIns="0" tIns="0" rIns="0" bIns="0" rtlCol="0" anchor="ctr">
            <a:normAutofit/>
          </a:bodyPr>
          <a:lstStyle/>
          <a:p>
            <a:pPr indent="0" marL="0">
              <a:buNone/>
            </a:pPr>
            <a:r>
              <a:rPr lang="en-US" sz="1420" b="1" dirty="0">
                <a:solidFill>
                  <a:srgbClr val="FFFFFF"/>
                </a:solidFill>
              </a:rPr>
              <a:t>Revenue assurance with Revii</a:t>
            </a:r>
            <a:endParaRPr lang="en-US" sz="1420" dirty="0"/>
          </a:p>
        </p:txBody>
      </p:sp>
      <p:sp>
        <p:nvSpPr>
          <p:cNvPr id="64" name="Text 60"/>
          <p:cNvSpPr/>
          <p:nvPr/>
        </p:nvSpPr>
        <p:spPr>
          <a:xfrm>
            <a:off x="6437376" y="3712464"/>
            <a:ext cx="2084832" cy="1097280"/>
          </a:xfrm>
          <a:prstGeom prst="rect">
            <a:avLst/>
          </a:prstGeom>
          <a:noFill/>
          <a:ln/>
        </p:spPr>
        <p:txBody>
          <a:bodyPr wrap="square" lIns="0" tIns="0" rIns="0" bIns="0" rtlCol="0" anchor="ctr">
            <a:normAutofit/>
          </a:bodyPr>
          <a:lstStyle/>
          <a:p>
            <a:pPr indent="0" marL="0">
              <a:buNone/>
            </a:pPr>
            <a:r>
              <a:rPr lang="en-US" sz="840" dirty="0">
                <a:solidFill>
                  <a:srgbClr val="B9C7D8"/>
                </a:solidFill>
              </a:rPr>
              <a:t>Use Revii to detect leakage, margin compression, missing usage, mismatched wholesale/retail logic, and billing drift.</a:t>
            </a:r>
            <a:endParaRPr lang="en-US" sz="840" dirty="0"/>
          </a:p>
        </p:txBody>
      </p:sp>
      <p:sp>
        <p:nvSpPr>
          <p:cNvPr id="65" name="Shape 61"/>
          <p:cNvSpPr/>
          <p:nvPr/>
        </p:nvSpPr>
        <p:spPr>
          <a:xfrm>
            <a:off x="9125712" y="2331720"/>
            <a:ext cx="2505456" cy="2999232"/>
          </a:xfrm>
          <a:prstGeom prst="roundRect">
            <a:avLst>
              <a:gd name="adj" fmla="val 2920"/>
            </a:avLst>
          </a:prstGeom>
          <a:solidFill>
            <a:srgbClr val="101A2A"/>
          </a:solidFill>
          <a:ln w="12700">
            <a:solidFill>
              <a:srgbClr val="26374F"/>
            </a:solidFill>
            <a:prstDash val="solid"/>
          </a:ln>
        </p:spPr>
      </p:sp>
      <p:sp>
        <p:nvSpPr>
          <p:cNvPr id="66" name="Shape 62"/>
          <p:cNvSpPr/>
          <p:nvPr/>
        </p:nvSpPr>
        <p:spPr>
          <a:xfrm>
            <a:off x="9125712" y="2331720"/>
            <a:ext cx="2505456" cy="73152"/>
          </a:xfrm>
          <a:prstGeom prst="rect">
            <a:avLst/>
          </a:prstGeom>
          <a:solidFill>
            <a:srgbClr val="FC6120"/>
          </a:solidFill>
          <a:ln w="12700">
            <a:solidFill>
              <a:srgbClr val="333333">
                <a:alpha val="0"/>
              </a:srgbClr>
            </a:solidFill>
            <a:prstDash val="solid"/>
          </a:ln>
        </p:spPr>
      </p:sp>
      <p:sp>
        <p:nvSpPr>
          <p:cNvPr id="67" name="Text 63"/>
          <p:cNvSpPr/>
          <p:nvPr/>
        </p:nvSpPr>
        <p:spPr>
          <a:xfrm>
            <a:off x="9290304" y="2615184"/>
            <a:ext cx="1371600" cy="128016"/>
          </a:xfrm>
          <a:prstGeom prst="rect">
            <a:avLst/>
          </a:prstGeom>
          <a:noFill/>
          <a:ln/>
        </p:spPr>
        <p:txBody>
          <a:bodyPr wrap="square" lIns="0" tIns="0" rIns="0" bIns="0" rtlCol="0" anchor="ctr"/>
          <a:lstStyle/>
          <a:p>
            <a:pPr indent="0" marL="0">
              <a:buNone/>
            </a:pPr>
            <a:r>
              <a:rPr lang="en-US" sz="730" b="1" dirty="0">
                <a:solidFill>
                  <a:srgbClr val="FC6120"/>
                </a:solidFill>
              </a:rPr>
              <a:t>PHASE 04</a:t>
            </a:r>
            <a:endParaRPr lang="en-US" sz="730" dirty="0"/>
          </a:p>
        </p:txBody>
      </p:sp>
      <p:sp>
        <p:nvSpPr>
          <p:cNvPr id="68" name="Text 64"/>
          <p:cNvSpPr/>
          <p:nvPr/>
        </p:nvSpPr>
        <p:spPr>
          <a:xfrm>
            <a:off x="9290304" y="2944368"/>
            <a:ext cx="2057400" cy="512064"/>
          </a:xfrm>
          <a:prstGeom prst="rect">
            <a:avLst/>
          </a:prstGeom>
          <a:noFill/>
          <a:ln/>
        </p:spPr>
        <p:txBody>
          <a:bodyPr wrap="square" lIns="0" tIns="0" rIns="0" bIns="0" rtlCol="0" anchor="ctr">
            <a:normAutofit/>
          </a:bodyPr>
          <a:lstStyle/>
          <a:p>
            <a:pPr indent="0" marL="0">
              <a:buNone/>
            </a:pPr>
            <a:r>
              <a:rPr lang="en-US" sz="1420" b="1" dirty="0">
                <a:solidFill>
                  <a:srgbClr val="FFFFFF"/>
                </a:solidFill>
              </a:rPr>
              <a:t>Move tribal logic into Rev.io</a:t>
            </a:r>
            <a:endParaRPr lang="en-US" sz="1420" dirty="0"/>
          </a:p>
        </p:txBody>
      </p:sp>
      <p:sp>
        <p:nvSpPr>
          <p:cNvPr id="69" name="Text 65"/>
          <p:cNvSpPr/>
          <p:nvPr/>
        </p:nvSpPr>
        <p:spPr>
          <a:xfrm>
            <a:off x="9290304" y="3712464"/>
            <a:ext cx="2084832" cy="1097280"/>
          </a:xfrm>
          <a:prstGeom prst="rect">
            <a:avLst/>
          </a:prstGeom>
          <a:noFill/>
          <a:ln/>
        </p:spPr>
        <p:txBody>
          <a:bodyPr wrap="square" lIns="0" tIns="0" rIns="0" bIns="0" rtlCol="0" anchor="ctr">
            <a:normAutofit/>
          </a:bodyPr>
          <a:lstStyle/>
          <a:p>
            <a:pPr indent="0" marL="0">
              <a:buNone/>
            </a:pPr>
            <a:r>
              <a:rPr lang="en-US" sz="840" dirty="0">
                <a:solidFill>
                  <a:srgbClr val="B9C7D8"/>
                </a:solidFill>
              </a:rPr>
              <a:t>Turn legacy billing rules into documented, searchable, testable, and configurable Rev.io logic.</a:t>
            </a:r>
            <a:endParaRPr lang="en-US" sz="840" dirty="0"/>
          </a:p>
        </p:txBody>
      </p:sp>
      <p:sp>
        <p:nvSpPr>
          <p:cNvPr id="70" name="Text 66"/>
          <p:cNvSpPr/>
          <p:nvPr/>
        </p:nvSpPr>
        <p:spPr>
          <a:xfrm>
            <a:off x="530352" y="6473952"/>
            <a:ext cx="6583680" cy="164592"/>
          </a:xfrm>
          <a:prstGeom prst="rect">
            <a:avLst/>
          </a:prstGeom>
          <a:noFill/>
          <a:ln/>
        </p:spPr>
        <p:txBody>
          <a:bodyPr wrap="square" rtlCol="0" anchor="ctr"/>
          <a:lstStyle/>
          <a:p>
            <a:pPr indent="0" marL="0">
              <a:buNone/>
            </a:pPr>
            <a:r>
              <a:rPr lang="en-US" sz="750" dirty="0">
                <a:solidFill>
                  <a:srgbClr val="6E7F96"/>
                </a:solidFill>
              </a:rPr>
              <a:t>Rev.io x Intermedia | Revii AI billing modernization | Confidential</a:t>
            </a:r>
            <a:endParaRPr lang="en-US" sz="750" dirty="0"/>
          </a:p>
        </p:txBody>
      </p:sp>
      <p:sp>
        <p:nvSpPr>
          <p:cNvPr id="71" name="Text 67"/>
          <p:cNvSpPr/>
          <p:nvPr/>
        </p:nvSpPr>
        <p:spPr>
          <a:xfrm>
            <a:off x="10652760" y="6473952"/>
            <a:ext cx="1005840" cy="164592"/>
          </a:xfrm>
          <a:prstGeom prst="rect">
            <a:avLst/>
          </a:prstGeom>
          <a:noFill/>
          <a:ln/>
        </p:spPr>
        <p:txBody>
          <a:bodyPr wrap="square" rtlCol="0" anchor="ctr"/>
          <a:lstStyle/>
          <a:p>
            <a:pPr algn="r" indent="0" marL="0">
              <a:buNone/>
            </a:pPr>
            <a:r>
              <a:rPr lang="en-US" sz="750" dirty="0">
                <a:solidFill>
                  <a:srgbClr val="6E7F96"/>
                </a:solidFill>
              </a:rPr>
              <a:t>June 2026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9FC"/>
          </a:solidFill>
          <a:ln w="12700">
            <a:solidFill>
              <a:srgbClr val="333333">
                <a:alpha val="0"/>
              </a:srgbClr>
            </a:solidFill>
            <a:prstDash val="solid"/>
          </a:ln>
        </p:spPr>
      </p:sp>
      <p:pic>
        <p:nvPicPr>
          <p:cNvPr id="3" name="Image 0" descr="/home/openclaw/.openclaw/workspace/revio-logo.png">    </p:cNvPr>
          <p:cNvPicPr>
            <a:picLocks noChangeAspect="1"/>
          </p:cNvPicPr>
          <p:nvPr/>
        </p:nvPicPr>
        <p:blipFill>
          <a:blip r:embed="rId1"/>
          <a:stretch>
            <a:fillRect/>
          </a:stretch>
        </p:blipFill>
        <p:spPr>
          <a:xfrm>
            <a:off x="530352" y="320040"/>
            <a:ext cx="1307592" cy="320040"/>
          </a:xfrm>
          <a:prstGeom prst="rect">
            <a:avLst/>
          </a:prstGeom>
        </p:spPr>
      </p:pic>
      <p:sp>
        <p:nvSpPr>
          <p:cNvPr id="4" name="Shape 1"/>
          <p:cNvSpPr/>
          <p:nvPr/>
        </p:nvSpPr>
        <p:spPr>
          <a:xfrm>
            <a:off x="2057400" y="301752"/>
            <a:ext cx="0" cy="393192"/>
          </a:xfrm>
          <a:prstGeom prst="line">
            <a:avLst/>
          </a:prstGeom>
          <a:noFill/>
          <a:ln w="12700">
            <a:solidFill>
              <a:srgbClr val="26374F">
                <a:alpha val="60000"/>
              </a:srgbClr>
            </a:solidFill>
            <a:prstDash val="solid"/>
          </a:ln>
        </p:spPr>
      </p:sp>
      <p:sp>
        <p:nvSpPr>
          <p:cNvPr id="5" name="Shape 2"/>
          <p:cNvSpPr/>
          <p:nvPr/>
        </p:nvSpPr>
        <p:spPr>
          <a:xfrm>
            <a:off x="2267712" y="265176"/>
            <a:ext cx="1444752" cy="438912"/>
          </a:xfrm>
          <a:prstGeom prst="roundRect">
            <a:avLst>
              <a:gd name="adj" fmla="val 12500"/>
            </a:avLst>
          </a:prstGeom>
          <a:solidFill>
            <a:srgbClr val="FFFFFF"/>
          </a:solidFill>
          <a:ln w="12700">
            <a:solidFill>
              <a:srgbClr val="333333">
                <a:alpha val="0"/>
              </a:srgbClr>
            </a:solidFill>
            <a:prstDash val="solid"/>
          </a:ln>
        </p:spPr>
      </p:sp>
      <p:pic>
        <p:nvPicPr>
          <p:cNvPr id="6" name="Image 1" descr="/home/openclaw/.openclaw/workspace/intermedia-logo.png">    </p:cNvPr>
          <p:cNvPicPr>
            <a:picLocks noChangeAspect="1"/>
          </p:cNvPicPr>
          <p:nvPr/>
        </p:nvPicPr>
        <p:blipFill>
          <a:blip r:embed="rId2"/>
          <a:stretch>
            <a:fillRect/>
          </a:stretch>
        </p:blipFill>
        <p:spPr>
          <a:xfrm>
            <a:off x="2395728" y="347472"/>
            <a:ext cx="1188720" cy="265176"/>
          </a:xfrm>
          <a:prstGeom prst="rect">
            <a:avLst/>
          </a:prstGeom>
        </p:spPr>
      </p:pic>
      <p:sp>
        <p:nvSpPr>
          <p:cNvPr id="7" name="Text 3"/>
          <p:cNvSpPr/>
          <p:nvPr/>
        </p:nvSpPr>
        <p:spPr>
          <a:xfrm>
            <a:off x="530352" y="786384"/>
            <a:ext cx="4023360" cy="201168"/>
          </a:xfrm>
          <a:prstGeom prst="rect">
            <a:avLst/>
          </a:prstGeom>
          <a:noFill/>
          <a:ln/>
        </p:spPr>
        <p:txBody>
          <a:bodyPr wrap="square" rtlCol="0" anchor="ctr"/>
          <a:lstStyle/>
          <a:p>
            <a:pPr indent="0" marL="0">
              <a:buNone/>
            </a:pPr>
            <a:r>
              <a:rPr lang="en-US" sz="850" b="1" dirty="0">
                <a:solidFill>
                  <a:srgbClr val="1667CC"/>
                </a:solidFill>
              </a:rPr>
              <a:t>REVII IN ACTION</a:t>
            </a:r>
            <a:endParaRPr lang="en-US" sz="850" dirty="0"/>
          </a:p>
        </p:txBody>
      </p:sp>
      <p:sp>
        <p:nvSpPr>
          <p:cNvPr id="8" name="Text 4"/>
          <p:cNvSpPr/>
          <p:nvPr/>
        </p:nvSpPr>
        <p:spPr>
          <a:xfrm>
            <a:off x="530352" y="1051560"/>
            <a:ext cx="6949440" cy="658368"/>
          </a:xfrm>
          <a:prstGeom prst="rect">
            <a:avLst/>
          </a:prstGeom>
          <a:noFill/>
          <a:ln/>
        </p:spPr>
        <p:txBody>
          <a:bodyPr wrap="square" lIns="0" tIns="0" rIns="0" bIns="0" rtlCol="0" anchor="ctr">
            <a:normAutofit/>
          </a:bodyPr>
          <a:lstStyle/>
          <a:p>
            <a:pPr indent="0" marL="0">
              <a:buNone/>
            </a:pPr>
            <a:r>
              <a:rPr lang="en-US" sz="2700" b="1" dirty="0">
                <a:solidFill>
                  <a:srgbClr val="1B2A3D"/>
                </a:solidFill>
              </a:rPr>
              <a:t>What Intermedia teams could ask Revii.</a:t>
            </a:r>
            <a:endParaRPr lang="en-US" sz="2700" dirty="0"/>
          </a:p>
        </p:txBody>
      </p:sp>
      <p:sp>
        <p:nvSpPr>
          <p:cNvPr id="9" name="Text 5"/>
          <p:cNvSpPr/>
          <p:nvPr/>
        </p:nvSpPr>
        <p:spPr>
          <a:xfrm>
            <a:off x="530352" y="1783080"/>
            <a:ext cx="7772400" cy="420624"/>
          </a:xfrm>
          <a:prstGeom prst="rect">
            <a:avLst/>
          </a:prstGeom>
          <a:noFill/>
          <a:ln/>
        </p:spPr>
        <p:txBody>
          <a:bodyPr wrap="square" lIns="0" tIns="0" rIns="0" bIns="0" rtlCol="0" anchor="ctr">
            <a:normAutofit/>
          </a:bodyPr>
          <a:lstStyle/>
          <a:p>
            <a:pPr indent="0" marL="0">
              <a:buNone/>
            </a:pPr>
            <a:r>
              <a:rPr lang="en-US" sz="1060" dirty="0">
                <a:solidFill>
                  <a:srgbClr val="65758A"/>
                </a:solidFill>
              </a:rPr>
              <a:t>The use case lands when it feels operational. These are not generic AI prompts; these are billing, finance, channel, and migration questions.</a:t>
            </a:r>
            <a:endParaRPr lang="en-US" sz="1060" dirty="0"/>
          </a:p>
        </p:txBody>
      </p:sp>
      <p:sp>
        <p:nvSpPr>
          <p:cNvPr id="10" name="Shape 6"/>
          <p:cNvSpPr/>
          <p:nvPr/>
        </p:nvSpPr>
        <p:spPr>
          <a:xfrm>
            <a:off x="594360" y="2267712"/>
            <a:ext cx="3401568" cy="1252728"/>
          </a:xfrm>
          <a:prstGeom prst="roundRect">
            <a:avLst>
              <a:gd name="adj" fmla="val 5839"/>
            </a:avLst>
          </a:prstGeom>
          <a:solidFill>
            <a:srgbClr val="FFFFFF"/>
          </a:solidFill>
          <a:ln w="12700">
            <a:solidFill>
              <a:srgbClr val="D8E0EA"/>
            </a:solidFill>
            <a:prstDash val="solid"/>
          </a:ln>
        </p:spPr>
      </p:sp>
      <p:sp>
        <p:nvSpPr>
          <p:cNvPr id="11" name="Shape 7"/>
          <p:cNvSpPr/>
          <p:nvPr/>
        </p:nvSpPr>
        <p:spPr>
          <a:xfrm>
            <a:off x="594360" y="2267712"/>
            <a:ext cx="3401568" cy="64008"/>
          </a:xfrm>
          <a:prstGeom prst="rect">
            <a:avLst/>
          </a:prstGeom>
          <a:solidFill>
            <a:srgbClr val="2499B6"/>
          </a:solidFill>
          <a:ln w="12700">
            <a:solidFill>
              <a:srgbClr val="333333">
                <a:alpha val="0"/>
              </a:srgbClr>
            </a:solidFill>
            <a:prstDash val="solid"/>
          </a:ln>
        </p:spPr>
      </p:sp>
      <p:sp>
        <p:nvSpPr>
          <p:cNvPr id="12" name="Text 8"/>
          <p:cNvSpPr/>
          <p:nvPr/>
        </p:nvSpPr>
        <p:spPr>
          <a:xfrm>
            <a:off x="758952" y="2414016"/>
            <a:ext cx="3072384" cy="256032"/>
          </a:xfrm>
          <a:prstGeom prst="rect">
            <a:avLst/>
          </a:prstGeom>
          <a:noFill/>
          <a:ln/>
        </p:spPr>
        <p:txBody>
          <a:bodyPr wrap="square" lIns="0" tIns="0" rIns="0" bIns="0" rtlCol="0" anchor="ctr">
            <a:normAutofit/>
          </a:bodyPr>
          <a:lstStyle/>
          <a:p>
            <a:pPr indent="0" marL="0">
              <a:buNone/>
            </a:pPr>
            <a:r>
              <a:rPr lang="en-US" sz="1040" b="1" dirty="0">
                <a:solidFill>
                  <a:srgbClr val="1B2A3D"/>
                </a:solidFill>
              </a:rPr>
              <a:t>Billing Ops</a:t>
            </a:r>
            <a:endParaRPr lang="en-US" sz="1040" dirty="0"/>
          </a:p>
        </p:txBody>
      </p:sp>
      <p:sp>
        <p:nvSpPr>
          <p:cNvPr id="13" name="Text 9"/>
          <p:cNvSpPr/>
          <p:nvPr/>
        </p:nvSpPr>
        <p:spPr>
          <a:xfrm>
            <a:off x="758952" y="2752344"/>
            <a:ext cx="3072384" cy="649224"/>
          </a:xfrm>
          <a:prstGeom prst="rect">
            <a:avLst/>
          </a:prstGeom>
          <a:noFill/>
          <a:ln/>
        </p:spPr>
        <p:txBody>
          <a:bodyPr wrap="square" lIns="0" tIns="0" rIns="0" bIns="0" rtlCol="0" anchor="t">
            <a:normAutofit/>
          </a:bodyPr>
          <a:lstStyle/>
          <a:p>
            <a:pPr indent="0" marL="0">
              <a:buNone/>
            </a:pPr>
            <a:r>
              <a:rPr lang="en-US" sz="940" dirty="0">
                <a:solidFill>
                  <a:srgbClr val="65758A"/>
                </a:solidFill>
              </a:rPr>
              <a:t>Which reseller invoices had usage overages last month, and which ones did not produce expected charges?</a:t>
            </a:r>
            <a:endParaRPr lang="en-US" sz="940" dirty="0"/>
          </a:p>
        </p:txBody>
      </p:sp>
      <p:sp>
        <p:nvSpPr>
          <p:cNvPr id="14" name="Shape 10"/>
          <p:cNvSpPr/>
          <p:nvPr/>
        </p:nvSpPr>
        <p:spPr>
          <a:xfrm>
            <a:off x="4389120" y="2267712"/>
            <a:ext cx="3401568" cy="1252728"/>
          </a:xfrm>
          <a:prstGeom prst="roundRect">
            <a:avLst>
              <a:gd name="adj" fmla="val 5839"/>
            </a:avLst>
          </a:prstGeom>
          <a:solidFill>
            <a:srgbClr val="FFFFFF"/>
          </a:solidFill>
          <a:ln w="12700">
            <a:solidFill>
              <a:srgbClr val="D8E0EA"/>
            </a:solidFill>
            <a:prstDash val="solid"/>
          </a:ln>
        </p:spPr>
      </p:sp>
      <p:sp>
        <p:nvSpPr>
          <p:cNvPr id="15" name="Shape 11"/>
          <p:cNvSpPr/>
          <p:nvPr/>
        </p:nvSpPr>
        <p:spPr>
          <a:xfrm>
            <a:off x="4389120" y="2267712"/>
            <a:ext cx="3401568" cy="64008"/>
          </a:xfrm>
          <a:prstGeom prst="rect">
            <a:avLst/>
          </a:prstGeom>
          <a:solidFill>
            <a:srgbClr val="1667CC"/>
          </a:solidFill>
          <a:ln w="12700">
            <a:solidFill>
              <a:srgbClr val="333333">
                <a:alpha val="0"/>
              </a:srgbClr>
            </a:solidFill>
            <a:prstDash val="solid"/>
          </a:ln>
        </p:spPr>
      </p:sp>
      <p:sp>
        <p:nvSpPr>
          <p:cNvPr id="16" name="Text 12"/>
          <p:cNvSpPr/>
          <p:nvPr/>
        </p:nvSpPr>
        <p:spPr>
          <a:xfrm>
            <a:off x="4553712" y="2414016"/>
            <a:ext cx="3072384" cy="256032"/>
          </a:xfrm>
          <a:prstGeom prst="rect">
            <a:avLst/>
          </a:prstGeom>
          <a:noFill/>
          <a:ln/>
        </p:spPr>
        <p:txBody>
          <a:bodyPr wrap="square" lIns="0" tIns="0" rIns="0" bIns="0" rtlCol="0" anchor="ctr">
            <a:normAutofit/>
          </a:bodyPr>
          <a:lstStyle/>
          <a:p>
            <a:pPr indent="0" marL="0">
              <a:buNone/>
            </a:pPr>
            <a:r>
              <a:rPr lang="en-US" sz="1040" b="1" dirty="0">
                <a:solidFill>
                  <a:srgbClr val="1B2A3D"/>
                </a:solidFill>
              </a:rPr>
              <a:t>Finance</a:t>
            </a:r>
            <a:endParaRPr lang="en-US" sz="1040" dirty="0"/>
          </a:p>
        </p:txBody>
      </p:sp>
      <p:sp>
        <p:nvSpPr>
          <p:cNvPr id="17" name="Text 13"/>
          <p:cNvSpPr/>
          <p:nvPr/>
        </p:nvSpPr>
        <p:spPr>
          <a:xfrm>
            <a:off x="4553712" y="2752344"/>
            <a:ext cx="3072384" cy="649224"/>
          </a:xfrm>
          <a:prstGeom prst="rect">
            <a:avLst/>
          </a:prstGeom>
          <a:noFill/>
          <a:ln/>
        </p:spPr>
        <p:txBody>
          <a:bodyPr wrap="square" lIns="0" tIns="0" rIns="0" bIns="0" rtlCol="0" anchor="t">
            <a:normAutofit/>
          </a:bodyPr>
          <a:lstStyle/>
          <a:p>
            <a:pPr indent="0" marL="0">
              <a:buNone/>
            </a:pPr>
            <a:r>
              <a:rPr lang="en-US" sz="940" dirty="0">
                <a:solidFill>
                  <a:srgbClr val="65758A"/>
                </a:solidFill>
              </a:rPr>
              <a:t>Where do Atlas, BRM, and HostPilot totals disagree, and what accounts create the largest reconciliation gap?</a:t>
            </a:r>
            <a:endParaRPr lang="en-US" sz="940" dirty="0"/>
          </a:p>
        </p:txBody>
      </p:sp>
      <p:sp>
        <p:nvSpPr>
          <p:cNvPr id="18" name="Shape 14"/>
          <p:cNvSpPr/>
          <p:nvPr/>
        </p:nvSpPr>
        <p:spPr>
          <a:xfrm>
            <a:off x="8183880" y="2267712"/>
            <a:ext cx="3401568" cy="1252728"/>
          </a:xfrm>
          <a:prstGeom prst="roundRect">
            <a:avLst>
              <a:gd name="adj" fmla="val 5839"/>
            </a:avLst>
          </a:prstGeom>
          <a:solidFill>
            <a:srgbClr val="FFFFFF"/>
          </a:solidFill>
          <a:ln w="12700">
            <a:solidFill>
              <a:srgbClr val="D8E0EA"/>
            </a:solidFill>
            <a:prstDash val="solid"/>
          </a:ln>
        </p:spPr>
      </p:sp>
      <p:sp>
        <p:nvSpPr>
          <p:cNvPr id="19" name="Shape 15"/>
          <p:cNvSpPr/>
          <p:nvPr/>
        </p:nvSpPr>
        <p:spPr>
          <a:xfrm>
            <a:off x="8183880" y="2267712"/>
            <a:ext cx="3401568" cy="64008"/>
          </a:xfrm>
          <a:prstGeom prst="rect">
            <a:avLst/>
          </a:prstGeom>
          <a:solidFill>
            <a:srgbClr val="6EBE4F"/>
          </a:solidFill>
          <a:ln w="12700">
            <a:solidFill>
              <a:srgbClr val="333333">
                <a:alpha val="0"/>
              </a:srgbClr>
            </a:solidFill>
            <a:prstDash val="solid"/>
          </a:ln>
        </p:spPr>
      </p:sp>
      <p:sp>
        <p:nvSpPr>
          <p:cNvPr id="20" name="Text 16"/>
          <p:cNvSpPr/>
          <p:nvPr/>
        </p:nvSpPr>
        <p:spPr>
          <a:xfrm>
            <a:off x="8348472" y="2414016"/>
            <a:ext cx="3072384" cy="256032"/>
          </a:xfrm>
          <a:prstGeom prst="rect">
            <a:avLst/>
          </a:prstGeom>
          <a:noFill/>
          <a:ln/>
        </p:spPr>
        <p:txBody>
          <a:bodyPr wrap="square" lIns="0" tIns="0" rIns="0" bIns="0" rtlCol="0" anchor="ctr">
            <a:normAutofit/>
          </a:bodyPr>
          <a:lstStyle/>
          <a:p>
            <a:pPr indent="0" marL="0">
              <a:buNone/>
            </a:pPr>
            <a:r>
              <a:rPr lang="en-US" sz="1040" b="1" dirty="0">
                <a:solidFill>
                  <a:srgbClr val="1B2A3D"/>
                </a:solidFill>
              </a:rPr>
              <a:t>Revenue Assurance</a:t>
            </a:r>
            <a:endParaRPr lang="en-US" sz="1040" dirty="0"/>
          </a:p>
        </p:txBody>
      </p:sp>
      <p:sp>
        <p:nvSpPr>
          <p:cNvPr id="21" name="Text 17"/>
          <p:cNvSpPr/>
          <p:nvPr/>
        </p:nvSpPr>
        <p:spPr>
          <a:xfrm>
            <a:off x="8348472" y="2752344"/>
            <a:ext cx="3072384" cy="649224"/>
          </a:xfrm>
          <a:prstGeom prst="rect">
            <a:avLst/>
          </a:prstGeom>
          <a:noFill/>
          <a:ln/>
        </p:spPr>
        <p:txBody>
          <a:bodyPr wrap="square" lIns="0" tIns="0" rIns="0" bIns="0" rtlCol="0" anchor="t">
            <a:normAutofit/>
          </a:bodyPr>
          <a:lstStyle/>
          <a:p>
            <a:pPr indent="0" marL="0">
              <a:buNone/>
            </a:pPr>
            <a:r>
              <a:rPr lang="en-US" sz="940" dirty="0">
                <a:solidFill>
                  <a:srgbClr val="65758A"/>
                </a:solidFill>
              </a:rPr>
              <a:t>Show me customers where usage increased but recurring invoice revenue stayed flat or declined.</a:t>
            </a:r>
            <a:endParaRPr lang="en-US" sz="940" dirty="0"/>
          </a:p>
        </p:txBody>
      </p:sp>
      <p:sp>
        <p:nvSpPr>
          <p:cNvPr id="22" name="Shape 18"/>
          <p:cNvSpPr/>
          <p:nvPr/>
        </p:nvSpPr>
        <p:spPr>
          <a:xfrm>
            <a:off x="594360" y="3959352"/>
            <a:ext cx="3401568" cy="1252728"/>
          </a:xfrm>
          <a:prstGeom prst="roundRect">
            <a:avLst>
              <a:gd name="adj" fmla="val 5839"/>
            </a:avLst>
          </a:prstGeom>
          <a:solidFill>
            <a:srgbClr val="FFFFFF"/>
          </a:solidFill>
          <a:ln w="12700">
            <a:solidFill>
              <a:srgbClr val="D8E0EA"/>
            </a:solidFill>
            <a:prstDash val="solid"/>
          </a:ln>
        </p:spPr>
      </p:sp>
      <p:sp>
        <p:nvSpPr>
          <p:cNvPr id="23" name="Shape 19"/>
          <p:cNvSpPr/>
          <p:nvPr/>
        </p:nvSpPr>
        <p:spPr>
          <a:xfrm>
            <a:off x="594360" y="3959352"/>
            <a:ext cx="3401568" cy="64008"/>
          </a:xfrm>
          <a:prstGeom prst="rect">
            <a:avLst/>
          </a:prstGeom>
          <a:solidFill>
            <a:srgbClr val="F5B64B"/>
          </a:solidFill>
          <a:ln w="12700">
            <a:solidFill>
              <a:srgbClr val="333333">
                <a:alpha val="0"/>
              </a:srgbClr>
            </a:solidFill>
            <a:prstDash val="solid"/>
          </a:ln>
        </p:spPr>
      </p:sp>
      <p:sp>
        <p:nvSpPr>
          <p:cNvPr id="24" name="Text 20"/>
          <p:cNvSpPr/>
          <p:nvPr/>
        </p:nvSpPr>
        <p:spPr>
          <a:xfrm>
            <a:off x="758952" y="4105656"/>
            <a:ext cx="3072384" cy="256032"/>
          </a:xfrm>
          <a:prstGeom prst="rect">
            <a:avLst/>
          </a:prstGeom>
          <a:noFill/>
          <a:ln/>
        </p:spPr>
        <p:txBody>
          <a:bodyPr wrap="square" lIns="0" tIns="0" rIns="0" bIns="0" rtlCol="0" anchor="ctr">
            <a:normAutofit/>
          </a:bodyPr>
          <a:lstStyle/>
          <a:p>
            <a:pPr indent="0" marL="0">
              <a:buNone/>
            </a:pPr>
            <a:r>
              <a:rPr lang="en-US" sz="1040" b="1" dirty="0">
                <a:solidFill>
                  <a:srgbClr val="1B2A3D"/>
                </a:solidFill>
              </a:rPr>
              <a:t>Product Catalog</a:t>
            </a:r>
            <a:endParaRPr lang="en-US" sz="1040" dirty="0"/>
          </a:p>
        </p:txBody>
      </p:sp>
      <p:sp>
        <p:nvSpPr>
          <p:cNvPr id="25" name="Text 21"/>
          <p:cNvSpPr/>
          <p:nvPr/>
        </p:nvSpPr>
        <p:spPr>
          <a:xfrm>
            <a:off x="758952" y="4443984"/>
            <a:ext cx="3072384" cy="649224"/>
          </a:xfrm>
          <a:prstGeom prst="rect">
            <a:avLst/>
          </a:prstGeom>
          <a:noFill/>
          <a:ln/>
        </p:spPr>
        <p:txBody>
          <a:bodyPr wrap="square" lIns="0" tIns="0" rIns="0" bIns="0" rtlCol="0" anchor="t">
            <a:normAutofit/>
          </a:bodyPr>
          <a:lstStyle/>
          <a:p>
            <a:pPr indent="0" marL="0">
              <a:buNone/>
            </a:pPr>
            <a:r>
              <a:rPr lang="en-US" sz="940" dirty="0">
                <a:solidFill>
                  <a:srgbClr val="65758A"/>
                </a:solidFill>
              </a:rPr>
              <a:t>Which SKUs have active subscribers but no current rate mapping, stale pricing, or missing tax treatment?</a:t>
            </a:r>
            <a:endParaRPr lang="en-US" sz="940" dirty="0"/>
          </a:p>
        </p:txBody>
      </p:sp>
      <p:sp>
        <p:nvSpPr>
          <p:cNvPr id="26" name="Shape 22"/>
          <p:cNvSpPr/>
          <p:nvPr/>
        </p:nvSpPr>
        <p:spPr>
          <a:xfrm>
            <a:off x="4389120" y="3959352"/>
            <a:ext cx="3401568" cy="1252728"/>
          </a:xfrm>
          <a:prstGeom prst="roundRect">
            <a:avLst>
              <a:gd name="adj" fmla="val 5839"/>
            </a:avLst>
          </a:prstGeom>
          <a:solidFill>
            <a:srgbClr val="FFFFFF"/>
          </a:solidFill>
          <a:ln w="12700">
            <a:solidFill>
              <a:srgbClr val="D8E0EA"/>
            </a:solidFill>
            <a:prstDash val="solid"/>
          </a:ln>
        </p:spPr>
      </p:sp>
      <p:sp>
        <p:nvSpPr>
          <p:cNvPr id="27" name="Shape 23"/>
          <p:cNvSpPr/>
          <p:nvPr/>
        </p:nvSpPr>
        <p:spPr>
          <a:xfrm>
            <a:off x="4389120" y="3959352"/>
            <a:ext cx="3401568" cy="64008"/>
          </a:xfrm>
          <a:prstGeom prst="rect">
            <a:avLst/>
          </a:prstGeom>
          <a:solidFill>
            <a:srgbClr val="FC6120"/>
          </a:solidFill>
          <a:ln w="12700">
            <a:solidFill>
              <a:srgbClr val="333333">
                <a:alpha val="0"/>
              </a:srgbClr>
            </a:solidFill>
            <a:prstDash val="solid"/>
          </a:ln>
        </p:spPr>
      </p:sp>
      <p:sp>
        <p:nvSpPr>
          <p:cNvPr id="28" name="Text 24"/>
          <p:cNvSpPr/>
          <p:nvPr/>
        </p:nvSpPr>
        <p:spPr>
          <a:xfrm>
            <a:off x="4553712" y="4105656"/>
            <a:ext cx="3072384" cy="256032"/>
          </a:xfrm>
          <a:prstGeom prst="rect">
            <a:avLst/>
          </a:prstGeom>
          <a:noFill/>
          <a:ln/>
        </p:spPr>
        <p:txBody>
          <a:bodyPr wrap="square" lIns="0" tIns="0" rIns="0" bIns="0" rtlCol="0" anchor="ctr">
            <a:normAutofit/>
          </a:bodyPr>
          <a:lstStyle/>
          <a:p>
            <a:pPr indent="0" marL="0">
              <a:buNone/>
            </a:pPr>
            <a:r>
              <a:rPr lang="en-US" sz="1040" b="1" dirty="0">
                <a:solidFill>
                  <a:srgbClr val="1B2A3D"/>
                </a:solidFill>
              </a:rPr>
              <a:t>Channel Billing</a:t>
            </a:r>
            <a:endParaRPr lang="en-US" sz="1040" dirty="0"/>
          </a:p>
        </p:txBody>
      </p:sp>
      <p:sp>
        <p:nvSpPr>
          <p:cNvPr id="29" name="Text 25"/>
          <p:cNvSpPr/>
          <p:nvPr/>
        </p:nvSpPr>
        <p:spPr>
          <a:xfrm>
            <a:off x="4553712" y="4443984"/>
            <a:ext cx="3072384" cy="649224"/>
          </a:xfrm>
          <a:prstGeom prst="rect">
            <a:avLst/>
          </a:prstGeom>
          <a:noFill/>
          <a:ln/>
        </p:spPr>
        <p:txBody>
          <a:bodyPr wrap="square" lIns="0" tIns="0" rIns="0" bIns="0" rtlCol="0" anchor="t">
            <a:normAutofit/>
          </a:bodyPr>
          <a:lstStyle/>
          <a:p>
            <a:pPr indent="0" marL="0">
              <a:buNone/>
            </a:pPr>
            <a:r>
              <a:rPr lang="en-US" sz="940" dirty="0">
                <a:solidFill>
                  <a:srgbClr val="65758A"/>
                </a:solidFill>
              </a:rPr>
              <a:t>Find distributor and reseller accounts where wholesale and retail pricing appear misaligned.</a:t>
            </a:r>
            <a:endParaRPr lang="en-US" sz="940" dirty="0"/>
          </a:p>
        </p:txBody>
      </p:sp>
      <p:sp>
        <p:nvSpPr>
          <p:cNvPr id="30" name="Shape 26"/>
          <p:cNvSpPr/>
          <p:nvPr/>
        </p:nvSpPr>
        <p:spPr>
          <a:xfrm>
            <a:off x="8183880" y="3959352"/>
            <a:ext cx="3401568" cy="1252728"/>
          </a:xfrm>
          <a:prstGeom prst="roundRect">
            <a:avLst>
              <a:gd name="adj" fmla="val 5839"/>
            </a:avLst>
          </a:prstGeom>
          <a:solidFill>
            <a:srgbClr val="FFFFFF"/>
          </a:solidFill>
          <a:ln w="12700">
            <a:solidFill>
              <a:srgbClr val="D8E0EA"/>
            </a:solidFill>
            <a:prstDash val="solid"/>
          </a:ln>
        </p:spPr>
      </p:sp>
      <p:sp>
        <p:nvSpPr>
          <p:cNvPr id="31" name="Shape 27"/>
          <p:cNvSpPr/>
          <p:nvPr/>
        </p:nvSpPr>
        <p:spPr>
          <a:xfrm>
            <a:off x="8183880" y="3959352"/>
            <a:ext cx="3401568" cy="64008"/>
          </a:xfrm>
          <a:prstGeom prst="rect">
            <a:avLst/>
          </a:prstGeom>
          <a:solidFill>
            <a:srgbClr val="FF6B77"/>
          </a:solidFill>
          <a:ln w="12700">
            <a:solidFill>
              <a:srgbClr val="333333">
                <a:alpha val="0"/>
              </a:srgbClr>
            </a:solidFill>
            <a:prstDash val="solid"/>
          </a:ln>
        </p:spPr>
      </p:sp>
      <p:sp>
        <p:nvSpPr>
          <p:cNvPr id="32" name="Text 28"/>
          <p:cNvSpPr/>
          <p:nvPr/>
        </p:nvSpPr>
        <p:spPr>
          <a:xfrm>
            <a:off x="8348472" y="4105656"/>
            <a:ext cx="3072384" cy="256032"/>
          </a:xfrm>
          <a:prstGeom prst="rect">
            <a:avLst/>
          </a:prstGeom>
          <a:noFill/>
          <a:ln/>
        </p:spPr>
        <p:txBody>
          <a:bodyPr wrap="square" lIns="0" tIns="0" rIns="0" bIns="0" rtlCol="0" anchor="ctr">
            <a:normAutofit/>
          </a:bodyPr>
          <a:lstStyle/>
          <a:p>
            <a:pPr indent="0" marL="0">
              <a:buNone/>
            </a:pPr>
            <a:r>
              <a:rPr lang="en-US" sz="1040" b="1" dirty="0">
                <a:solidFill>
                  <a:srgbClr val="1B2A3D"/>
                </a:solidFill>
              </a:rPr>
              <a:t>Migration QA</a:t>
            </a:r>
            <a:endParaRPr lang="en-US" sz="1040" dirty="0"/>
          </a:p>
        </p:txBody>
      </p:sp>
      <p:sp>
        <p:nvSpPr>
          <p:cNvPr id="33" name="Text 29"/>
          <p:cNvSpPr/>
          <p:nvPr/>
        </p:nvSpPr>
        <p:spPr>
          <a:xfrm>
            <a:off x="8348472" y="4443984"/>
            <a:ext cx="3072384" cy="649224"/>
          </a:xfrm>
          <a:prstGeom prst="rect">
            <a:avLst/>
          </a:prstGeom>
          <a:noFill/>
          <a:ln/>
        </p:spPr>
        <p:txBody>
          <a:bodyPr wrap="square" lIns="0" tIns="0" rIns="0" bIns="0" rtlCol="0" anchor="t">
            <a:normAutofit/>
          </a:bodyPr>
          <a:lstStyle/>
          <a:p>
            <a:pPr indent="0" marL="0">
              <a:buNone/>
            </a:pPr>
            <a:r>
              <a:rPr lang="en-US" sz="940" dirty="0">
                <a:solidFill>
                  <a:srgbClr val="65758A"/>
                </a:solidFill>
              </a:rPr>
              <a:t>Compare pre-migration BRM charges against Rev.io-generated charges and explain every variance over threshold.</a:t>
            </a:r>
            <a:endParaRPr lang="en-US" sz="940" dirty="0"/>
          </a:p>
        </p:txBody>
      </p:sp>
      <p:sp>
        <p:nvSpPr>
          <p:cNvPr id="34" name="Text 30"/>
          <p:cNvSpPr/>
          <p:nvPr/>
        </p:nvSpPr>
        <p:spPr>
          <a:xfrm>
            <a:off x="530352" y="6473952"/>
            <a:ext cx="6583680" cy="164592"/>
          </a:xfrm>
          <a:prstGeom prst="rect">
            <a:avLst/>
          </a:prstGeom>
          <a:noFill/>
          <a:ln/>
        </p:spPr>
        <p:txBody>
          <a:bodyPr wrap="square" rtlCol="0" anchor="ctr"/>
          <a:lstStyle/>
          <a:p>
            <a:pPr indent="0" marL="0">
              <a:buNone/>
            </a:pPr>
            <a:r>
              <a:rPr lang="en-US" sz="750" dirty="0">
                <a:solidFill>
                  <a:srgbClr val="7A899C"/>
                </a:solidFill>
              </a:rPr>
              <a:t>Rev.io x Intermedia | Revii AI billing modernization | Confidential</a:t>
            </a:r>
            <a:endParaRPr lang="en-US" sz="750" dirty="0"/>
          </a:p>
        </p:txBody>
      </p:sp>
      <p:sp>
        <p:nvSpPr>
          <p:cNvPr id="35" name="Text 31"/>
          <p:cNvSpPr/>
          <p:nvPr/>
        </p:nvSpPr>
        <p:spPr>
          <a:xfrm>
            <a:off x="10652760" y="6473952"/>
            <a:ext cx="1005840" cy="164592"/>
          </a:xfrm>
          <a:prstGeom prst="rect">
            <a:avLst/>
          </a:prstGeom>
          <a:noFill/>
          <a:ln/>
        </p:spPr>
        <p:txBody>
          <a:bodyPr wrap="square" rtlCol="0" anchor="ctr"/>
          <a:lstStyle/>
          <a:p>
            <a:pPr algn="r" indent="0" marL="0">
              <a:buNone/>
            </a:pPr>
            <a:r>
              <a:rPr lang="en-US" sz="750" dirty="0">
                <a:solidFill>
                  <a:srgbClr val="7A899C"/>
                </a:solidFill>
              </a:rPr>
              <a:t>June 2026</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333333">
                <a:alpha val="0"/>
              </a:srgbClr>
            </a:solidFill>
            <a:prstDash val="solid"/>
          </a:ln>
        </p:spPr>
      </p:sp>
      <p:sp>
        <p:nvSpPr>
          <p:cNvPr id="3" name="Shape 1"/>
          <p:cNvSpPr/>
          <p:nvPr/>
        </p:nvSpPr>
        <p:spPr>
          <a:xfrm>
            <a:off x="0" y="0"/>
            <a:ext cx="0" cy="6858000"/>
          </a:xfrm>
          <a:prstGeom prst="line">
            <a:avLst/>
          </a:prstGeom>
          <a:noFill/>
          <a:ln w="12700">
            <a:solidFill>
              <a:srgbClr val="FFFFFF">
                <a:alpha val="4000"/>
              </a:srgbClr>
            </a:solidFill>
            <a:prstDash val="solid"/>
          </a:ln>
        </p:spPr>
      </p:sp>
      <p:sp>
        <p:nvSpPr>
          <p:cNvPr id="4" name="Shape 2"/>
          <p:cNvSpPr/>
          <p:nvPr/>
        </p:nvSpPr>
        <p:spPr>
          <a:xfrm>
            <a:off x="502920" y="0"/>
            <a:ext cx="0" cy="6858000"/>
          </a:xfrm>
          <a:prstGeom prst="line">
            <a:avLst/>
          </a:prstGeom>
          <a:noFill/>
          <a:ln w="12700">
            <a:solidFill>
              <a:srgbClr val="FFFFFF">
                <a:alpha val="4000"/>
              </a:srgbClr>
            </a:solidFill>
            <a:prstDash val="solid"/>
          </a:ln>
        </p:spPr>
      </p:sp>
      <p:sp>
        <p:nvSpPr>
          <p:cNvPr id="5" name="Shape 3"/>
          <p:cNvSpPr/>
          <p:nvPr/>
        </p:nvSpPr>
        <p:spPr>
          <a:xfrm>
            <a:off x="1005840" y="0"/>
            <a:ext cx="0" cy="6858000"/>
          </a:xfrm>
          <a:prstGeom prst="line">
            <a:avLst/>
          </a:prstGeom>
          <a:noFill/>
          <a:ln w="12700">
            <a:solidFill>
              <a:srgbClr val="FFFFFF">
                <a:alpha val="4000"/>
              </a:srgbClr>
            </a:solidFill>
            <a:prstDash val="solid"/>
          </a:ln>
        </p:spPr>
      </p:sp>
      <p:sp>
        <p:nvSpPr>
          <p:cNvPr id="6" name="Shape 4"/>
          <p:cNvSpPr/>
          <p:nvPr/>
        </p:nvSpPr>
        <p:spPr>
          <a:xfrm>
            <a:off x="1508760" y="0"/>
            <a:ext cx="0" cy="6858000"/>
          </a:xfrm>
          <a:prstGeom prst="line">
            <a:avLst/>
          </a:prstGeom>
          <a:noFill/>
          <a:ln w="12700">
            <a:solidFill>
              <a:srgbClr val="FFFFFF">
                <a:alpha val="4000"/>
              </a:srgbClr>
            </a:solidFill>
            <a:prstDash val="solid"/>
          </a:ln>
        </p:spPr>
      </p:sp>
      <p:sp>
        <p:nvSpPr>
          <p:cNvPr id="7" name="Shape 5"/>
          <p:cNvSpPr/>
          <p:nvPr/>
        </p:nvSpPr>
        <p:spPr>
          <a:xfrm>
            <a:off x="2011680" y="0"/>
            <a:ext cx="0" cy="6858000"/>
          </a:xfrm>
          <a:prstGeom prst="line">
            <a:avLst/>
          </a:prstGeom>
          <a:noFill/>
          <a:ln w="12700">
            <a:solidFill>
              <a:srgbClr val="FFFFFF">
                <a:alpha val="4000"/>
              </a:srgbClr>
            </a:solidFill>
            <a:prstDash val="solid"/>
          </a:ln>
        </p:spPr>
      </p:sp>
      <p:sp>
        <p:nvSpPr>
          <p:cNvPr id="8" name="Shape 6"/>
          <p:cNvSpPr/>
          <p:nvPr/>
        </p:nvSpPr>
        <p:spPr>
          <a:xfrm>
            <a:off x="2514600" y="0"/>
            <a:ext cx="0" cy="6858000"/>
          </a:xfrm>
          <a:prstGeom prst="line">
            <a:avLst/>
          </a:prstGeom>
          <a:noFill/>
          <a:ln w="12700">
            <a:solidFill>
              <a:srgbClr val="FFFFFF">
                <a:alpha val="4000"/>
              </a:srgbClr>
            </a:solidFill>
            <a:prstDash val="solid"/>
          </a:ln>
        </p:spPr>
      </p:sp>
      <p:sp>
        <p:nvSpPr>
          <p:cNvPr id="9" name="Shape 7"/>
          <p:cNvSpPr/>
          <p:nvPr/>
        </p:nvSpPr>
        <p:spPr>
          <a:xfrm>
            <a:off x="3017520" y="0"/>
            <a:ext cx="0" cy="6858000"/>
          </a:xfrm>
          <a:prstGeom prst="line">
            <a:avLst/>
          </a:prstGeom>
          <a:noFill/>
          <a:ln w="12700">
            <a:solidFill>
              <a:srgbClr val="FFFFFF">
                <a:alpha val="4000"/>
              </a:srgbClr>
            </a:solidFill>
            <a:prstDash val="solid"/>
          </a:ln>
        </p:spPr>
      </p:sp>
      <p:sp>
        <p:nvSpPr>
          <p:cNvPr id="10" name="Shape 8"/>
          <p:cNvSpPr/>
          <p:nvPr/>
        </p:nvSpPr>
        <p:spPr>
          <a:xfrm>
            <a:off x="3520440" y="0"/>
            <a:ext cx="0" cy="6858000"/>
          </a:xfrm>
          <a:prstGeom prst="line">
            <a:avLst/>
          </a:prstGeom>
          <a:noFill/>
          <a:ln w="12700">
            <a:solidFill>
              <a:srgbClr val="FFFFFF">
                <a:alpha val="4000"/>
              </a:srgbClr>
            </a:solidFill>
            <a:prstDash val="solid"/>
          </a:ln>
        </p:spPr>
      </p:sp>
      <p:sp>
        <p:nvSpPr>
          <p:cNvPr id="11" name="Shape 9"/>
          <p:cNvSpPr/>
          <p:nvPr/>
        </p:nvSpPr>
        <p:spPr>
          <a:xfrm>
            <a:off x="4023360" y="0"/>
            <a:ext cx="0" cy="6858000"/>
          </a:xfrm>
          <a:prstGeom prst="line">
            <a:avLst/>
          </a:prstGeom>
          <a:noFill/>
          <a:ln w="12700">
            <a:solidFill>
              <a:srgbClr val="FFFFFF">
                <a:alpha val="4000"/>
              </a:srgbClr>
            </a:solidFill>
            <a:prstDash val="solid"/>
          </a:ln>
        </p:spPr>
      </p:sp>
      <p:sp>
        <p:nvSpPr>
          <p:cNvPr id="12" name="Shape 10"/>
          <p:cNvSpPr/>
          <p:nvPr/>
        </p:nvSpPr>
        <p:spPr>
          <a:xfrm>
            <a:off x="4526280" y="0"/>
            <a:ext cx="0" cy="6858000"/>
          </a:xfrm>
          <a:prstGeom prst="line">
            <a:avLst/>
          </a:prstGeom>
          <a:noFill/>
          <a:ln w="12700">
            <a:solidFill>
              <a:srgbClr val="FFFFFF">
                <a:alpha val="4000"/>
              </a:srgbClr>
            </a:solidFill>
            <a:prstDash val="solid"/>
          </a:ln>
        </p:spPr>
      </p:sp>
      <p:sp>
        <p:nvSpPr>
          <p:cNvPr id="13" name="Shape 11"/>
          <p:cNvSpPr/>
          <p:nvPr/>
        </p:nvSpPr>
        <p:spPr>
          <a:xfrm>
            <a:off x="5029200" y="0"/>
            <a:ext cx="0" cy="6858000"/>
          </a:xfrm>
          <a:prstGeom prst="line">
            <a:avLst/>
          </a:prstGeom>
          <a:noFill/>
          <a:ln w="12700">
            <a:solidFill>
              <a:srgbClr val="FFFFFF">
                <a:alpha val="4000"/>
              </a:srgbClr>
            </a:solidFill>
            <a:prstDash val="solid"/>
          </a:ln>
        </p:spPr>
      </p:sp>
      <p:sp>
        <p:nvSpPr>
          <p:cNvPr id="14" name="Shape 12"/>
          <p:cNvSpPr/>
          <p:nvPr/>
        </p:nvSpPr>
        <p:spPr>
          <a:xfrm>
            <a:off x="5532120" y="0"/>
            <a:ext cx="0" cy="6858000"/>
          </a:xfrm>
          <a:prstGeom prst="line">
            <a:avLst/>
          </a:prstGeom>
          <a:noFill/>
          <a:ln w="12700">
            <a:solidFill>
              <a:srgbClr val="FFFFFF">
                <a:alpha val="4000"/>
              </a:srgbClr>
            </a:solidFill>
            <a:prstDash val="solid"/>
          </a:ln>
        </p:spPr>
      </p:sp>
      <p:sp>
        <p:nvSpPr>
          <p:cNvPr id="15" name="Shape 13"/>
          <p:cNvSpPr/>
          <p:nvPr/>
        </p:nvSpPr>
        <p:spPr>
          <a:xfrm>
            <a:off x="6035040" y="0"/>
            <a:ext cx="0" cy="6858000"/>
          </a:xfrm>
          <a:prstGeom prst="line">
            <a:avLst/>
          </a:prstGeom>
          <a:noFill/>
          <a:ln w="12700">
            <a:solidFill>
              <a:srgbClr val="FFFFFF">
                <a:alpha val="4000"/>
              </a:srgbClr>
            </a:solidFill>
            <a:prstDash val="solid"/>
          </a:ln>
        </p:spPr>
      </p:sp>
      <p:sp>
        <p:nvSpPr>
          <p:cNvPr id="16" name="Shape 14"/>
          <p:cNvSpPr/>
          <p:nvPr/>
        </p:nvSpPr>
        <p:spPr>
          <a:xfrm>
            <a:off x="6537960" y="0"/>
            <a:ext cx="0" cy="6858000"/>
          </a:xfrm>
          <a:prstGeom prst="line">
            <a:avLst/>
          </a:prstGeom>
          <a:noFill/>
          <a:ln w="12700">
            <a:solidFill>
              <a:srgbClr val="FFFFFF">
                <a:alpha val="4000"/>
              </a:srgbClr>
            </a:solidFill>
            <a:prstDash val="solid"/>
          </a:ln>
        </p:spPr>
      </p:sp>
      <p:sp>
        <p:nvSpPr>
          <p:cNvPr id="17" name="Shape 15"/>
          <p:cNvSpPr/>
          <p:nvPr/>
        </p:nvSpPr>
        <p:spPr>
          <a:xfrm>
            <a:off x="7040880" y="0"/>
            <a:ext cx="0" cy="6858000"/>
          </a:xfrm>
          <a:prstGeom prst="line">
            <a:avLst/>
          </a:prstGeom>
          <a:noFill/>
          <a:ln w="12700">
            <a:solidFill>
              <a:srgbClr val="FFFFFF">
                <a:alpha val="4000"/>
              </a:srgbClr>
            </a:solidFill>
            <a:prstDash val="solid"/>
          </a:ln>
        </p:spPr>
      </p:sp>
      <p:sp>
        <p:nvSpPr>
          <p:cNvPr id="18" name="Shape 16"/>
          <p:cNvSpPr/>
          <p:nvPr/>
        </p:nvSpPr>
        <p:spPr>
          <a:xfrm>
            <a:off x="7543800" y="0"/>
            <a:ext cx="0" cy="6858000"/>
          </a:xfrm>
          <a:prstGeom prst="line">
            <a:avLst/>
          </a:prstGeom>
          <a:noFill/>
          <a:ln w="12700">
            <a:solidFill>
              <a:srgbClr val="FFFFFF">
                <a:alpha val="4000"/>
              </a:srgbClr>
            </a:solidFill>
            <a:prstDash val="solid"/>
          </a:ln>
        </p:spPr>
      </p:sp>
      <p:sp>
        <p:nvSpPr>
          <p:cNvPr id="19" name="Shape 17"/>
          <p:cNvSpPr/>
          <p:nvPr/>
        </p:nvSpPr>
        <p:spPr>
          <a:xfrm>
            <a:off x="8046720" y="0"/>
            <a:ext cx="0" cy="6858000"/>
          </a:xfrm>
          <a:prstGeom prst="line">
            <a:avLst/>
          </a:prstGeom>
          <a:noFill/>
          <a:ln w="12700">
            <a:solidFill>
              <a:srgbClr val="FFFFFF">
                <a:alpha val="4000"/>
              </a:srgbClr>
            </a:solidFill>
            <a:prstDash val="solid"/>
          </a:ln>
        </p:spPr>
      </p:sp>
      <p:sp>
        <p:nvSpPr>
          <p:cNvPr id="20" name="Shape 18"/>
          <p:cNvSpPr/>
          <p:nvPr/>
        </p:nvSpPr>
        <p:spPr>
          <a:xfrm>
            <a:off x="8549640" y="0"/>
            <a:ext cx="0" cy="6858000"/>
          </a:xfrm>
          <a:prstGeom prst="line">
            <a:avLst/>
          </a:prstGeom>
          <a:noFill/>
          <a:ln w="12700">
            <a:solidFill>
              <a:srgbClr val="FFFFFF">
                <a:alpha val="4000"/>
              </a:srgbClr>
            </a:solidFill>
            <a:prstDash val="solid"/>
          </a:ln>
        </p:spPr>
      </p:sp>
      <p:sp>
        <p:nvSpPr>
          <p:cNvPr id="21" name="Shape 19"/>
          <p:cNvSpPr/>
          <p:nvPr/>
        </p:nvSpPr>
        <p:spPr>
          <a:xfrm>
            <a:off x="9052560" y="0"/>
            <a:ext cx="0" cy="6858000"/>
          </a:xfrm>
          <a:prstGeom prst="line">
            <a:avLst/>
          </a:prstGeom>
          <a:noFill/>
          <a:ln w="12700">
            <a:solidFill>
              <a:srgbClr val="FFFFFF">
                <a:alpha val="4000"/>
              </a:srgbClr>
            </a:solidFill>
            <a:prstDash val="solid"/>
          </a:ln>
        </p:spPr>
      </p:sp>
      <p:sp>
        <p:nvSpPr>
          <p:cNvPr id="22" name="Shape 20"/>
          <p:cNvSpPr/>
          <p:nvPr/>
        </p:nvSpPr>
        <p:spPr>
          <a:xfrm>
            <a:off x="9555480" y="0"/>
            <a:ext cx="0" cy="6858000"/>
          </a:xfrm>
          <a:prstGeom prst="line">
            <a:avLst/>
          </a:prstGeom>
          <a:noFill/>
          <a:ln w="12700">
            <a:solidFill>
              <a:srgbClr val="FFFFFF">
                <a:alpha val="4000"/>
              </a:srgbClr>
            </a:solidFill>
            <a:prstDash val="solid"/>
          </a:ln>
        </p:spPr>
      </p:sp>
      <p:sp>
        <p:nvSpPr>
          <p:cNvPr id="23" name="Shape 21"/>
          <p:cNvSpPr/>
          <p:nvPr/>
        </p:nvSpPr>
        <p:spPr>
          <a:xfrm>
            <a:off x="10058400" y="0"/>
            <a:ext cx="0" cy="6858000"/>
          </a:xfrm>
          <a:prstGeom prst="line">
            <a:avLst/>
          </a:prstGeom>
          <a:noFill/>
          <a:ln w="12700">
            <a:solidFill>
              <a:srgbClr val="FFFFFF">
                <a:alpha val="4000"/>
              </a:srgbClr>
            </a:solidFill>
            <a:prstDash val="solid"/>
          </a:ln>
        </p:spPr>
      </p:sp>
      <p:sp>
        <p:nvSpPr>
          <p:cNvPr id="24" name="Shape 22"/>
          <p:cNvSpPr/>
          <p:nvPr/>
        </p:nvSpPr>
        <p:spPr>
          <a:xfrm>
            <a:off x="10561320" y="0"/>
            <a:ext cx="0" cy="6858000"/>
          </a:xfrm>
          <a:prstGeom prst="line">
            <a:avLst/>
          </a:prstGeom>
          <a:noFill/>
          <a:ln w="12700">
            <a:solidFill>
              <a:srgbClr val="FFFFFF">
                <a:alpha val="4000"/>
              </a:srgbClr>
            </a:solidFill>
            <a:prstDash val="solid"/>
          </a:ln>
        </p:spPr>
      </p:sp>
      <p:sp>
        <p:nvSpPr>
          <p:cNvPr id="25" name="Shape 23"/>
          <p:cNvSpPr/>
          <p:nvPr/>
        </p:nvSpPr>
        <p:spPr>
          <a:xfrm>
            <a:off x="11064240" y="0"/>
            <a:ext cx="0" cy="6858000"/>
          </a:xfrm>
          <a:prstGeom prst="line">
            <a:avLst/>
          </a:prstGeom>
          <a:noFill/>
          <a:ln w="12700">
            <a:solidFill>
              <a:srgbClr val="FFFFFF">
                <a:alpha val="4000"/>
              </a:srgbClr>
            </a:solidFill>
            <a:prstDash val="solid"/>
          </a:ln>
        </p:spPr>
      </p:sp>
      <p:sp>
        <p:nvSpPr>
          <p:cNvPr id="26" name="Shape 24"/>
          <p:cNvSpPr/>
          <p:nvPr/>
        </p:nvSpPr>
        <p:spPr>
          <a:xfrm>
            <a:off x="11567160" y="0"/>
            <a:ext cx="0" cy="6858000"/>
          </a:xfrm>
          <a:prstGeom prst="line">
            <a:avLst/>
          </a:prstGeom>
          <a:noFill/>
          <a:ln w="12700">
            <a:solidFill>
              <a:srgbClr val="FFFFFF">
                <a:alpha val="4000"/>
              </a:srgbClr>
            </a:solidFill>
            <a:prstDash val="solid"/>
          </a:ln>
        </p:spPr>
      </p:sp>
      <p:sp>
        <p:nvSpPr>
          <p:cNvPr id="27" name="Shape 25"/>
          <p:cNvSpPr/>
          <p:nvPr/>
        </p:nvSpPr>
        <p:spPr>
          <a:xfrm>
            <a:off x="12070080" y="0"/>
            <a:ext cx="0" cy="6858000"/>
          </a:xfrm>
          <a:prstGeom prst="line">
            <a:avLst/>
          </a:prstGeom>
          <a:noFill/>
          <a:ln w="12700">
            <a:solidFill>
              <a:srgbClr val="FFFFFF">
                <a:alpha val="4000"/>
              </a:srgbClr>
            </a:solidFill>
            <a:prstDash val="solid"/>
          </a:ln>
        </p:spPr>
      </p:sp>
      <p:sp>
        <p:nvSpPr>
          <p:cNvPr id="28" name="Shape 26"/>
          <p:cNvSpPr/>
          <p:nvPr/>
        </p:nvSpPr>
        <p:spPr>
          <a:xfrm>
            <a:off x="0" y="0"/>
            <a:ext cx="12191695" cy="0"/>
          </a:xfrm>
          <a:prstGeom prst="line">
            <a:avLst/>
          </a:prstGeom>
          <a:noFill/>
          <a:ln w="12700">
            <a:solidFill>
              <a:srgbClr val="FFFFFF">
                <a:alpha val="4000"/>
              </a:srgbClr>
            </a:solidFill>
            <a:prstDash val="solid"/>
          </a:ln>
        </p:spPr>
      </p:sp>
      <p:sp>
        <p:nvSpPr>
          <p:cNvPr id="29" name="Shape 27"/>
          <p:cNvSpPr/>
          <p:nvPr/>
        </p:nvSpPr>
        <p:spPr>
          <a:xfrm>
            <a:off x="0" y="502920"/>
            <a:ext cx="12191695" cy="0"/>
          </a:xfrm>
          <a:prstGeom prst="line">
            <a:avLst/>
          </a:prstGeom>
          <a:noFill/>
          <a:ln w="12700">
            <a:solidFill>
              <a:srgbClr val="FFFFFF">
                <a:alpha val="4000"/>
              </a:srgbClr>
            </a:solidFill>
            <a:prstDash val="solid"/>
          </a:ln>
        </p:spPr>
      </p:sp>
      <p:sp>
        <p:nvSpPr>
          <p:cNvPr id="30" name="Shape 28"/>
          <p:cNvSpPr/>
          <p:nvPr/>
        </p:nvSpPr>
        <p:spPr>
          <a:xfrm>
            <a:off x="0" y="1005840"/>
            <a:ext cx="12191695" cy="0"/>
          </a:xfrm>
          <a:prstGeom prst="line">
            <a:avLst/>
          </a:prstGeom>
          <a:noFill/>
          <a:ln w="12700">
            <a:solidFill>
              <a:srgbClr val="FFFFFF">
                <a:alpha val="4000"/>
              </a:srgbClr>
            </a:solidFill>
            <a:prstDash val="solid"/>
          </a:ln>
        </p:spPr>
      </p:sp>
      <p:sp>
        <p:nvSpPr>
          <p:cNvPr id="31" name="Shape 29"/>
          <p:cNvSpPr/>
          <p:nvPr/>
        </p:nvSpPr>
        <p:spPr>
          <a:xfrm>
            <a:off x="0" y="1508760"/>
            <a:ext cx="12191695" cy="0"/>
          </a:xfrm>
          <a:prstGeom prst="line">
            <a:avLst/>
          </a:prstGeom>
          <a:noFill/>
          <a:ln w="12700">
            <a:solidFill>
              <a:srgbClr val="FFFFFF">
                <a:alpha val="4000"/>
              </a:srgbClr>
            </a:solidFill>
            <a:prstDash val="solid"/>
          </a:ln>
        </p:spPr>
      </p:sp>
      <p:sp>
        <p:nvSpPr>
          <p:cNvPr id="32" name="Shape 30"/>
          <p:cNvSpPr/>
          <p:nvPr/>
        </p:nvSpPr>
        <p:spPr>
          <a:xfrm>
            <a:off x="0" y="2011680"/>
            <a:ext cx="12191695" cy="0"/>
          </a:xfrm>
          <a:prstGeom prst="line">
            <a:avLst/>
          </a:prstGeom>
          <a:noFill/>
          <a:ln w="12700">
            <a:solidFill>
              <a:srgbClr val="FFFFFF">
                <a:alpha val="4000"/>
              </a:srgbClr>
            </a:solidFill>
            <a:prstDash val="solid"/>
          </a:ln>
        </p:spPr>
      </p:sp>
      <p:sp>
        <p:nvSpPr>
          <p:cNvPr id="33" name="Shape 31"/>
          <p:cNvSpPr/>
          <p:nvPr/>
        </p:nvSpPr>
        <p:spPr>
          <a:xfrm>
            <a:off x="0" y="2514600"/>
            <a:ext cx="12191695" cy="0"/>
          </a:xfrm>
          <a:prstGeom prst="line">
            <a:avLst/>
          </a:prstGeom>
          <a:noFill/>
          <a:ln w="12700">
            <a:solidFill>
              <a:srgbClr val="FFFFFF">
                <a:alpha val="4000"/>
              </a:srgbClr>
            </a:solidFill>
            <a:prstDash val="solid"/>
          </a:ln>
        </p:spPr>
      </p:sp>
      <p:sp>
        <p:nvSpPr>
          <p:cNvPr id="34" name="Shape 32"/>
          <p:cNvSpPr/>
          <p:nvPr/>
        </p:nvSpPr>
        <p:spPr>
          <a:xfrm>
            <a:off x="0" y="3017520"/>
            <a:ext cx="12191695" cy="0"/>
          </a:xfrm>
          <a:prstGeom prst="line">
            <a:avLst/>
          </a:prstGeom>
          <a:noFill/>
          <a:ln w="12700">
            <a:solidFill>
              <a:srgbClr val="FFFFFF">
                <a:alpha val="4000"/>
              </a:srgbClr>
            </a:solidFill>
            <a:prstDash val="solid"/>
          </a:ln>
        </p:spPr>
      </p:sp>
      <p:sp>
        <p:nvSpPr>
          <p:cNvPr id="35" name="Shape 33"/>
          <p:cNvSpPr/>
          <p:nvPr/>
        </p:nvSpPr>
        <p:spPr>
          <a:xfrm>
            <a:off x="0" y="3520440"/>
            <a:ext cx="12191695" cy="0"/>
          </a:xfrm>
          <a:prstGeom prst="line">
            <a:avLst/>
          </a:prstGeom>
          <a:noFill/>
          <a:ln w="12700">
            <a:solidFill>
              <a:srgbClr val="FFFFFF">
                <a:alpha val="4000"/>
              </a:srgbClr>
            </a:solidFill>
            <a:prstDash val="solid"/>
          </a:ln>
        </p:spPr>
      </p:sp>
      <p:sp>
        <p:nvSpPr>
          <p:cNvPr id="36" name="Shape 34"/>
          <p:cNvSpPr/>
          <p:nvPr/>
        </p:nvSpPr>
        <p:spPr>
          <a:xfrm>
            <a:off x="0" y="4023360"/>
            <a:ext cx="12191695" cy="0"/>
          </a:xfrm>
          <a:prstGeom prst="line">
            <a:avLst/>
          </a:prstGeom>
          <a:noFill/>
          <a:ln w="12700">
            <a:solidFill>
              <a:srgbClr val="FFFFFF">
                <a:alpha val="4000"/>
              </a:srgbClr>
            </a:solidFill>
            <a:prstDash val="solid"/>
          </a:ln>
        </p:spPr>
      </p:sp>
      <p:sp>
        <p:nvSpPr>
          <p:cNvPr id="37" name="Shape 35"/>
          <p:cNvSpPr/>
          <p:nvPr/>
        </p:nvSpPr>
        <p:spPr>
          <a:xfrm>
            <a:off x="0" y="4526280"/>
            <a:ext cx="12191695" cy="0"/>
          </a:xfrm>
          <a:prstGeom prst="line">
            <a:avLst/>
          </a:prstGeom>
          <a:noFill/>
          <a:ln w="12700">
            <a:solidFill>
              <a:srgbClr val="FFFFFF">
                <a:alpha val="4000"/>
              </a:srgbClr>
            </a:solidFill>
            <a:prstDash val="solid"/>
          </a:ln>
        </p:spPr>
      </p:sp>
      <p:sp>
        <p:nvSpPr>
          <p:cNvPr id="38" name="Shape 36"/>
          <p:cNvSpPr/>
          <p:nvPr/>
        </p:nvSpPr>
        <p:spPr>
          <a:xfrm>
            <a:off x="0" y="5029200"/>
            <a:ext cx="12191695" cy="0"/>
          </a:xfrm>
          <a:prstGeom prst="line">
            <a:avLst/>
          </a:prstGeom>
          <a:noFill/>
          <a:ln w="12700">
            <a:solidFill>
              <a:srgbClr val="FFFFFF">
                <a:alpha val="4000"/>
              </a:srgbClr>
            </a:solidFill>
            <a:prstDash val="solid"/>
          </a:ln>
        </p:spPr>
      </p:sp>
      <p:sp>
        <p:nvSpPr>
          <p:cNvPr id="39" name="Shape 37"/>
          <p:cNvSpPr/>
          <p:nvPr/>
        </p:nvSpPr>
        <p:spPr>
          <a:xfrm>
            <a:off x="0" y="5532120"/>
            <a:ext cx="12191695" cy="0"/>
          </a:xfrm>
          <a:prstGeom prst="line">
            <a:avLst/>
          </a:prstGeom>
          <a:noFill/>
          <a:ln w="12700">
            <a:solidFill>
              <a:srgbClr val="FFFFFF">
                <a:alpha val="4000"/>
              </a:srgbClr>
            </a:solidFill>
            <a:prstDash val="solid"/>
          </a:ln>
        </p:spPr>
      </p:sp>
      <p:sp>
        <p:nvSpPr>
          <p:cNvPr id="40" name="Shape 38"/>
          <p:cNvSpPr/>
          <p:nvPr/>
        </p:nvSpPr>
        <p:spPr>
          <a:xfrm>
            <a:off x="0" y="6035040"/>
            <a:ext cx="12191695" cy="0"/>
          </a:xfrm>
          <a:prstGeom prst="line">
            <a:avLst/>
          </a:prstGeom>
          <a:noFill/>
          <a:ln w="12700">
            <a:solidFill>
              <a:srgbClr val="FFFFFF">
                <a:alpha val="4000"/>
              </a:srgbClr>
            </a:solidFill>
            <a:prstDash val="solid"/>
          </a:ln>
        </p:spPr>
      </p:sp>
      <p:sp>
        <p:nvSpPr>
          <p:cNvPr id="41" name="Shape 39"/>
          <p:cNvSpPr/>
          <p:nvPr/>
        </p:nvSpPr>
        <p:spPr>
          <a:xfrm>
            <a:off x="0" y="6537960"/>
            <a:ext cx="12191695" cy="0"/>
          </a:xfrm>
          <a:prstGeom prst="line">
            <a:avLst/>
          </a:prstGeom>
          <a:noFill/>
          <a:ln w="12700">
            <a:solidFill>
              <a:srgbClr val="FFFFFF">
                <a:alpha val="4000"/>
              </a:srgbClr>
            </a:solidFill>
            <a:prstDash val="solid"/>
          </a:ln>
        </p:spPr>
      </p:sp>
      <p:sp>
        <p:nvSpPr>
          <p:cNvPr id="42" name="Shape 40"/>
          <p:cNvSpPr/>
          <p:nvPr/>
        </p:nvSpPr>
        <p:spPr>
          <a:xfrm>
            <a:off x="0" y="0"/>
            <a:ext cx="12191695" cy="6858000"/>
          </a:xfrm>
          <a:prstGeom prst="rect">
            <a:avLst/>
          </a:prstGeom>
          <a:solidFill>
            <a:srgbClr val="1667CC">
              <a:alpha val="6000"/>
            </a:srgbClr>
          </a:solidFill>
          <a:ln w="12700">
            <a:solidFill>
              <a:srgbClr val="333333">
                <a:alpha val="0"/>
              </a:srgbClr>
            </a:solidFill>
            <a:prstDash val="solid"/>
          </a:ln>
        </p:spPr>
      </p:sp>
      <p:pic>
        <p:nvPicPr>
          <p:cNvPr id="43" name="Image 0" descr="/home/openclaw/.openclaw/workspace/revio-logo.png">    </p:cNvPr>
          <p:cNvPicPr>
            <a:picLocks noChangeAspect="1"/>
          </p:cNvPicPr>
          <p:nvPr/>
        </p:nvPicPr>
        <p:blipFill>
          <a:blip r:embed="rId1"/>
          <a:stretch>
            <a:fillRect/>
          </a:stretch>
        </p:blipFill>
        <p:spPr>
          <a:xfrm>
            <a:off x="530352" y="320040"/>
            <a:ext cx="1307592" cy="320040"/>
          </a:xfrm>
          <a:prstGeom prst="rect">
            <a:avLst/>
          </a:prstGeom>
        </p:spPr>
      </p:pic>
      <p:sp>
        <p:nvSpPr>
          <p:cNvPr id="44" name="Shape 41"/>
          <p:cNvSpPr/>
          <p:nvPr/>
        </p:nvSpPr>
        <p:spPr>
          <a:xfrm>
            <a:off x="2057400" y="301752"/>
            <a:ext cx="0" cy="393192"/>
          </a:xfrm>
          <a:prstGeom prst="line">
            <a:avLst/>
          </a:prstGeom>
          <a:noFill/>
          <a:ln w="12700">
            <a:solidFill>
              <a:srgbClr val="FFFFFF">
                <a:alpha val="22000"/>
              </a:srgbClr>
            </a:solidFill>
            <a:prstDash val="solid"/>
          </a:ln>
        </p:spPr>
      </p:sp>
      <p:sp>
        <p:nvSpPr>
          <p:cNvPr id="45" name="Shape 42"/>
          <p:cNvSpPr/>
          <p:nvPr/>
        </p:nvSpPr>
        <p:spPr>
          <a:xfrm>
            <a:off x="2267712" y="265176"/>
            <a:ext cx="1444752" cy="438912"/>
          </a:xfrm>
          <a:prstGeom prst="roundRect">
            <a:avLst>
              <a:gd name="adj" fmla="val 12500"/>
            </a:avLst>
          </a:prstGeom>
          <a:solidFill>
            <a:srgbClr val="FFFFFF"/>
          </a:solidFill>
          <a:ln w="12700">
            <a:solidFill>
              <a:srgbClr val="333333">
                <a:alpha val="0"/>
              </a:srgbClr>
            </a:solidFill>
            <a:prstDash val="solid"/>
          </a:ln>
        </p:spPr>
      </p:sp>
      <p:pic>
        <p:nvPicPr>
          <p:cNvPr id="46" name="Image 1" descr="/home/openclaw/.openclaw/workspace/intermedia-logo.png">    </p:cNvPr>
          <p:cNvPicPr>
            <a:picLocks noChangeAspect="1"/>
          </p:cNvPicPr>
          <p:nvPr/>
        </p:nvPicPr>
        <p:blipFill>
          <a:blip r:embed="rId2"/>
          <a:stretch>
            <a:fillRect/>
          </a:stretch>
        </p:blipFill>
        <p:spPr>
          <a:xfrm>
            <a:off x="2395728" y="347472"/>
            <a:ext cx="1188720" cy="265176"/>
          </a:xfrm>
          <a:prstGeom prst="rect">
            <a:avLst/>
          </a:prstGeom>
        </p:spPr>
      </p:pic>
      <p:sp>
        <p:nvSpPr>
          <p:cNvPr id="47" name="Text 43"/>
          <p:cNvSpPr/>
          <p:nvPr/>
        </p:nvSpPr>
        <p:spPr>
          <a:xfrm>
            <a:off x="530352" y="786384"/>
            <a:ext cx="4023360" cy="201168"/>
          </a:xfrm>
          <a:prstGeom prst="rect">
            <a:avLst/>
          </a:prstGeom>
          <a:noFill/>
          <a:ln/>
        </p:spPr>
        <p:txBody>
          <a:bodyPr wrap="square" rtlCol="0" anchor="ctr"/>
          <a:lstStyle/>
          <a:p>
            <a:pPr indent="0" marL="0">
              <a:buNone/>
            </a:pPr>
            <a:r>
              <a:rPr lang="en-US" sz="850" b="1" dirty="0">
                <a:solidFill>
                  <a:srgbClr val="2499B6"/>
                </a:solidFill>
              </a:rPr>
              <a:t>BUSINESS CASE</a:t>
            </a:r>
            <a:endParaRPr lang="en-US" sz="850" dirty="0"/>
          </a:p>
        </p:txBody>
      </p:sp>
      <p:sp>
        <p:nvSpPr>
          <p:cNvPr id="48" name="Text 44"/>
          <p:cNvSpPr/>
          <p:nvPr/>
        </p:nvSpPr>
        <p:spPr>
          <a:xfrm>
            <a:off x="530352" y="1051560"/>
            <a:ext cx="6949440" cy="658368"/>
          </a:xfrm>
          <a:prstGeom prst="rect">
            <a:avLst/>
          </a:prstGeom>
          <a:noFill/>
          <a:ln/>
        </p:spPr>
        <p:txBody>
          <a:bodyPr wrap="square" lIns="0" tIns="0" rIns="0" bIns="0" rtlCol="0" anchor="ctr">
            <a:normAutofit/>
          </a:bodyPr>
          <a:lstStyle/>
          <a:p>
            <a:pPr indent="0" marL="0">
              <a:buNone/>
            </a:pPr>
            <a:r>
              <a:rPr lang="en-US" sz="2700" b="1" dirty="0">
                <a:solidFill>
                  <a:srgbClr val="FFFFFF"/>
                </a:solidFill>
              </a:rPr>
              <a:t>This is revenue protection, not chatbot theater.</a:t>
            </a:r>
            <a:endParaRPr lang="en-US" sz="2700" dirty="0"/>
          </a:p>
        </p:txBody>
      </p:sp>
      <p:sp>
        <p:nvSpPr>
          <p:cNvPr id="49" name="Text 45"/>
          <p:cNvSpPr/>
          <p:nvPr/>
        </p:nvSpPr>
        <p:spPr>
          <a:xfrm>
            <a:off x="530352" y="1783080"/>
            <a:ext cx="7772400" cy="420624"/>
          </a:xfrm>
          <a:prstGeom prst="rect">
            <a:avLst/>
          </a:prstGeom>
          <a:noFill/>
          <a:ln/>
        </p:spPr>
        <p:txBody>
          <a:bodyPr wrap="square" lIns="0" tIns="0" rIns="0" bIns="0" rtlCol="0" anchor="ctr">
            <a:normAutofit/>
          </a:bodyPr>
          <a:lstStyle/>
          <a:p>
            <a:pPr indent="0" marL="0">
              <a:buNone/>
            </a:pPr>
            <a:r>
              <a:rPr lang="en-US" sz="1060" dirty="0">
                <a:solidFill>
                  <a:srgbClr val="B9C7D8"/>
                </a:solidFill>
              </a:rPr>
              <a:t>At Intermedia scale, the ROI case is preventing small percentages of leakage, reducing engineering drag, and giving leadership one billing dataset for AI reporting.</a:t>
            </a:r>
            <a:endParaRPr lang="en-US" sz="1060" dirty="0"/>
          </a:p>
        </p:txBody>
      </p:sp>
      <p:sp>
        <p:nvSpPr>
          <p:cNvPr id="50" name="Shape 46"/>
          <p:cNvSpPr/>
          <p:nvPr/>
        </p:nvSpPr>
        <p:spPr>
          <a:xfrm>
            <a:off x="685800" y="2286000"/>
            <a:ext cx="2468880" cy="841248"/>
          </a:xfrm>
          <a:prstGeom prst="roundRect">
            <a:avLst>
              <a:gd name="adj" fmla="val 8696"/>
            </a:avLst>
          </a:prstGeom>
          <a:solidFill>
            <a:srgbClr val="101A2A"/>
          </a:solidFill>
          <a:ln w="12700">
            <a:solidFill>
              <a:srgbClr val="26374F"/>
            </a:solidFill>
            <a:prstDash val="solid"/>
          </a:ln>
        </p:spPr>
      </p:sp>
      <p:sp>
        <p:nvSpPr>
          <p:cNvPr id="51" name="Text 47"/>
          <p:cNvSpPr/>
          <p:nvPr/>
        </p:nvSpPr>
        <p:spPr>
          <a:xfrm>
            <a:off x="795528" y="2404872"/>
            <a:ext cx="2249424" cy="256032"/>
          </a:xfrm>
          <a:prstGeom prst="rect">
            <a:avLst/>
          </a:prstGeom>
          <a:noFill/>
          <a:ln/>
        </p:spPr>
        <p:txBody>
          <a:bodyPr wrap="square" lIns="0" tIns="0" rIns="0" bIns="0" rtlCol="0" anchor="ctr">
            <a:normAutofit/>
          </a:bodyPr>
          <a:lstStyle/>
          <a:p>
            <a:pPr algn="ctr" indent="0" marL="0">
              <a:buNone/>
            </a:pPr>
            <a:r>
              <a:rPr lang="en-US" sz="1900" b="1" dirty="0">
                <a:solidFill>
                  <a:srgbClr val="6EBE4F"/>
                </a:solidFill>
              </a:rPr>
              <a:t>$439.23M</a:t>
            </a:r>
            <a:endParaRPr lang="en-US" sz="1900" dirty="0"/>
          </a:p>
        </p:txBody>
      </p:sp>
      <p:sp>
        <p:nvSpPr>
          <p:cNvPr id="52" name="Text 48"/>
          <p:cNvSpPr/>
          <p:nvPr/>
        </p:nvSpPr>
        <p:spPr>
          <a:xfrm>
            <a:off x="795528" y="2761488"/>
            <a:ext cx="2249424" cy="164592"/>
          </a:xfrm>
          <a:prstGeom prst="rect">
            <a:avLst/>
          </a:prstGeom>
          <a:noFill/>
          <a:ln/>
        </p:spPr>
        <p:txBody>
          <a:bodyPr wrap="square" lIns="0" tIns="0" rIns="0" bIns="0" rtlCol="0" anchor="ctr">
            <a:normAutofit/>
          </a:bodyPr>
          <a:lstStyle/>
          <a:p>
            <a:pPr algn="ctr" indent="0" marL="0">
              <a:buNone/>
            </a:pPr>
            <a:r>
              <a:rPr lang="en-US" sz="670" b="1" dirty="0">
                <a:solidFill>
                  <a:srgbClr val="91A2B8"/>
                </a:solidFill>
              </a:rPr>
              <a:t>ARR ASSUMPTION</a:t>
            </a:r>
            <a:endParaRPr lang="en-US" sz="670" dirty="0"/>
          </a:p>
        </p:txBody>
      </p:sp>
      <p:sp>
        <p:nvSpPr>
          <p:cNvPr id="53" name="Shape 49"/>
          <p:cNvSpPr/>
          <p:nvPr/>
        </p:nvSpPr>
        <p:spPr>
          <a:xfrm>
            <a:off x="3429000" y="2286000"/>
            <a:ext cx="2468880" cy="841248"/>
          </a:xfrm>
          <a:prstGeom prst="roundRect">
            <a:avLst>
              <a:gd name="adj" fmla="val 8696"/>
            </a:avLst>
          </a:prstGeom>
          <a:solidFill>
            <a:srgbClr val="101A2A"/>
          </a:solidFill>
          <a:ln w="12700">
            <a:solidFill>
              <a:srgbClr val="26374F"/>
            </a:solidFill>
            <a:prstDash val="solid"/>
          </a:ln>
        </p:spPr>
      </p:sp>
      <p:sp>
        <p:nvSpPr>
          <p:cNvPr id="54" name="Text 50"/>
          <p:cNvSpPr/>
          <p:nvPr/>
        </p:nvSpPr>
        <p:spPr>
          <a:xfrm>
            <a:off x="3538728" y="2404872"/>
            <a:ext cx="2249424" cy="256032"/>
          </a:xfrm>
          <a:prstGeom prst="rect">
            <a:avLst/>
          </a:prstGeom>
          <a:noFill/>
          <a:ln/>
        </p:spPr>
        <p:txBody>
          <a:bodyPr wrap="square" lIns="0" tIns="0" rIns="0" bIns="0" rtlCol="0" anchor="ctr">
            <a:normAutofit/>
          </a:bodyPr>
          <a:lstStyle/>
          <a:p>
            <a:pPr algn="ctr" indent="0" marL="0">
              <a:buNone/>
            </a:pPr>
            <a:r>
              <a:rPr lang="en-US" sz="1900" b="1" dirty="0">
                <a:solidFill>
                  <a:srgbClr val="1667CC"/>
                </a:solidFill>
              </a:rPr>
              <a:t>$1.22M</a:t>
            </a:r>
            <a:endParaRPr lang="en-US" sz="1900" dirty="0"/>
          </a:p>
        </p:txBody>
      </p:sp>
      <p:sp>
        <p:nvSpPr>
          <p:cNvPr id="55" name="Text 51"/>
          <p:cNvSpPr/>
          <p:nvPr/>
        </p:nvSpPr>
        <p:spPr>
          <a:xfrm>
            <a:off x="3538728" y="2761488"/>
            <a:ext cx="2249424" cy="164592"/>
          </a:xfrm>
          <a:prstGeom prst="rect">
            <a:avLst/>
          </a:prstGeom>
          <a:noFill/>
          <a:ln/>
        </p:spPr>
        <p:txBody>
          <a:bodyPr wrap="square" lIns="0" tIns="0" rIns="0" bIns="0" rtlCol="0" anchor="ctr">
            <a:normAutofit/>
          </a:bodyPr>
          <a:lstStyle/>
          <a:p>
            <a:pPr algn="ctr" indent="0" marL="0">
              <a:buNone/>
            </a:pPr>
            <a:r>
              <a:rPr lang="en-US" sz="670" b="1" dirty="0">
                <a:solidFill>
                  <a:srgbClr val="91A2B8"/>
                </a:solidFill>
              </a:rPr>
              <a:t>YEAR 1 REV.IO INVESTMENT</a:t>
            </a:r>
            <a:endParaRPr lang="en-US" sz="670" dirty="0"/>
          </a:p>
        </p:txBody>
      </p:sp>
      <p:sp>
        <p:nvSpPr>
          <p:cNvPr id="56" name="Shape 52"/>
          <p:cNvSpPr/>
          <p:nvPr/>
        </p:nvSpPr>
        <p:spPr>
          <a:xfrm>
            <a:off x="6172200" y="2286000"/>
            <a:ext cx="2468880" cy="841248"/>
          </a:xfrm>
          <a:prstGeom prst="roundRect">
            <a:avLst>
              <a:gd name="adj" fmla="val 8696"/>
            </a:avLst>
          </a:prstGeom>
          <a:solidFill>
            <a:srgbClr val="101A2A"/>
          </a:solidFill>
          <a:ln w="12700">
            <a:solidFill>
              <a:srgbClr val="26374F"/>
            </a:solidFill>
            <a:prstDash val="solid"/>
          </a:ln>
        </p:spPr>
      </p:sp>
      <p:sp>
        <p:nvSpPr>
          <p:cNvPr id="57" name="Text 53"/>
          <p:cNvSpPr/>
          <p:nvPr/>
        </p:nvSpPr>
        <p:spPr>
          <a:xfrm>
            <a:off x="6281928" y="2404872"/>
            <a:ext cx="2249424" cy="256032"/>
          </a:xfrm>
          <a:prstGeom prst="rect">
            <a:avLst/>
          </a:prstGeom>
          <a:noFill/>
          <a:ln/>
        </p:spPr>
        <p:txBody>
          <a:bodyPr wrap="square" lIns="0" tIns="0" rIns="0" bIns="0" rtlCol="0" anchor="ctr">
            <a:normAutofit/>
          </a:bodyPr>
          <a:lstStyle/>
          <a:p>
            <a:pPr algn="ctr" indent="0" marL="0">
              <a:buNone/>
            </a:pPr>
            <a:r>
              <a:rPr lang="en-US" sz="1900" b="1" dirty="0">
                <a:solidFill>
                  <a:srgbClr val="FC6120"/>
                </a:solidFill>
              </a:rPr>
              <a:t>0.28%</a:t>
            </a:r>
            <a:endParaRPr lang="en-US" sz="1900" dirty="0"/>
          </a:p>
        </p:txBody>
      </p:sp>
      <p:sp>
        <p:nvSpPr>
          <p:cNvPr id="58" name="Text 54"/>
          <p:cNvSpPr/>
          <p:nvPr/>
        </p:nvSpPr>
        <p:spPr>
          <a:xfrm>
            <a:off x="6281928" y="2761488"/>
            <a:ext cx="2249424" cy="164592"/>
          </a:xfrm>
          <a:prstGeom prst="rect">
            <a:avLst/>
          </a:prstGeom>
          <a:noFill/>
          <a:ln/>
        </p:spPr>
        <p:txBody>
          <a:bodyPr wrap="square" lIns="0" tIns="0" rIns="0" bIns="0" rtlCol="0" anchor="ctr">
            <a:normAutofit/>
          </a:bodyPr>
          <a:lstStyle/>
          <a:p>
            <a:pPr algn="ctr" indent="0" marL="0">
              <a:buNone/>
            </a:pPr>
            <a:r>
              <a:rPr lang="en-US" sz="670" b="1" dirty="0">
                <a:solidFill>
                  <a:srgbClr val="91A2B8"/>
                </a:solidFill>
              </a:rPr>
              <a:t>LEAKAGE PREVENTION OFFSETS INVESTMENT</a:t>
            </a:r>
            <a:endParaRPr lang="en-US" sz="670" dirty="0"/>
          </a:p>
        </p:txBody>
      </p:sp>
      <p:sp>
        <p:nvSpPr>
          <p:cNvPr id="59" name="Shape 55"/>
          <p:cNvSpPr/>
          <p:nvPr/>
        </p:nvSpPr>
        <p:spPr>
          <a:xfrm>
            <a:off x="8915400" y="2286000"/>
            <a:ext cx="2468880" cy="841248"/>
          </a:xfrm>
          <a:prstGeom prst="roundRect">
            <a:avLst>
              <a:gd name="adj" fmla="val 8696"/>
            </a:avLst>
          </a:prstGeom>
          <a:solidFill>
            <a:srgbClr val="101A2A"/>
          </a:solidFill>
          <a:ln w="12700">
            <a:solidFill>
              <a:srgbClr val="26374F"/>
            </a:solidFill>
            <a:prstDash val="solid"/>
          </a:ln>
        </p:spPr>
      </p:sp>
      <p:sp>
        <p:nvSpPr>
          <p:cNvPr id="60" name="Text 56"/>
          <p:cNvSpPr/>
          <p:nvPr/>
        </p:nvSpPr>
        <p:spPr>
          <a:xfrm>
            <a:off x="9025128" y="2404872"/>
            <a:ext cx="2249424" cy="256032"/>
          </a:xfrm>
          <a:prstGeom prst="rect">
            <a:avLst/>
          </a:prstGeom>
          <a:noFill/>
          <a:ln/>
        </p:spPr>
        <p:txBody>
          <a:bodyPr wrap="square" lIns="0" tIns="0" rIns="0" bIns="0" rtlCol="0" anchor="ctr">
            <a:normAutofit/>
          </a:bodyPr>
          <a:lstStyle/>
          <a:p>
            <a:pPr algn="ctr" indent="0" marL="0">
              <a:buNone/>
            </a:pPr>
            <a:r>
              <a:rPr lang="en-US" sz="1900" b="1" dirty="0">
                <a:solidFill>
                  <a:srgbClr val="2499B6"/>
                </a:solidFill>
              </a:rPr>
              <a:t>1</a:t>
            </a:r>
            <a:endParaRPr lang="en-US" sz="1900" dirty="0"/>
          </a:p>
        </p:txBody>
      </p:sp>
      <p:sp>
        <p:nvSpPr>
          <p:cNvPr id="61" name="Text 57"/>
          <p:cNvSpPr/>
          <p:nvPr/>
        </p:nvSpPr>
        <p:spPr>
          <a:xfrm>
            <a:off x="9025128" y="2761488"/>
            <a:ext cx="2249424" cy="164592"/>
          </a:xfrm>
          <a:prstGeom prst="rect">
            <a:avLst/>
          </a:prstGeom>
          <a:noFill/>
          <a:ln/>
        </p:spPr>
        <p:txBody>
          <a:bodyPr wrap="square" lIns="0" tIns="0" rIns="0" bIns="0" rtlCol="0" anchor="ctr">
            <a:normAutofit/>
          </a:bodyPr>
          <a:lstStyle/>
          <a:p>
            <a:pPr algn="ctr" indent="0" marL="0">
              <a:buNone/>
            </a:pPr>
            <a:r>
              <a:rPr lang="en-US" sz="670" b="1" dirty="0">
                <a:solidFill>
                  <a:srgbClr val="91A2B8"/>
                </a:solidFill>
              </a:rPr>
              <a:t>BILLING INTELLIGENCE LAYER</a:t>
            </a:r>
            <a:endParaRPr lang="en-US" sz="670" dirty="0"/>
          </a:p>
        </p:txBody>
      </p:sp>
      <p:sp>
        <p:nvSpPr>
          <p:cNvPr id="62" name="Shape 58"/>
          <p:cNvSpPr/>
          <p:nvPr/>
        </p:nvSpPr>
        <p:spPr>
          <a:xfrm>
            <a:off x="868680" y="3886200"/>
            <a:ext cx="3383280" cy="1325880"/>
          </a:xfrm>
          <a:prstGeom prst="roundRect">
            <a:avLst>
              <a:gd name="adj" fmla="val 5517"/>
            </a:avLst>
          </a:prstGeom>
          <a:solidFill>
            <a:srgbClr val="101A2A"/>
          </a:solidFill>
          <a:ln w="12700">
            <a:solidFill>
              <a:srgbClr val="26374F"/>
            </a:solidFill>
            <a:prstDash val="solid"/>
          </a:ln>
        </p:spPr>
      </p:sp>
      <p:sp>
        <p:nvSpPr>
          <p:cNvPr id="63" name="Shape 59"/>
          <p:cNvSpPr/>
          <p:nvPr/>
        </p:nvSpPr>
        <p:spPr>
          <a:xfrm>
            <a:off x="868680" y="3886200"/>
            <a:ext cx="3383280" cy="64008"/>
          </a:xfrm>
          <a:prstGeom prst="rect">
            <a:avLst/>
          </a:prstGeom>
          <a:solidFill>
            <a:srgbClr val="6EBE4F"/>
          </a:solidFill>
          <a:ln w="12700">
            <a:solidFill>
              <a:srgbClr val="333333">
                <a:alpha val="0"/>
              </a:srgbClr>
            </a:solidFill>
            <a:prstDash val="solid"/>
          </a:ln>
        </p:spPr>
      </p:sp>
      <p:sp>
        <p:nvSpPr>
          <p:cNvPr id="64" name="Text 60"/>
          <p:cNvSpPr/>
          <p:nvPr/>
        </p:nvSpPr>
        <p:spPr>
          <a:xfrm>
            <a:off x="1033272" y="4032504"/>
            <a:ext cx="3054096" cy="256032"/>
          </a:xfrm>
          <a:prstGeom prst="rect">
            <a:avLst/>
          </a:prstGeom>
          <a:noFill/>
          <a:ln/>
        </p:spPr>
        <p:txBody>
          <a:bodyPr wrap="square" lIns="0" tIns="0" rIns="0" bIns="0" rtlCol="0" anchor="ctr">
            <a:normAutofit/>
          </a:bodyPr>
          <a:lstStyle/>
          <a:p>
            <a:pPr indent="0" marL="0">
              <a:buNone/>
            </a:pPr>
            <a:r>
              <a:rPr lang="en-US" sz="1120" b="1" dirty="0">
                <a:solidFill>
                  <a:srgbClr val="FFFFFF"/>
                </a:solidFill>
              </a:rPr>
              <a:t>Protect recurring revenue</a:t>
            </a:r>
            <a:endParaRPr lang="en-US" sz="1120" dirty="0"/>
          </a:p>
        </p:txBody>
      </p:sp>
      <p:sp>
        <p:nvSpPr>
          <p:cNvPr id="65" name="Text 61"/>
          <p:cNvSpPr/>
          <p:nvPr/>
        </p:nvSpPr>
        <p:spPr>
          <a:xfrm>
            <a:off x="1033272" y="4370832"/>
            <a:ext cx="3054096" cy="722376"/>
          </a:xfrm>
          <a:prstGeom prst="rect">
            <a:avLst/>
          </a:prstGeom>
          <a:noFill/>
          <a:ln/>
        </p:spPr>
        <p:txBody>
          <a:bodyPr wrap="square" lIns="0" tIns="0" rIns="0" bIns="0" rtlCol="0" anchor="t">
            <a:normAutofit/>
          </a:bodyPr>
          <a:lstStyle/>
          <a:p>
            <a:pPr indent="0" marL="0">
              <a:buNone/>
            </a:pPr>
            <a:r>
              <a:rPr lang="en-US" sz="880" dirty="0">
                <a:solidFill>
                  <a:srgbClr val="91A2B8"/>
                </a:solidFill>
              </a:rPr>
              <a:t>Revii watches for usage without charges, mismatched retail/wholesale pricing, stale SKUs, and reconciliation drift.</a:t>
            </a:r>
            <a:endParaRPr lang="en-US" sz="880" dirty="0"/>
          </a:p>
        </p:txBody>
      </p:sp>
      <p:sp>
        <p:nvSpPr>
          <p:cNvPr id="66" name="Shape 62"/>
          <p:cNvSpPr/>
          <p:nvPr/>
        </p:nvSpPr>
        <p:spPr>
          <a:xfrm>
            <a:off x="4407408" y="3886200"/>
            <a:ext cx="3383280" cy="1325880"/>
          </a:xfrm>
          <a:prstGeom prst="roundRect">
            <a:avLst>
              <a:gd name="adj" fmla="val 5517"/>
            </a:avLst>
          </a:prstGeom>
          <a:solidFill>
            <a:srgbClr val="101A2A"/>
          </a:solidFill>
          <a:ln w="12700">
            <a:solidFill>
              <a:srgbClr val="26374F"/>
            </a:solidFill>
            <a:prstDash val="solid"/>
          </a:ln>
        </p:spPr>
      </p:sp>
      <p:sp>
        <p:nvSpPr>
          <p:cNvPr id="67" name="Shape 63"/>
          <p:cNvSpPr/>
          <p:nvPr/>
        </p:nvSpPr>
        <p:spPr>
          <a:xfrm>
            <a:off x="4407408" y="3886200"/>
            <a:ext cx="3383280" cy="64008"/>
          </a:xfrm>
          <a:prstGeom prst="rect">
            <a:avLst/>
          </a:prstGeom>
          <a:solidFill>
            <a:srgbClr val="1667CC"/>
          </a:solidFill>
          <a:ln w="12700">
            <a:solidFill>
              <a:srgbClr val="333333">
                <a:alpha val="0"/>
              </a:srgbClr>
            </a:solidFill>
            <a:prstDash val="solid"/>
          </a:ln>
        </p:spPr>
      </p:sp>
      <p:sp>
        <p:nvSpPr>
          <p:cNvPr id="68" name="Text 64"/>
          <p:cNvSpPr/>
          <p:nvPr/>
        </p:nvSpPr>
        <p:spPr>
          <a:xfrm>
            <a:off x="4572000" y="4032504"/>
            <a:ext cx="3054096" cy="256032"/>
          </a:xfrm>
          <a:prstGeom prst="rect">
            <a:avLst/>
          </a:prstGeom>
          <a:noFill/>
          <a:ln/>
        </p:spPr>
        <p:txBody>
          <a:bodyPr wrap="square" lIns="0" tIns="0" rIns="0" bIns="0" rtlCol="0" anchor="ctr">
            <a:normAutofit/>
          </a:bodyPr>
          <a:lstStyle/>
          <a:p>
            <a:pPr indent="0" marL="0">
              <a:buNone/>
            </a:pPr>
            <a:r>
              <a:rPr lang="en-US" sz="1120" b="1" dirty="0">
                <a:solidFill>
                  <a:srgbClr val="FFFFFF"/>
                </a:solidFill>
              </a:rPr>
              <a:t>Free engineering capacity</a:t>
            </a:r>
            <a:endParaRPr lang="en-US" sz="1120" dirty="0"/>
          </a:p>
        </p:txBody>
      </p:sp>
      <p:sp>
        <p:nvSpPr>
          <p:cNvPr id="69" name="Text 65"/>
          <p:cNvSpPr/>
          <p:nvPr/>
        </p:nvSpPr>
        <p:spPr>
          <a:xfrm>
            <a:off x="4572000" y="4370832"/>
            <a:ext cx="3054096" cy="722376"/>
          </a:xfrm>
          <a:prstGeom prst="rect">
            <a:avLst/>
          </a:prstGeom>
          <a:noFill/>
          <a:ln/>
        </p:spPr>
        <p:txBody>
          <a:bodyPr wrap="square" lIns="0" tIns="0" rIns="0" bIns="0" rtlCol="0" anchor="t">
            <a:normAutofit/>
          </a:bodyPr>
          <a:lstStyle/>
          <a:p>
            <a:pPr indent="0" marL="0">
              <a:buNone/>
            </a:pPr>
            <a:r>
              <a:rPr lang="en-US" sz="880" dirty="0">
                <a:solidFill>
                  <a:srgbClr val="91A2B8"/>
                </a:solidFill>
              </a:rPr>
              <a:t>Engineers stop being the reporting layer for billing exceptions and legacy system mysteries.</a:t>
            </a:r>
            <a:endParaRPr lang="en-US" sz="880" dirty="0"/>
          </a:p>
        </p:txBody>
      </p:sp>
      <p:sp>
        <p:nvSpPr>
          <p:cNvPr id="70" name="Shape 66"/>
          <p:cNvSpPr/>
          <p:nvPr/>
        </p:nvSpPr>
        <p:spPr>
          <a:xfrm>
            <a:off x="7936992" y="3886200"/>
            <a:ext cx="3383280" cy="1325880"/>
          </a:xfrm>
          <a:prstGeom prst="roundRect">
            <a:avLst>
              <a:gd name="adj" fmla="val 5517"/>
            </a:avLst>
          </a:prstGeom>
          <a:solidFill>
            <a:srgbClr val="101A2A"/>
          </a:solidFill>
          <a:ln w="12700">
            <a:solidFill>
              <a:srgbClr val="26374F"/>
            </a:solidFill>
            <a:prstDash val="solid"/>
          </a:ln>
        </p:spPr>
      </p:sp>
      <p:sp>
        <p:nvSpPr>
          <p:cNvPr id="71" name="Shape 67"/>
          <p:cNvSpPr/>
          <p:nvPr/>
        </p:nvSpPr>
        <p:spPr>
          <a:xfrm>
            <a:off x="7936992" y="3886200"/>
            <a:ext cx="3383280" cy="64008"/>
          </a:xfrm>
          <a:prstGeom prst="rect">
            <a:avLst/>
          </a:prstGeom>
          <a:solidFill>
            <a:srgbClr val="FC6120"/>
          </a:solidFill>
          <a:ln w="12700">
            <a:solidFill>
              <a:srgbClr val="333333">
                <a:alpha val="0"/>
              </a:srgbClr>
            </a:solidFill>
            <a:prstDash val="solid"/>
          </a:ln>
        </p:spPr>
      </p:sp>
      <p:sp>
        <p:nvSpPr>
          <p:cNvPr id="72" name="Text 68"/>
          <p:cNvSpPr/>
          <p:nvPr/>
        </p:nvSpPr>
        <p:spPr>
          <a:xfrm>
            <a:off x="8101584" y="4032504"/>
            <a:ext cx="3054096" cy="256032"/>
          </a:xfrm>
          <a:prstGeom prst="rect">
            <a:avLst/>
          </a:prstGeom>
          <a:noFill/>
          <a:ln/>
        </p:spPr>
        <p:txBody>
          <a:bodyPr wrap="square" lIns="0" tIns="0" rIns="0" bIns="0" rtlCol="0" anchor="ctr">
            <a:normAutofit/>
          </a:bodyPr>
          <a:lstStyle/>
          <a:p>
            <a:pPr indent="0" marL="0">
              <a:buNone/>
            </a:pPr>
            <a:r>
              <a:rPr lang="en-US" sz="1120" b="1" dirty="0">
                <a:solidFill>
                  <a:srgbClr val="FFFFFF"/>
                </a:solidFill>
              </a:rPr>
              <a:t>Make migration safer</a:t>
            </a:r>
            <a:endParaRPr lang="en-US" sz="1120" dirty="0"/>
          </a:p>
        </p:txBody>
      </p:sp>
      <p:sp>
        <p:nvSpPr>
          <p:cNvPr id="73" name="Text 69"/>
          <p:cNvSpPr/>
          <p:nvPr/>
        </p:nvSpPr>
        <p:spPr>
          <a:xfrm>
            <a:off x="8101584" y="4370832"/>
            <a:ext cx="3054096" cy="722376"/>
          </a:xfrm>
          <a:prstGeom prst="rect">
            <a:avLst/>
          </a:prstGeom>
          <a:noFill/>
          <a:ln/>
        </p:spPr>
        <p:txBody>
          <a:bodyPr wrap="square" lIns="0" tIns="0" rIns="0" bIns="0" rtlCol="0" anchor="t">
            <a:normAutofit/>
          </a:bodyPr>
          <a:lstStyle/>
          <a:p>
            <a:pPr indent="0" marL="0">
              <a:buNone/>
            </a:pPr>
            <a:r>
              <a:rPr lang="en-US" sz="880" dirty="0">
                <a:solidFill>
                  <a:srgbClr val="91A2B8"/>
                </a:solidFill>
              </a:rPr>
              <a:t>Revii explains variances between legacy outputs and Rev.io-generated charges before invoices go out.</a:t>
            </a:r>
            <a:endParaRPr lang="en-US" sz="880" dirty="0"/>
          </a:p>
        </p:txBody>
      </p:sp>
      <p:sp>
        <p:nvSpPr>
          <p:cNvPr id="74" name="Text 70"/>
          <p:cNvSpPr/>
          <p:nvPr/>
        </p:nvSpPr>
        <p:spPr>
          <a:xfrm>
            <a:off x="530352" y="6473952"/>
            <a:ext cx="6583680" cy="164592"/>
          </a:xfrm>
          <a:prstGeom prst="rect">
            <a:avLst/>
          </a:prstGeom>
          <a:noFill/>
          <a:ln/>
        </p:spPr>
        <p:txBody>
          <a:bodyPr wrap="square" rtlCol="0" anchor="ctr"/>
          <a:lstStyle/>
          <a:p>
            <a:pPr indent="0" marL="0">
              <a:buNone/>
            </a:pPr>
            <a:r>
              <a:rPr lang="en-US" sz="750" dirty="0">
                <a:solidFill>
                  <a:srgbClr val="6E7F96"/>
                </a:solidFill>
              </a:rPr>
              <a:t>Rev.io x Intermedia | Revii AI billing modernization | Confidential</a:t>
            </a:r>
            <a:endParaRPr lang="en-US" sz="750" dirty="0"/>
          </a:p>
        </p:txBody>
      </p:sp>
      <p:sp>
        <p:nvSpPr>
          <p:cNvPr id="75" name="Text 71"/>
          <p:cNvSpPr/>
          <p:nvPr/>
        </p:nvSpPr>
        <p:spPr>
          <a:xfrm>
            <a:off x="10652760" y="6473952"/>
            <a:ext cx="1005840" cy="164592"/>
          </a:xfrm>
          <a:prstGeom prst="rect">
            <a:avLst/>
          </a:prstGeom>
          <a:noFill/>
          <a:ln/>
        </p:spPr>
        <p:txBody>
          <a:bodyPr wrap="square" rtlCol="0" anchor="ctr"/>
          <a:lstStyle/>
          <a:p>
            <a:pPr algn="r" indent="0" marL="0">
              <a:buNone/>
            </a:pPr>
            <a:r>
              <a:rPr lang="en-US" sz="750" dirty="0">
                <a:solidFill>
                  <a:srgbClr val="6E7F96"/>
                </a:solidFill>
              </a:rPr>
              <a:t>June 2026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9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9FC"/>
          </a:solidFill>
          <a:ln w="12700">
            <a:solidFill>
              <a:srgbClr val="333333">
                <a:alpha val="0"/>
              </a:srgbClr>
            </a:solidFill>
            <a:prstDash val="solid"/>
          </a:ln>
        </p:spPr>
      </p:sp>
      <p:pic>
        <p:nvPicPr>
          <p:cNvPr id="3" name="Image 0" descr="/home/openclaw/.openclaw/workspace/revio-logo.png">    </p:cNvPr>
          <p:cNvPicPr>
            <a:picLocks noChangeAspect="1"/>
          </p:cNvPicPr>
          <p:nvPr/>
        </p:nvPicPr>
        <p:blipFill>
          <a:blip r:embed="rId1"/>
          <a:stretch>
            <a:fillRect/>
          </a:stretch>
        </p:blipFill>
        <p:spPr>
          <a:xfrm>
            <a:off x="530352" y="320040"/>
            <a:ext cx="1307592" cy="320040"/>
          </a:xfrm>
          <a:prstGeom prst="rect">
            <a:avLst/>
          </a:prstGeom>
        </p:spPr>
      </p:pic>
      <p:sp>
        <p:nvSpPr>
          <p:cNvPr id="4" name="Shape 1"/>
          <p:cNvSpPr/>
          <p:nvPr/>
        </p:nvSpPr>
        <p:spPr>
          <a:xfrm>
            <a:off x="2057400" y="301752"/>
            <a:ext cx="0" cy="393192"/>
          </a:xfrm>
          <a:prstGeom prst="line">
            <a:avLst/>
          </a:prstGeom>
          <a:noFill/>
          <a:ln w="12700">
            <a:solidFill>
              <a:srgbClr val="26374F">
                <a:alpha val="60000"/>
              </a:srgbClr>
            </a:solidFill>
            <a:prstDash val="solid"/>
          </a:ln>
        </p:spPr>
      </p:sp>
      <p:sp>
        <p:nvSpPr>
          <p:cNvPr id="5" name="Shape 2"/>
          <p:cNvSpPr/>
          <p:nvPr/>
        </p:nvSpPr>
        <p:spPr>
          <a:xfrm>
            <a:off x="2267712" y="265176"/>
            <a:ext cx="1444752" cy="438912"/>
          </a:xfrm>
          <a:prstGeom prst="roundRect">
            <a:avLst>
              <a:gd name="adj" fmla="val 12500"/>
            </a:avLst>
          </a:prstGeom>
          <a:solidFill>
            <a:srgbClr val="FFFFFF"/>
          </a:solidFill>
          <a:ln w="12700">
            <a:solidFill>
              <a:srgbClr val="333333">
                <a:alpha val="0"/>
              </a:srgbClr>
            </a:solidFill>
            <a:prstDash val="solid"/>
          </a:ln>
        </p:spPr>
      </p:sp>
      <p:pic>
        <p:nvPicPr>
          <p:cNvPr id="6" name="Image 1" descr="/home/openclaw/.openclaw/workspace/intermedia-logo.png">    </p:cNvPr>
          <p:cNvPicPr>
            <a:picLocks noChangeAspect="1"/>
          </p:cNvPicPr>
          <p:nvPr/>
        </p:nvPicPr>
        <p:blipFill>
          <a:blip r:embed="rId2"/>
          <a:stretch>
            <a:fillRect/>
          </a:stretch>
        </p:blipFill>
        <p:spPr>
          <a:xfrm>
            <a:off x="2395728" y="347472"/>
            <a:ext cx="1188720" cy="265176"/>
          </a:xfrm>
          <a:prstGeom prst="rect">
            <a:avLst/>
          </a:prstGeom>
        </p:spPr>
      </p:pic>
      <p:sp>
        <p:nvSpPr>
          <p:cNvPr id="7" name="Text 3"/>
          <p:cNvSpPr/>
          <p:nvPr/>
        </p:nvSpPr>
        <p:spPr>
          <a:xfrm>
            <a:off x="530352" y="786384"/>
            <a:ext cx="4023360" cy="201168"/>
          </a:xfrm>
          <a:prstGeom prst="rect">
            <a:avLst/>
          </a:prstGeom>
          <a:noFill/>
          <a:ln/>
        </p:spPr>
        <p:txBody>
          <a:bodyPr wrap="square" rtlCol="0" anchor="ctr"/>
          <a:lstStyle/>
          <a:p>
            <a:pPr indent="0" marL="0">
              <a:buNone/>
            </a:pPr>
            <a:r>
              <a:rPr lang="en-US" sz="850" b="1" dirty="0">
                <a:solidFill>
                  <a:srgbClr val="1667CC"/>
                </a:solidFill>
              </a:rPr>
              <a:t>WHO GETS VALUE</a:t>
            </a:r>
            <a:endParaRPr lang="en-US" sz="850" dirty="0"/>
          </a:p>
        </p:txBody>
      </p:sp>
      <p:sp>
        <p:nvSpPr>
          <p:cNvPr id="8" name="Text 4"/>
          <p:cNvSpPr/>
          <p:nvPr/>
        </p:nvSpPr>
        <p:spPr>
          <a:xfrm>
            <a:off x="530352" y="1051560"/>
            <a:ext cx="6949440" cy="658368"/>
          </a:xfrm>
          <a:prstGeom prst="rect">
            <a:avLst/>
          </a:prstGeom>
          <a:noFill/>
          <a:ln/>
        </p:spPr>
        <p:txBody>
          <a:bodyPr wrap="square" lIns="0" tIns="0" rIns="0" bIns="0" rtlCol="0" anchor="ctr">
            <a:normAutofit/>
          </a:bodyPr>
          <a:lstStyle/>
          <a:p>
            <a:pPr indent="0" marL="0">
              <a:buNone/>
            </a:pPr>
            <a:r>
              <a:rPr lang="en-US" sz="2700" b="1" dirty="0">
                <a:solidFill>
                  <a:srgbClr val="1B2A3D"/>
                </a:solidFill>
              </a:rPr>
              <a:t>Revii gives every stakeholder a safer path forward.</a:t>
            </a:r>
            <a:endParaRPr lang="en-US" sz="2700" dirty="0"/>
          </a:p>
        </p:txBody>
      </p:sp>
      <p:sp>
        <p:nvSpPr>
          <p:cNvPr id="9" name="Text 5"/>
          <p:cNvSpPr/>
          <p:nvPr/>
        </p:nvSpPr>
        <p:spPr>
          <a:xfrm>
            <a:off x="530352" y="1783080"/>
            <a:ext cx="7772400" cy="420624"/>
          </a:xfrm>
          <a:prstGeom prst="rect">
            <a:avLst/>
          </a:prstGeom>
          <a:noFill/>
          <a:ln/>
        </p:spPr>
        <p:txBody>
          <a:bodyPr wrap="square" lIns="0" tIns="0" rIns="0" bIns="0" rtlCol="0" anchor="ctr">
            <a:normAutofit/>
          </a:bodyPr>
          <a:lstStyle/>
          <a:p>
            <a:pPr indent="0" marL="0">
              <a:buNone/>
            </a:pPr>
            <a:r>
              <a:rPr lang="en-US" sz="1060" dirty="0">
                <a:solidFill>
                  <a:srgbClr val="65758A"/>
                </a:solidFill>
              </a:rPr>
              <a:t>The same billing intelligence layer serves different teams without forcing everyone into a custom report queue.</a:t>
            </a:r>
            <a:endParaRPr lang="en-US" sz="1060" dirty="0"/>
          </a:p>
        </p:txBody>
      </p:sp>
      <p:sp>
        <p:nvSpPr>
          <p:cNvPr id="10" name="Shape 6"/>
          <p:cNvSpPr/>
          <p:nvPr/>
        </p:nvSpPr>
        <p:spPr>
          <a:xfrm>
            <a:off x="731520" y="2139696"/>
            <a:ext cx="10744200" cy="685800"/>
          </a:xfrm>
          <a:prstGeom prst="roundRect">
            <a:avLst>
              <a:gd name="adj" fmla="val 10667"/>
            </a:avLst>
          </a:prstGeom>
          <a:solidFill>
            <a:srgbClr val="FFFFFF"/>
          </a:solidFill>
          <a:ln w="12700">
            <a:solidFill>
              <a:srgbClr val="D8E0EA"/>
            </a:solidFill>
            <a:prstDash val="solid"/>
          </a:ln>
        </p:spPr>
      </p:sp>
      <p:sp>
        <p:nvSpPr>
          <p:cNvPr id="11" name="Shape 7"/>
          <p:cNvSpPr/>
          <p:nvPr/>
        </p:nvSpPr>
        <p:spPr>
          <a:xfrm>
            <a:off x="731520" y="2139696"/>
            <a:ext cx="10744200" cy="64008"/>
          </a:xfrm>
          <a:prstGeom prst="rect">
            <a:avLst/>
          </a:prstGeom>
          <a:solidFill>
            <a:srgbClr val="2499B6"/>
          </a:solidFill>
          <a:ln w="12700">
            <a:solidFill>
              <a:srgbClr val="333333">
                <a:alpha val="0"/>
              </a:srgbClr>
            </a:solidFill>
            <a:prstDash val="solid"/>
          </a:ln>
        </p:spPr>
      </p:sp>
      <p:sp>
        <p:nvSpPr>
          <p:cNvPr id="12" name="Text 8"/>
          <p:cNvSpPr/>
          <p:nvPr/>
        </p:nvSpPr>
        <p:spPr>
          <a:xfrm>
            <a:off x="896112" y="2286000"/>
            <a:ext cx="10415016" cy="256032"/>
          </a:xfrm>
          <a:prstGeom prst="rect">
            <a:avLst/>
          </a:prstGeom>
          <a:noFill/>
          <a:ln/>
        </p:spPr>
        <p:txBody>
          <a:bodyPr wrap="square" lIns="0" tIns="0" rIns="0" bIns="0" rtlCol="0" anchor="ctr">
            <a:normAutofit/>
          </a:bodyPr>
          <a:lstStyle/>
          <a:p>
            <a:pPr indent="0" marL="0">
              <a:buNone/>
            </a:pPr>
            <a:r>
              <a:rPr lang="en-US" sz="1200" b="1" dirty="0">
                <a:solidFill>
                  <a:srgbClr val="1B2A3D"/>
                </a:solidFill>
              </a:rPr>
              <a:t>Billing operations</a:t>
            </a:r>
            <a:endParaRPr lang="en-US" sz="1200" dirty="0"/>
          </a:p>
        </p:txBody>
      </p:sp>
      <p:sp>
        <p:nvSpPr>
          <p:cNvPr id="13" name="Text 9"/>
          <p:cNvSpPr/>
          <p:nvPr/>
        </p:nvSpPr>
        <p:spPr>
          <a:xfrm>
            <a:off x="896112" y="2624328"/>
            <a:ext cx="10415016" cy="82296"/>
          </a:xfrm>
          <a:prstGeom prst="rect">
            <a:avLst/>
          </a:prstGeom>
          <a:noFill/>
          <a:ln/>
        </p:spPr>
        <p:txBody>
          <a:bodyPr wrap="square" lIns="0" tIns="0" rIns="0" bIns="0" rtlCol="0" anchor="t">
            <a:normAutofit/>
          </a:bodyPr>
          <a:lstStyle/>
          <a:p>
            <a:pPr indent="0" marL="0">
              <a:buNone/>
            </a:pPr>
            <a:r>
              <a:rPr lang="en-US" sz="960" dirty="0">
                <a:solidFill>
                  <a:srgbClr val="65758A"/>
                </a:solidFill>
              </a:rPr>
              <a:t>Exception summaries, invoice QA, CDR overage checks, and account-level variance explanations.</a:t>
            </a:r>
            <a:endParaRPr lang="en-US" sz="960" dirty="0"/>
          </a:p>
        </p:txBody>
      </p:sp>
      <p:sp>
        <p:nvSpPr>
          <p:cNvPr id="14" name="Shape 10"/>
          <p:cNvSpPr/>
          <p:nvPr/>
        </p:nvSpPr>
        <p:spPr>
          <a:xfrm>
            <a:off x="731520" y="3081528"/>
            <a:ext cx="10744200" cy="685800"/>
          </a:xfrm>
          <a:prstGeom prst="roundRect">
            <a:avLst>
              <a:gd name="adj" fmla="val 10667"/>
            </a:avLst>
          </a:prstGeom>
          <a:solidFill>
            <a:srgbClr val="FFFFFF"/>
          </a:solidFill>
          <a:ln w="12700">
            <a:solidFill>
              <a:srgbClr val="D8E0EA"/>
            </a:solidFill>
            <a:prstDash val="solid"/>
          </a:ln>
        </p:spPr>
      </p:sp>
      <p:sp>
        <p:nvSpPr>
          <p:cNvPr id="15" name="Shape 11"/>
          <p:cNvSpPr/>
          <p:nvPr/>
        </p:nvSpPr>
        <p:spPr>
          <a:xfrm>
            <a:off x="731520" y="3081528"/>
            <a:ext cx="10744200" cy="64008"/>
          </a:xfrm>
          <a:prstGeom prst="rect">
            <a:avLst/>
          </a:prstGeom>
          <a:solidFill>
            <a:srgbClr val="6EBE4F"/>
          </a:solidFill>
          <a:ln w="12700">
            <a:solidFill>
              <a:srgbClr val="333333">
                <a:alpha val="0"/>
              </a:srgbClr>
            </a:solidFill>
            <a:prstDash val="solid"/>
          </a:ln>
        </p:spPr>
      </p:sp>
      <p:sp>
        <p:nvSpPr>
          <p:cNvPr id="16" name="Text 12"/>
          <p:cNvSpPr/>
          <p:nvPr/>
        </p:nvSpPr>
        <p:spPr>
          <a:xfrm>
            <a:off x="896112" y="3227832"/>
            <a:ext cx="10415016" cy="256032"/>
          </a:xfrm>
          <a:prstGeom prst="rect">
            <a:avLst/>
          </a:prstGeom>
          <a:noFill/>
          <a:ln/>
        </p:spPr>
        <p:txBody>
          <a:bodyPr wrap="square" lIns="0" tIns="0" rIns="0" bIns="0" rtlCol="0" anchor="ctr">
            <a:normAutofit/>
          </a:bodyPr>
          <a:lstStyle/>
          <a:p>
            <a:pPr indent="0" marL="0">
              <a:buNone/>
            </a:pPr>
            <a:r>
              <a:rPr lang="en-US" sz="1200" b="1" dirty="0">
                <a:solidFill>
                  <a:srgbClr val="1B2A3D"/>
                </a:solidFill>
              </a:rPr>
              <a:t>Finance</a:t>
            </a:r>
            <a:endParaRPr lang="en-US" sz="1200" dirty="0"/>
          </a:p>
        </p:txBody>
      </p:sp>
      <p:sp>
        <p:nvSpPr>
          <p:cNvPr id="17" name="Text 13"/>
          <p:cNvSpPr/>
          <p:nvPr/>
        </p:nvSpPr>
        <p:spPr>
          <a:xfrm>
            <a:off x="896112" y="3566160"/>
            <a:ext cx="10415016" cy="82296"/>
          </a:xfrm>
          <a:prstGeom prst="rect">
            <a:avLst/>
          </a:prstGeom>
          <a:noFill/>
          <a:ln/>
        </p:spPr>
        <p:txBody>
          <a:bodyPr wrap="square" lIns="0" tIns="0" rIns="0" bIns="0" rtlCol="0" anchor="t">
            <a:normAutofit/>
          </a:bodyPr>
          <a:lstStyle/>
          <a:p>
            <a:pPr indent="0" marL="0">
              <a:buNone/>
            </a:pPr>
            <a:r>
              <a:rPr lang="en-US" sz="960" dirty="0">
                <a:solidFill>
                  <a:srgbClr val="65758A"/>
                </a:solidFill>
              </a:rPr>
              <a:t>Reconciliation visibility across legacy outputs, Rev.io charge generation, and HostPilot presentation.</a:t>
            </a:r>
            <a:endParaRPr lang="en-US" sz="960" dirty="0"/>
          </a:p>
        </p:txBody>
      </p:sp>
      <p:sp>
        <p:nvSpPr>
          <p:cNvPr id="18" name="Shape 14"/>
          <p:cNvSpPr/>
          <p:nvPr/>
        </p:nvSpPr>
        <p:spPr>
          <a:xfrm>
            <a:off x="731520" y="4023360"/>
            <a:ext cx="10744200" cy="685800"/>
          </a:xfrm>
          <a:prstGeom prst="roundRect">
            <a:avLst>
              <a:gd name="adj" fmla="val 10667"/>
            </a:avLst>
          </a:prstGeom>
          <a:solidFill>
            <a:srgbClr val="FFFFFF"/>
          </a:solidFill>
          <a:ln w="12700">
            <a:solidFill>
              <a:srgbClr val="D8E0EA"/>
            </a:solidFill>
            <a:prstDash val="solid"/>
          </a:ln>
        </p:spPr>
      </p:sp>
      <p:sp>
        <p:nvSpPr>
          <p:cNvPr id="19" name="Shape 15"/>
          <p:cNvSpPr/>
          <p:nvPr/>
        </p:nvSpPr>
        <p:spPr>
          <a:xfrm>
            <a:off x="731520" y="4023360"/>
            <a:ext cx="10744200" cy="64008"/>
          </a:xfrm>
          <a:prstGeom prst="rect">
            <a:avLst/>
          </a:prstGeom>
          <a:solidFill>
            <a:srgbClr val="1667CC"/>
          </a:solidFill>
          <a:ln w="12700">
            <a:solidFill>
              <a:srgbClr val="333333">
                <a:alpha val="0"/>
              </a:srgbClr>
            </a:solidFill>
            <a:prstDash val="solid"/>
          </a:ln>
        </p:spPr>
      </p:sp>
      <p:sp>
        <p:nvSpPr>
          <p:cNvPr id="20" name="Text 16"/>
          <p:cNvSpPr/>
          <p:nvPr/>
        </p:nvSpPr>
        <p:spPr>
          <a:xfrm>
            <a:off x="896112" y="4169664"/>
            <a:ext cx="10415016" cy="256032"/>
          </a:xfrm>
          <a:prstGeom prst="rect">
            <a:avLst/>
          </a:prstGeom>
          <a:noFill/>
          <a:ln/>
        </p:spPr>
        <p:txBody>
          <a:bodyPr wrap="square" lIns="0" tIns="0" rIns="0" bIns="0" rtlCol="0" anchor="ctr">
            <a:normAutofit/>
          </a:bodyPr>
          <a:lstStyle/>
          <a:p>
            <a:pPr indent="0" marL="0">
              <a:buNone/>
            </a:pPr>
            <a:r>
              <a:rPr lang="en-US" sz="1200" b="1" dirty="0">
                <a:solidFill>
                  <a:srgbClr val="1B2A3D"/>
                </a:solidFill>
              </a:rPr>
              <a:t>Engineering</a:t>
            </a:r>
            <a:endParaRPr lang="en-US" sz="1200" dirty="0"/>
          </a:p>
        </p:txBody>
      </p:sp>
      <p:sp>
        <p:nvSpPr>
          <p:cNvPr id="21" name="Text 17"/>
          <p:cNvSpPr/>
          <p:nvPr/>
        </p:nvSpPr>
        <p:spPr>
          <a:xfrm>
            <a:off x="896112" y="4507992"/>
            <a:ext cx="10415016" cy="82296"/>
          </a:xfrm>
          <a:prstGeom prst="rect">
            <a:avLst/>
          </a:prstGeom>
          <a:noFill/>
          <a:ln/>
        </p:spPr>
        <p:txBody>
          <a:bodyPr wrap="square" lIns="0" tIns="0" rIns="0" bIns="0" rtlCol="0" anchor="t">
            <a:normAutofit/>
          </a:bodyPr>
          <a:lstStyle/>
          <a:p>
            <a:pPr indent="0" marL="0">
              <a:buNone/>
            </a:pPr>
            <a:r>
              <a:rPr lang="en-US" sz="960" dirty="0">
                <a:solidFill>
                  <a:srgbClr val="65758A"/>
                </a:solidFill>
              </a:rPr>
              <a:t>Less custom reporting, less firefighting, and a cleaner way to move legacy rules into configuration.</a:t>
            </a:r>
            <a:endParaRPr lang="en-US" sz="960" dirty="0"/>
          </a:p>
        </p:txBody>
      </p:sp>
      <p:sp>
        <p:nvSpPr>
          <p:cNvPr id="22" name="Shape 18"/>
          <p:cNvSpPr/>
          <p:nvPr/>
        </p:nvSpPr>
        <p:spPr>
          <a:xfrm>
            <a:off x="731520" y="4965192"/>
            <a:ext cx="10744200" cy="685800"/>
          </a:xfrm>
          <a:prstGeom prst="roundRect">
            <a:avLst>
              <a:gd name="adj" fmla="val 10667"/>
            </a:avLst>
          </a:prstGeom>
          <a:solidFill>
            <a:srgbClr val="FFFFFF"/>
          </a:solidFill>
          <a:ln w="12700">
            <a:solidFill>
              <a:srgbClr val="D8E0EA"/>
            </a:solidFill>
            <a:prstDash val="solid"/>
          </a:ln>
        </p:spPr>
      </p:sp>
      <p:sp>
        <p:nvSpPr>
          <p:cNvPr id="23" name="Shape 19"/>
          <p:cNvSpPr/>
          <p:nvPr/>
        </p:nvSpPr>
        <p:spPr>
          <a:xfrm>
            <a:off x="731520" y="4965192"/>
            <a:ext cx="10744200" cy="64008"/>
          </a:xfrm>
          <a:prstGeom prst="rect">
            <a:avLst/>
          </a:prstGeom>
          <a:solidFill>
            <a:srgbClr val="FC6120"/>
          </a:solidFill>
          <a:ln w="12700">
            <a:solidFill>
              <a:srgbClr val="333333">
                <a:alpha val="0"/>
              </a:srgbClr>
            </a:solidFill>
            <a:prstDash val="solid"/>
          </a:ln>
        </p:spPr>
      </p:sp>
      <p:sp>
        <p:nvSpPr>
          <p:cNvPr id="24" name="Text 20"/>
          <p:cNvSpPr/>
          <p:nvPr/>
        </p:nvSpPr>
        <p:spPr>
          <a:xfrm>
            <a:off x="896112" y="5111496"/>
            <a:ext cx="10415016" cy="256032"/>
          </a:xfrm>
          <a:prstGeom prst="rect">
            <a:avLst/>
          </a:prstGeom>
          <a:noFill/>
          <a:ln/>
        </p:spPr>
        <p:txBody>
          <a:bodyPr wrap="square" lIns="0" tIns="0" rIns="0" bIns="0" rtlCol="0" anchor="ctr">
            <a:normAutofit/>
          </a:bodyPr>
          <a:lstStyle/>
          <a:p>
            <a:pPr indent="0" marL="0">
              <a:buNone/>
            </a:pPr>
            <a:r>
              <a:rPr lang="en-US" sz="1200" b="1" dirty="0">
                <a:solidFill>
                  <a:srgbClr val="1B2A3D"/>
                </a:solidFill>
              </a:rPr>
              <a:t>Leadership</a:t>
            </a:r>
            <a:endParaRPr lang="en-US" sz="1200" dirty="0"/>
          </a:p>
        </p:txBody>
      </p:sp>
      <p:sp>
        <p:nvSpPr>
          <p:cNvPr id="25" name="Text 21"/>
          <p:cNvSpPr/>
          <p:nvPr/>
        </p:nvSpPr>
        <p:spPr>
          <a:xfrm>
            <a:off x="896112" y="5449824"/>
            <a:ext cx="10415016" cy="82296"/>
          </a:xfrm>
          <a:prstGeom prst="rect">
            <a:avLst/>
          </a:prstGeom>
          <a:noFill/>
          <a:ln/>
        </p:spPr>
        <p:txBody>
          <a:bodyPr wrap="square" lIns="0" tIns="0" rIns="0" bIns="0" rtlCol="0" anchor="t">
            <a:normAutofit/>
          </a:bodyPr>
          <a:lstStyle/>
          <a:p>
            <a:pPr indent="0" marL="0">
              <a:buNone/>
            </a:pPr>
            <a:r>
              <a:rPr lang="en-US" sz="960" dirty="0">
                <a:solidFill>
                  <a:srgbClr val="65758A"/>
                </a:solidFill>
              </a:rPr>
              <a:t>AI-ready billing data for revenue assurance, margin analysis, partner performance, and product decisions.</a:t>
            </a:r>
            <a:endParaRPr lang="en-US" sz="960" dirty="0"/>
          </a:p>
        </p:txBody>
      </p:sp>
      <p:sp>
        <p:nvSpPr>
          <p:cNvPr id="26" name="Text 22"/>
          <p:cNvSpPr/>
          <p:nvPr/>
        </p:nvSpPr>
        <p:spPr>
          <a:xfrm>
            <a:off x="530352" y="6473952"/>
            <a:ext cx="6583680" cy="164592"/>
          </a:xfrm>
          <a:prstGeom prst="rect">
            <a:avLst/>
          </a:prstGeom>
          <a:noFill/>
          <a:ln/>
        </p:spPr>
        <p:txBody>
          <a:bodyPr wrap="square" rtlCol="0" anchor="ctr"/>
          <a:lstStyle/>
          <a:p>
            <a:pPr indent="0" marL="0">
              <a:buNone/>
            </a:pPr>
            <a:r>
              <a:rPr lang="en-US" sz="750" dirty="0">
                <a:solidFill>
                  <a:srgbClr val="7A899C"/>
                </a:solidFill>
              </a:rPr>
              <a:t>Rev.io x Intermedia | Revii AI billing modernization | Confidential</a:t>
            </a:r>
            <a:endParaRPr lang="en-US" sz="750" dirty="0"/>
          </a:p>
        </p:txBody>
      </p:sp>
      <p:sp>
        <p:nvSpPr>
          <p:cNvPr id="27" name="Text 23"/>
          <p:cNvSpPr/>
          <p:nvPr/>
        </p:nvSpPr>
        <p:spPr>
          <a:xfrm>
            <a:off x="10652760" y="6473952"/>
            <a:ext cx="1005840" cy="164592"/>
          </a:xfrm>
          <a:prstGeom prst="rect">
            <a:avLst/>
          </a:prstGeom>
          <a:noFill/>
          <a:ln/>
        </p:spPr>
        <p:txBody>
          <a:bodyPr wrap="square" rtlCol="0" anchor="ctr"/>
          <a:lstStyle/>
          <a:p>
            <a:pPr algn="r" indent="0" marL="0">
              <a:buNone/>
            </a:pPr>
            <a:r>
              <a:rPr lang="en-US" sz="750" dirty="0">
                <a:solidFill>
                  <a:srgbClr val="7A899C"/>
                </a:solidFill>
              </a:rPr>
              <a:t>June 2026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333333">
                <a:alpha val="0"/>
              </a:srgbClr>
            </a:solidFill>
            <a:prstDash val="solid"/>
          </a:ln>
        </p:spPr>
      </p:sp>
      <p:sp>
        <p:nvSpPr>
          <p:cNvPr id="3" name="Shape 1"/>
          <p:cNvSpPr/>
          <p:nvPr/>
        </p:nvSpPr>
        <p:spPr>
          <a:xfrm>
            <a:off x="0" y="0"/>
            <a:ext cx="0" cy="6858000"/>
          </a:xfrm>
          <a:prstGeom prst="line">
            <a:avLst/>
          </a:prstGeom>
          <a:noFill/>
          <a:ln w="12700">
            <a:solidFill>
              <a:srgbClr val="FFFFFF">
                <a:alpha val="4000"/>
              </a:srgbClr>
            </a:solidFill>
            <a:prstDash val="solid"/>
          </a:ln>
        </p:spPr>
      </p:sp>
      <p:sp>
        <p:nvSpPr>
          <p:cNvPr id="4" name="Shape 2"/>
          <p:cNvSpPr/>
          <p:nvPr/>
        </p:nvSpPr>
        <p:spPr>
          <a:xfrm>
            <a:off x="502920" y="0"/>
            <a:ext cx="0" cy="6858000"/>
          </a:xfrm>
          <a:prstGeom prst="line">
            <a:avLst/>
          </a:prstGeom>
          <a:noFill/>
          <a:ln w="12700">
            <a:solidFill>
              <a:srgbClr val="FFFFFF">
                <a:alpha val="4000"/>
              </a:srgbClr>
            </a:solidFill>
            <a:prstDash val="solid"/>
          </a:ln>
        </p:spPr>
      </p:sp>
      <p:sp>
        <p:nvSpPr>
          <p:cNvPr id="5" name="Shape 3"/>
          <p:cNvSpPr/>
          <p:nvPr/>
        </p:nvSpPr>
        <p:spPr>
          <a:xfrm>
            <a:off x="1005840" y="0"/>
            <a:ext cx="0" cy="6858000"/>
          </a:xfrm>
          <a:prstGeom prst="line">
            <a:avLst/>
          </a:prstGeom>
          <a:noFill/>
          <a:ln w="12700">
            <a:solidFill>
              <a:srgbClr val="FFFFFF">
                <a:alpha val="4000"/>
              </a:srgbClr>
            </a:solidFill>
            <a:prstDash val="solid"/>
          </a:ln>
        </p:spPr>
      </p:sp>
      <p:sp>
        <p:nvSpPr>
          <p:cNvPr id="6" name="Shape 4"/>
          <p:cNvSpPr/>
          <p:nvPr/>
        </p:nvSpPr>
        <p:spPr>
          <a:xfrm>
            <a:off x="1508760" y="0"/>
            <a:ext cx="0" cy="6858000"/>
          </a:xfrm>
          <a:prstGeom prst="line">
            <a:avLst/>
          </a:prstGeom>
          <a:noFill/>
          <a:ln w="12700">
            <a:solidFill>
              <a:srgbClr val="FFFFFF">
                <a:alpha val="4000"/>
              </a:srgbClr>
            </a:solidFill>
            <a:prstDash val="solid"/>
          </a:ln>
        </p:spPr>
      </p:sp>
      <p:sp>
        <p:nvSpPr>
          <p:cNvPr id="7" name="Shape 5"/>
          <p:cNvSpPr/>
          <p:nvPr/>
        </p:nvSpPr>
        <p:spPr>
          <a:xfrm>
            <a:off x="2011680" y="0"/>
            <a:ext cx="0" cy="6858000"/>
          </a:xfrm>
          <a:prstGeom prst="line">
            <a:avLst/>
          </a:prstGeom>
          <a:noFill/>
          <a:ln w="12700">
            <a:solidFill>
              <a:srgbClr val="FFFFFF">
                <a:alpha val="4000"/>
              </a:srgbClr>
            </a:solidFill>
            <a:prstDash val="solid"/>
          </a:ln>
        </p:spPr>
      </p:sp>
      <p:sp>
        <p:nvSpPr>
          <p:cNvPr id="8" name="Shape 6"/>
          <p:cNvSpPr/>
          <p:nvPr/>
        </p:nvSpPr>
        <p:spPr>
          <a:xfrm>
            <a:off x="2514600" y="0"/>
            <a:ext cx="0" cy="6858000"/>
          </a:xfrm>
          <a:prstGeom prst="line">
            <a:avLst/>
          </a:prstGeom>
          <a:noFill/>
          <a:ln w="12700">
            <a:solidFill>
              <a:srgbClr val="FFFFFF">
                <a:alpha val="4000"/>
              </a:srgbClr>
            </a:solidFill>
            <a:prstDash val="solid"/>
          </a:ln>
        </p:spPr>
      </p:sp>
      <p:sp>
        <p:nvSpPr>
          <p:cNvPr id="9" name="Shape 7"/>
          <p:cNvSpPr/>
          <p:nvPr/>
        </p:nvSpPr>
        <p:spPr>
          <a:xfrm>
            <a:off x="3017520" y="0"/>
            <a:ext cx="0" cy="6858000"/>
          </a:xfrm>
          <a:prstGeom prst="line">
            <a:avLst/>
          </a:prstGeom>
          <a:noFill/>
          <a:ln w="12700">
            <a:solidFill>
              <a:srgbClr val="FFFFFF">
                <a:alpha val="4000"/>
              </a:srgbClr>
            </a:solidFill>
            <a:prstDash val="solid"/>
          </a:ln>
        </p:spPr>
      </p:sp>
      <p:sp>
        <p:nvSpPr>
          <p:cNvPr id="10" name="Shape 8"/>
          <p:cNvSpPr/>
          <p:nvPr/>
        </p:nvSpPr>
        <p:spPr>
          <a:xfrm>
            <a:off x="3520440" y="0"/>
            <a:ext cx="0" cy="6858000"/>
          </a:xfrm>
          <a:prstGeom prst="line">
            <a:avLst/>
          </a:prstGeom>
          <a:noFill/>
          <a:ln w="12700">
            <a:solidFill>
              <a:srgbClr val="FFFFFF">
                <a:alpha val="4000"/>
              </a:srgbClr>
            </a:solidFill>
            <a:prstDash val="solid"/>
          </a:ln>
        </p:spPr>
      </p:sp>
      <p:sp>
        <p:nvSpPr>
          <p:cNvPr id="11" name="Shape 9"/>
          <p:cNvSpPr/>
          <p:nvPr/>
        </p:nvSpPr>
        <p:spPr>
          <a:xfrm>
            <a:off x="4023360" y="0"/>
            <a:ext cx="0" cy="6858000"/>
          </a:xfrm>
          <a:prstGeom prst="line">
            <a:avLst/>
          </a:prstGeom>
          <a:noFill/>
          <a:ln w="12700">
            <a:solidFill>
              <a:srgbClr val="FFFFFF">
                <a:alpha val="4000"/>
              </a:srgbClr>
            </a:solidFill>
            <a:prstDash val="solid"/>
          </a:ln>
        </p:spPr>
      </p:sp>
      <p:sp>
        <p:nvSpPr>
          <p:cNvPr id="12" name="Shape 10"/>
          <p:cNvSpPr/>
          <p:nvPr/>
        </p:nvSpPr>
        <p:spPr>
          <a:xfrm>
            <a:off x="4526280" y="0"/>
            <a:ext cx="0" cy="6858000"/>
          </a:xfrm>
          <a:prstGeom prst="line">
            <a:avLst/>
          </a:prstGeom>
          <a:noFill/>
          <a:ln w="12700">
            <a:solidFill>
              <a:srgbClr val="FFFFFF">
                <a:alpha val="4000"/>
              </a:srgbClr>
            </a:solidFill>
            <a:prstDash val="solid"/>
          </a:ln>
        </p:spPr>
      </p:sp>
      <p:sp>
        <p:nvSpPr>
          <p:cNvPr id="13" name="Shape 11"/>
          <p:cNvSpPr/>
          <p:nvPr/>
        </p:nvSpPr>
        <p:spPr>
          <a:xfrm>
            <a:off x="5029200" y="0"/>
            <a:ext cx="0" cy="6858000"/>
          </a:xfrm>
          <a:prstGeom prst="line">
            <a:avLst/>
          </a:prstGeom>
          <a:noFill/>
          <a:ln w="12700">
            <a:solidFill>
              <a:srgbClr val="FFFFFF">
                <a:alpha val="4000"/>
              </a:srgbClr>
            </a:solidFill>
            <a:prstDash val="solid"/>
          </a:ln>
        </p:spPr>
      </p:sp>
      <p:sp>
        <p:nvSpPr>
          <p:cNvPr id="14" name="Shape 12"/>
          <p:cNvSpPr/>
          <p:nvPr/>
        </p:nvSpPr>
        <p:spPr>
          <a:xfrm>
            <a:off x="5532120" y="0"/>
            <a:ext cx="0" cy="6858000"/>
          </a:xfrm>
          <a:prstGeom prst="line">
            <a:avLst/>
          </a:prstGeom>
          <a:noFill/>
          <a:ln w="12700">
            <a:solidFill>
              <a:srgbClr val="FFFFFF">
                <a:alpha val="4000"/>
              </a:srgbClr>
            </a:solidFill>
            <a:prstDash val="solid"/>
          </a:ln>
        </p:spPr>
      </p:sp>
      <p:sp>
        <p:nvSpPr>
          <p:cNvPr id="15" name="Shape 13"/>
          <p:cNvSpPr/>
          <p:nvPr/>
        </p:nvSpPr>
        <p:spPr>
          <a:xfrm>
            <a:off x="6035040" y="0"/>
            <a:ext cx="0" cy="6858000"/>
          </a:xfrm>
          <a:prstGeom prst="line">
            <a:avLst/>
          </a:prstGeom>
          <a:noFill/>
          <a:ln w="12700">
            <a:solidFill>
              <a:srgbClr val="FFFFFF">
                <a:alpha val="4000"/>
              </a:srgbClr>
            </a:solidFill>
            <a:prstDash val="solid"/>
          </a:ln>
        </p:spPr>
      </p:sp>
      <p:sp>
        <p:nvSpPr>
          <p:cNvPr id="16" name="Shape 14"/>
          <p:cNvSpPr/>
          <p:nvPr/>
        </p:nvSpPr>
        <p:spPr>
          <a:xfrm>
            <a:off x="6537960" y="0"/>
            <a:ext cx="0" cy="6858000"/>
          </a:xfrm>
          <a:prstGeom prst="line">
            <a:avLst/>
          </a:prstGeom>
          <a:noFill/>
          <a:ln w="12700">
            <a:solidFill>
              <a:srgbClr val="FFFFFF">
                <a:alpha val="4000"/>
              </a:srgbClr>
            </a:solidFill>
            <a:prstDash val="solid"/>
          </a:ln>
        </p:spPr>
      </p:sp>
      <p:sp>
        <p:nvSpPr>
          <p:cNvPr id="17" name="Shape 15"/>
          <p:cNvSpPr/>
          <p:nvPr/>
        </p:nvSpPr>
        <p:spPr>
          <a:xfrm>
            <a:off x="7040880" y="0"/>
            <a:ext cx="0" cy="6858000"/>
          </a:xfrm>
          <a:prstGeom prst="line">
            <a:avLst/>
          </a:prstGeom>
          <a:noFill/>
          <a:ln w="12700">
            <a:solidFill>
              <a:srgbClr val="FFFFFF">
                <a:alpha val="4000"/>
              </a:srgbClr>
            </a:solidFill>
            <a:prstDash val="solid"/>
          </a:ln>
        </p:spPr>
      </p:sp>
      <p:sp>
        <p:nvSpPr>
          <p:cNvPr id="18" name="Shape 16"/>
          <p:cNvSpPr/>
          <p:nvPr/>
        </p:nvSpPr>
        <p:spPr>
          <a:xfrm>
            <a:off x="7543800" y="0"/>
            <a:ext cx="0" cy="6858000"/>
          </a:xfrm>
          <a:prstGeom prst="line">
            <a:avLst/>
          </a:prstGeom>
          <a:noFill/>
          <a:ln w="12700">
            <a:solidFill>
              <a:srgbClr val="FFFFFF">
                <a:alpha val="4000"/>
              </a:srgbClr>
            </a:solidFill>
            <a:prstDash val="solid"/>
          </a:ln>
        </p:spPr>
      </p:sp>
      <p:sp>
        <p:nvSpPr>
          <p:cNvPr id="19" name="Shape 17"/>
          <p:cNvSpPr/>
          <p:nvPr/>
        </p:nvSpPr>
        <p:spPr>
          <a:xfrm>
            <a:off x="8046720" y="0"/>
            <a:ext cx="0" cy="6858000"/>
          </a:xfrm>
          <a:prstGeom prst="line">
            <a:avLst/>
          </a:prstGeom>
          <a:noFill/>
          <a:ln w="12700">
            <a:solidFill>
              <a:srgbClr val="FFFFFF">
                <a:alpha val="4000"/>
              </a:srgbClr>
            </a:solidFill>
            <a:prstDash val="solid"/>
          </a:ln>
        </p:spPr>
      </p:sp>
      <p:sp>
        <p:nvSpPr>
          <p:cNvPr id="20" name="Shape 18"/>
          <p:cNvSpPr/>
          <p:nvPr/>
        </p:nvSpPr>
        <p:spPr>
          <a:xfrm>
            <a:off x="8549640" y="0"/>
            <a:ext cx="0" cy="6858000"/>
          </a:xfrm>
          <a:prstGeom prst="line">
            <a:avLst/>
          </a:prstGeom>
          <a:noFill/>
          <a:ln w="12700">
            <a:solidFill>
              <a:srgbClr val="FFFFFF">
                <a:alpha val="4000"/>
              </a:srgbClr>
            </a:solidFill>
            <a:prstDash val="solid"/>
          </a:ln>
        </p:spPr>
      </p:sp>
      <p:sp>
        <p:nvSpPr>
          <p:cNvPr id="21" name="Shape 19"/>
          <p:cNvSpPr/>
          <p:nvPr/>
        </p:nvSpPr>
        <p:spPr>
          <a:xfrm>
            <a:off x="9052560" y="0"/>
            <a:ext cx="0" cy="6858000"/>
          </a:xfrm>
          <a:prstGeom prst="line">
            <a:avLst/>
          </a:prstGeom>
          <a:noFill/>
          <a:ln w="12700">
            <a:solidFill>
              <a:srgbClr val="FFFFFF">
                <a:alpha val="4000"/>
              </a:srgbClr>
            </a:solidFill>
            <a:prstDash val="solid"/>
          </a:ln>
        </p:spPr>
      </p:sp>
      <p:sp>
        <p:nvSpPr>
          <p:cNvPr id="22" name="Shape 20"/>
          <p:cNvSpPr/>
          <p:nvPr/>
        </p:nvSpPr>
        <p:spPr>
          <a:xfrm>
            <a:off x="9555480" y="0"/>
            <a:ext cx="0" cy="6858000"/>
          </a:xfrm>
          <a:prstGeom prst="line">
            <a:avLst/>
          </a:prstGeom>
          <a:noFill/>
          <a:ln w="12700">
            <a:solidFill>
              <a:srgbClr val="FFFFFF">
                <a:alpha val="4000"/>
              </a:srgbClr>
            </a:solidFill>
            <a:prstDash val="solid"/>
          </a:ln>
        </p:spPr>
      </p:sp>
      <p:sp>
        <p:nvSpPr>
          <p:cNvPr id="23" name="Shape 21"/>
          <p:cNvSpPr/>
          <p:nvPr/>
        </p:nvSpPr>
        <p:spPr>
          <a:xfrm>
            <a:off x="10058400" y="0"/>
            <a:ext cx="0" cy="6858000"/>
          </a:xfrm>
          <a:prstGeom prst="line">
            <a:avLst/>
          </a:prstGeom>
          <a:noFill/>
          <a:ln w="12700">
            <a:solidFill>
              <a:srgbClr val="FFFFFF">
                <a:alpha val="4000"/>
              </a:srgbClr>
            </a:solidFill>
            <a:prstDash val="solid"/>
          </a:ln>
        </p:spPr>
      </p:sp>
      <p:sp>
        <p:nvSpPr>
          <p:cNvPr id="24" name="Shape 22"/>
          <p:cNvSpPr/>
          <p:nvPr/>
        </p:nvSpPr>
        <p:spPr>
          <a:xfrm>
            <a:off x="10561320" y="0"/>
            <a:ext cx="0" cy="6858000"/>
          </a:xfrm>
          <a:prstGeom prst="line">
            <a:avLst/>
          </a:prstGeom>
          <a:noFill/>
          <a:ln w="12700">
            <a:solidFill>
              <a:srgbClr val="FFFFFF">
                <a:alpha val="4000"/>
              </a:srgbClr>
            </a:solidFill>
            <a:prstDash val="solid"/>
          </a:ln>
        </p:spPr>
      </p:sp>
      <p:sp>
        <p:nvSpPr>
          <p:cNvPr id="25" name="Shape 23"/>
          <p:cNvSpPr/>
          <p:nvPr/>
        </p:nvSpPr>
        <p:spPr>
          <a:xfrm>
            <a:off x="11064240" y="0"/>
            <a:ext cx="0" cy="6858000"/>
          </a:xfrm>
          <a:prstGeom prst="line">
            <a:avLst/>
          </a:prstGeom>
          <a:noFill/>
          <a:ln w="12700">
            <a:solidFill>
              <a:srgbClr val="FFFFFF">
                <a:alpha val="4000"/>
              </a:srgbClr>
            </a:solidFill>
            <a:prstDash val="solid"/>
          </a:ln>
        </p:spPr>
      </p:sp>
      <p:sp>
        <p:nvSpPr>
          <p:cNvPr id="26" name="Shape 24"/>
          <p:cNvSpPr/>
          <p:nvPr/>
        </p:nvSpPr>
        <p:spPr>
          <a:xfrm>
            <a:off x="11567160" y="0"/>
            <a:ext cx="0" cy="6858000"/>
          </a:xfrm>
          <a:prstGeom prst="line">
            <a:avLst/>
          </a:prstGeom>
          <a:noFill/>
          <a:ln w="12700">
            <a:solidFill>
              <a:srgbClr val="FFFFFF">
                <a:alpha val="4000"/>
              </a:srgbClr>
            </a:solidFill>
            <a:prstDash val="solid"/>
          </a:ln>
        </p:spPr>
      </p:sp>
      <p:sp>
        <p:nvSpPr>
          <p:cNvPr id="27" name="Shape 25"/>
          <p:cNvSpPr/>
          <p:nvPr/>
        </p:nvSpPr>
        <p:spPr>
          <a:xfrm>
            <a:off x="12070080" y="0"/>
            <a:ext cx="0" cy="6858000"/>
          </a:xfrm>
          <a:prstGeom prst="line">
            <a:avLst/>
          </a:prstGeom>
          <a:noFill/>
          <a:ln w="12700">
            <a:solidFill>
              <a:srgbClr val="FFFFFF">
                <a:alpha val="4000"/>
              </a:srgbClr>
            </a:solidFill>
            <a:prstDash val="solid"/>
          </a:ln>
        </p:spPr>
      </p:sp>
      <p:sp>
        <p:nvSpPr>
          <p:cNvPr id="28" name="Shape 26"/>
          <p:cNvSpPr/>
          <p:nvPr/>
        </p:nvSpPr>
        <p:spPr>
          <a:xfrm>
            <a:off x="0" y="0"/>
            <a:ext cx="12191695" cy="0"/>
          </a:xfrm>
          <a:prstGeom prst="line">
            <a:avLst/>
          </a:prstGeom>
          <a:noFill/>
          <a:ln w="12700">
            <a:solidFill>
              <a:srgbClr val="FFFFFF">
                <a:alpha val="4000"/>
              </a:srgbClr>
            </a:solidFill>
            <a:prstDash val="solid"/>
          </a:ln>
        </p:spPr>
      </p:sp>
      <p:sp>
        <p:nvSpPr>
          <p:cNvPr id="29" name="Shape 27"/>
          <p:cNvSpPr/>
          <p:nvPr/>
        </p:nvSpPr>
        <p:spPr>
          <a:xfrm>
            <a:off x="0" y="502920"/>
            <a:ext cx="12191695" cy="0"/>
          </a:xfrm>
          <a:prstGeom prst="line">
            <a:avLst/>
          </a:prstGeom>
          <a:noFill/>
          <a:ln w="12700">
            <a:solidFill>
              <a:srgbClr val="FFFFFF">
                <a:alpha val="4000"/>
              </a:srgbClr>
            </a:solidFill>
            <a:prstDash val="solid"/>
          </a:ln>
        </p:spPr>
      </p:sp>
      <p:sp>
        <p:nvSpPr>
          <p:cNvPr id="30" name="Shape 28"/>
          <p:cNvSpPr/>
          <p:nvPr/>
        </p:nvSpPr>
        <p:spPr>
          <a:xfrm>
            <a:off x="0" y="1005840"/>
            <a:ext cx="12191695" cy="0"/>
          </a:xfrm>
          <a:prstGeom prst="line">
            <a:avLst/>
          </a:prstGeom>
          <a:noFill/>
          <a:ln w="12700">
            <a:solidFill>
              <a:srgbClr val="FFFFFF">
                <a:alpha val="4000"/>
              </a:srgbClr>
            </a:solidFill>
            <a:prstDash val="solid"/>
          </a:ln>
        </p:spPr>
      </p:sp>
      <p:sp>
        <p:nvSpPr>
          <p:cNvPr id="31" name="Shape 29"/>
          <p:cNvSpPr/>
          <p:nvPr/>
        </p:nvSpPr>
        <p:spPr>
          <a:xfrm>
            <a:off x="0" y="1508760"/>
            <a:ext cx="12191695" cy="0"/>
          </a:xfrm>
          <a:prstGeom prst="line">
            <a:avLst/>
          </a:prstGeom>
          <a:noFill/>
          <a:ln w="12700">
            <a:solidFill>
              <a:srgbClr val="FFFFFF">
                <a:alpha val="4000"/>
              </a:srgbClr>
            </a:solidFill>
            <a:prstDash val="solid"/>
          </a:ln>
        </p:spPr>
      </p:sp>
      <p:sp>
        <p:nvSpPr>
          <p:cNvPr id="32" name="Shape 30"/>
          <p:cNvSpPr/>
          <p:nvPr/>
        </p:nvSpPr>
        <p:spPr>
          <a:xfrm>
            <a:off x="0" y="2011680"/>
            <a:ext cx="12191695" cy="0"/>
          </a:xfrm>
          <a:prstGeom prst="line">
            <a:avLst/>
          </a:prstGeom>
          <a:noFill/>
          <a:ln w="12700">
            <a:solidFill>
              <a:srgbClr val="FFFFFF">
                <a:alpha val="4000"/>
              </a:srgbClr>
            </a:solidFill>
            <a:prstDash val="solid"/>
          </a:ln>
        </p:spPr>
      </p:sp>
      <p:sp>
        <p:nvSpPr>
          <p:cNvPr id="33" name="Shape 31"/>
          <p:cNvSpPr/>
          <p:nvPr/>
        </p:nvSpPr>
        <p:spPr>
          <a:xfrm>
            <a:off x="0" y="2514600"/>
            <a:ext cx="12191695" cy="0"/>
          </a:xfrm>
          <a:prstGeom prst="line">
            <a:avLst/>
          </a:prstGeom>
          <a:noFill/>
          <a:ln w="12700">
            <a:solidFill>
              <a:srgbClr val="FFFFFF">
                <a:alpha val="4000"/>
              </a:srgbClr>
            </a:solidFill>
            <a:prstDash val="solid"/>
          </a:ln>
        </p:spPr>
      </p:sp>
      <p:sp>
        <p:nvSpPr>
          <p:cNvPr id="34" name="Shape 32"/>
          <p:cNvSpPr/>
          <p:nvPr/>
        </p:nvSpPr>
        <p:spPr>
          <a:xfrm>
            <a:off x="0" y="3017520"/>
            <a:ext cx="12191695" cy="0"/>
          </a:xfrm>
          <a:prstGeom prst="line">
            <a:avLst/>
          </a:prstGeom>
          <a:noFill/>
          <a:ln w="12700">
            <a:solidFill>
              <a:srgbClr val="FFFFFF">
                <a:alpha val="4000"/>
              </a:srgbClr>
            </a:solidFill>
            <a:prstDash val="solid"/>
          </a:ln>
        </p:spPr>
      </p:sp>
      <p:sp>
        <p:nvSpPr>
          <p:cNvPr id="35" name="Shape 33"/>
          <p:cNvSpPr/>
          <p:nvPr/>
        </p:nvSpPr>
        <p:spPr>
          <a:xfrm>
            <a:off x="0" y="3520440"/>
            <a:ext cx="12191695" cy="0"/>
          </a:xfrm>
          <a:prstGeom prst="line">
            <a:avLst/>
          </a:prstGeom>
          <a:noFill/>
          <a:ln w="12700">
            <a:solidFill>
              <a:srgbClr val="FFFFFF">
                <a:alpha val="4000"/>
              </a:srgbClr>
            </a:solidFill>
            <a:prstDash val="solid"/>
          </a:ln>
        </p:spPr>
      </p:sp>
      <p:sp>
        <p:nvSpPr>
          <p:cNvPr id="36" name="Shape 34"/>
          <p:cNvSpPr/>
          <p:nvPr/>
        </p:nvSpPr>
        <p:spPr>
          <a:xfrm>
            <a:off x="0" y="4023360"/>
            <a:ext cx="12191695" cy="0"/>
          </a:xfrm>
          <a:prstGeom prst="line">
            <a:avLst/>
          </a:prstGeom>
          <a:noFill/>
          <a:ln w="12700">
            <a:solidFill>
              <a:srgbClr val="FFFFFF">
                <a:alpha val="4000"/>
              </a:srgbClr>
            </a:solidFill>
            <a:prstDash val="solid"/>
          </a:ln>
        </p:spPr>
      </p:sp>
      <p:sp>
        <p:nvSpPr>
          <p:cNvPr id="37" name="Shape 35"/>
          <p:cNvSpPr/>
          <p:nvPr/>
        </p:nvSpPr>
        <p:spPr>
          <a:xfrm>
            <a:off x="0" y="4526280"/>
            <a:ext cx="12191695" cy="0"/>
          </a:xfrm>
          <a:prstGeom prst="line">
            <a:avLst/>
          </a:prstGeom>
          <a:noFill/>
          <a:ln w="12700">
            <a:solidFill>
              <a:srgbClr val="FFFFFF">
                <a:alpha val="4000"/>
              </a:srgbClr>
            </a:solidFill>
            <a:prstDash val="solid"/>
          </a:ln>
        </p:spPr>
      </p:sp>
      <p:sp>
        <p:nvSpPr>
          <p:cNvPr id="38" name="Shape 36"/>
          <p:cNvSpPr/>
          <p:nvPr/>
        </p:nvSpPr>
        <p:spPr>
          <a:xfrm>
            <a:off x="0" y="5029200"/>
            <a:ext cx="12191695" cy="0"/>
          </a:xfrm>
          <a:prstGeom prst="line">
            <a:avLst/>
          </a:prstGeom>
          <a:noFill/>
          <a:ln w="12700">
            <a:solidFill>
              <a:srgbClr val="FFFFFF">
                <a:alpha val="4000"/>
              </a:srgbClr>
            </a:solidFill>
            <a:prstDash val="solid"/>
          </a:ln>
        </p:spPr>
      </p:sp>
      <p:sp>
        <p:nvSpPr>
          <p:cNvPr id="39" name="Shape 37"/>
          <p:cNvSpPr/>
          <p:nvPr/>
        </p:nvSpPr>
        <p:spPr>
          <a:xfrm>
            <a:off x="0" y="5532120"/>
            <a:ext cx="12191695" cy="0"/>
          </a:xfrm>
          <a:prstGeom prst="line">
            <a:avLst/>
          </a:prstGeom>
          <a:noFill/>
          <a:ln w="12700">
            <a:solidFill>
              <a:srgbClr val="FFFFFF">
                <a:alpha val="4000"/>
              </a:srgbClr>
            </a:solidFill>
            <a:prstDash val="solid"/>
          </a:ln>
        </p:spPr>
      </p:sp>
      <p:sp>
        <p:nvSpPr>
          <p:cNvPr id="40" name="Shape 38"/>
          <p:cNvSpPr/>
          <p:nvPr/>
        </p:nvSpPr>
        <p:spPr>
          <a:xfrm>
            <a:off x="0" y="6035040"/>
            <a:ext cx="12191695" cy="0"/>
          </a:xfrm>
          <a:prstGeom prst="line">
            <a:avLst/>
          </a:prstGeom>
          <a:noFill/>
          <a:ln w="12700">
            <a:solidFill>
              <a:srgbClr val="FFFFFF">
                <a:alpha val="4000"/>
              </a:srgbClr>
            </a:solidFill>
            <a:prstDash val="solid"/>
          </a:ln>
        </p:spPr>
      </p:sp>
      <p:sp>
        <p:nvSpPr>
          <p:cNvPr id="41" name="Shape 39"/>
          <p:cNvSpPr/>
          <p:nvPr/>
        </p:nvSpPr>
        <p:spPr>
          <a:xfrm>
            <a:off x="0" y="6537960"/>
            <a:ext cx="12191695" cy="0"/>
          </a:xfrm>
          <a:prstGeom prst="line">
            <a:avLst/>
          </a:prstGeom>
          <a:noFill/>
          <a:ln w="12700">
            <a:solidFill>
              <a:srgbClr val="FFFFFF">
                <a:alpha val="4000"/>
              </a:srgbClr>
            </a:solidFill>
            <a:prstDash val="solid"/>
          </a:ln>
        </p:spPr>
      </p:sp>
      <p:sp>
        <p:nvSpPr>
          <p:cNvPr id="42" name="Shape 40"/>
          <p:cNvSpPr/>
          <p:nvPr/>
        </p:nvSpPr>
        <p:spPr>
          <a:xfrm>
            <a:off x="0" y="0"/>
            <a:ext cx="12191695" cy="6858000"/>
          </a:xfrm>
          <a:prstGeom prst="rect">
            <a:avLst/>
          </a:prstGeom>
          <a:solidFill>
            <a:srgbClr val="1667CC">
              <a:alpha val="6000"/>
            </a:srgbClr>
          </a:solidFill>
          <a:ln w="12700">
            <a:solidFill>
              <a:srgbClr val="333333">
                <a:alpha val="0"/>
              </a:srgbClr>
            </a:solidFill>
            <a:prstDash val="solid"/>
          </a:ln>
        </p:spPr>
      </p:sp>
      <p:pic>
        <p:nvPicPr>
          <p:cNvPr id="43" name="Image 0" descr="/home/openclaw/.openclaw/workspace/revio-logo.png">    </p:cNvPr>
          <p:cNvPicPr>
            <a:picLocks noChangeAspect="1"/>
          </p:cNvPicPr>
          <p:nvPr/>
        </p:nvPicPr>
        <p:blipFill>
          <a:blip r:embed="rId1"/>
          <a:stretch>
            <a:fillRect/>
          </a:stretch>
        </p:blipFill>
        <p:spPr>
          <a:xfrm>
            <a:off x="530352" y="320040"/>
            <a:ext cx="1307592" cy="320040"/>
          </a:xfrm>
          <a:prstGeom prst="rect">
            <a:avLst/>
          </a:prstGeom>
        </p:spPr>
      </p:pic>
      <p:sp>
        <p:nvSpPr>
          <p:cNvPr id="44" name="Shape 41"/>
          <p:cNvSpPr/>
          <p:nvPr/>
        </p:nvSpPr>
        <p:spPr>
          <a:xfrm>
            <a:off x="2057400" y="301752"/>
            <a:ext cx="0" cy="393192"/>
          </a:xfrm>
          <a:prstGeom prst="line">
            <a:avLst/>
          </a:prstGeom>
          <a:noFill/>
          <a:ln w="12700">
            <a:solidFill>
              <a:srgbClr val="FFFFFF">
                <a:alpha val="22000"/>
              </a:srgbClr>
            </a:solidFill>
            <a:prstDash val="solid"/>
          </a:ln>
        </p:spPr>
      </p:sp>
      <p:sp>
        <p:nvSpPr>
          <p:cNvPr id="45" name="Shape 42"/>
          <p:cNvSpPr/>
          <p:nvPr/>
        </p:nvSpPr>
        <p:spPr>
          <a:xfrm>
            <a:off x="2267712" y="265176"/>
            <a:ext cx="1444752" cy="438912"/>
          </a:xfrm>
          <a:prstGeom prst="roundRect">
            <a:avLst>
              <a:gd name="adj" fmla="val 12500"/>
            </a:avLst>
          </a:prstGeom>
          <a:solidFill>
            <a:srgbClr val="FFFFFF"/>
          </a:solidFill>
          <a:ln w="12700">
            <a:solidFill>
              <a:srgbClr val="333333">
                <a:alpha val="0"/>
              </a:srgbClr>
            </a:solidFill>
            <a:prstDash val="solid"/>
          </a:ln>
        </p:spPr>
      </p:sp>
      <p:pic>
        <p:nvPicPr>
          <p:cNvPr id="46" name="Image 1" descr="/home/openclaw/.openclaw/workspace/intermedia-logo.png">    </p:cNvPr>
          <p:cNvPicPr>
            <a:picLocks noChangeAspect="1"/>
          </p:cNvPicPr>
          <p:nvPr/>
        </p:nvPicPr>
        <p:blipFill>
          <a:blip r:embed="rId2"/>
          <a:stretch>
            <a:fillRect/>
          </a:stretch>
        </p:blipFill>
        <p:spPr>
          <a:xfrm>
            <a:off x="2395728" y="347472"/>
            <a:ext cx="1188720" cy="265176"/>
          </a:xfrm>
          <a:prstGeom prst="rect">
            <a:avLst/>
          </a:prstGeom>
        </p:spPr>
      </p:pic>
      <p:sp>
        <p:nvSpPr>
          <p:cNvPr id="47" name="Text 43"/>
          <p:cNvSpPr/>
          <p:nvPr/>
        </p:nvSpPr>
        <p:spPr>
          <a:xfrm>
            <a:off x="530352" y="786384"/>
            <a:ext cx="4023360" cy="201168"/>
          </a:xfrm>
          <a:prstGeom prst="rect">
            <a:avLst/>
          </a:prstGeom>
          <a:noFill/>
          <a:ln/>
        </p:spPr>
        <p:txBody>
          <a:bodyPr wrap="square" rtlCol="0" anchor="ctr"/>
          <a:lstStyle/>
          <a:p>
            <a:pPr indent="0" marL="0">
              <a:buNone/>
            </a:pPr>
            <a:r>
              <a:rPr lang="en-US" sz="850" b="1" dirty="0">
                <a:solidFill>
                  <a:srgbClr val="2499B6"/>
                </a:solidFill>
              </a:rPr>
              <a:t>TALK TRACK</a:t>
            </a:r>
            <a:endParaRPr lang="en-US" sz="850" dirty="0"/>
          </a:p>
        </p:txBody>
      </p:sp>
      <p:sp>
        <p:nvSpPr>
          <p:cNvPr id="48" name="Text 44"/>
          <p:cNvSpPr/>
          <p:nvPr/>
        </p:nvSpPr>
        <p:spPr>
          <a:xfrm>
            <a:off x="530352" y="1051560"/>
            <a:ext cx="6949440" cy="658368"/>
          </a:xfrm>
          <a:prstGeom prst="rect">
            <a:avLst/>
          </a:prstGeom>
          <a:noFill/>
          <a:ln/>
        </p:spPr>
        <p:txBody>
          <a:bodyPr wrap="square" lIns="0" tIns="0" rIns="0" bIns="0" rtlCol="0" anchor="ctr">
            <a:normAutofit/>
          </a:bodyPr>
          <a:lstStyle/>
          <a:p>
            <a:pPr indent="0" marL="0">
              <a:buNone/>
            </a:pPr>
            <a:r>
              <a:rPr lang="en-US" sz="2700" b="1" dirty="0">
                <a:solidFill>
                  <a:srgbClr val="FFFFFF"/>
                </a:solidFill>
              </a:rPr>
              <a:t>One-minute way to frame this for Kuldip.</a:t>
            </a:r>
            <a:endParaRPr lang="en-US" sz="2700" dirty="0"/>
          </a:p>
        </p:txBody>
      </p:sp>
      <p:sp>
        <p:nvSpPr>
          <p:cNvPr id="49" name="Shape 45"/>
          <p:cNvSpPr/>
          <p:nvPr/>
        </p:nvSpPr>
        <p:spPr>
          <a:xfrm>
            <a:off x="822960" y="1828800"/>
            <a:ext cx="10561320" cy="3822192"/>
          </a:xfrm>
          <a:prstGeom prst="roundRect">
            <a:avLst>
              <a:gd name="adj" fmla="val 1914"/>
            </a:avLst>
          </a:prstGeom>
          <a:solidFill>
            <a:srgbClr val="101A2A"/>
          </a:solidFill>
          <a:ln w="12700">
            <a:solidFill>
              <a:srgbClr val="6EBE4F">
                <a:alpha val="70000"/>
              </a:srgbClr>
            </a:solidFill>
            <a:prstDash val="solid"/>
          </a:ln>
        </p:spPr>
      </p:sp>
      <p:sp>
        <p:nvSpPr>
          <p:cNvPr id="50" name="Text 46"/>
          <p:cNvSpPr/>
          <p:nvPr/>
        </p:nvSpPr>
        <p:spPr>
          <a:xfrm>
            <a:off x="1143000" y="2212848"/>
            <a:ext cx="9921240" cy="2788920"/>
          </a:xfrm>
          <a:prstGeom prst="rect">
            <a:avLst/>
          </a:prstGeom>
          <a:noFill/>
          <a:ln/>
        </p:spPr>
        <p:txBody>
          <a:bodyPr wrap="square" lIns="254" tIns="254" rIns="254" bIns="254" rtlCol="0" anchor="ctr">
            <a:normAutofit/>
          </a:bodyPr>
          <a:lstStyle/>
          <a:p>
            <a:pPr indent="0" marL="0">
              <a:buNone/>
            </a:pPr>
            <a:r>
              <a:rPr lang="en-US" sz="1620" dirty="0">
                <a:solidFill>
                  <a:srgbClr val="EDF8EC"/>
                </a:solidFill>
              </a:rPr>
              <a:t>Kuldip, the way I would think about Revii for Intermedia is not as a chatbot sitting on top of billing. It is a billing intelligence layer that helps you modernize safely. You already have a proprietary environment in HostPilot, plus Atlas and BRM carrying a lot of legacy billing logic. Rev.io can become the modern charge generation and rating engine underneath that, while HostPilot continues to serve the customer-facing experience where needed. Then Revii helps your team inspect billing data, catch reconciliation issues, explain invoice changes, identify leakage, and gradually document and move legacy billing rules into Rev.io. So instead of a risky big-bang migration, Intermedia gets a phased path: first visibility, then charge generation, then revenue assurance, then deeper modernization.</a:t>
            </a:r>
            <a:endParaRPr lang="en-US" sz="1620" dirty="0"/>
          </a:p>
        </p:txBody>
      </p:sp>
      <p:sp>
        <p:nvSpPr>
          <p:cNvPr id="51" name="Shape 47"/>
          <p:cNvSpPr/>
          <p:nvPr/>
        </p:nvSpPr>
        <p:spPr>
          <a:xfrm>
            <a:off x="2880360" y="5797296"/>
            <a:ext cx="1828800" cy="320040"/>
          </a:xfrm>
          <a:prstGeom prst="roundRect">
            <a:avLst>
              <a:gd name="adj" fmla="val 45714"/>
            </a:avLst>
          </a:prstGeom>
          <a:solidFill>
            <a:srgbClr val="2499B6">
              <a:alpha val="14000"/>
            </a:srgbClr>
          </a:solidFill>
          <a:ln w="12700">
            <a:solidFill>
              <a:srgbClr val="2499B6">
                <a:alpha val="70000"/>
              </a:srgbClr>
            </a:solidFill>
            <a:prstDash val="solid"/>
          </a:ln>
        </p:spPr>
      </p:sp>
      <p:sp>
        <p:nvSpPr>
          <p:cNvPr id="52" name="Text 48"/>
          <p:cNvSpPr/>
          <p:nvPr/>
        </p:nvSpPr>
        <p:spPr>
          <a:xfrm>
            <a:off x="2990088" y="5879592"/>
            <a:ext cx="1609344" cy="109728"/>
          </a:xfrm>
          <a:prstGeom prst="rect">
            <a:avLst/>
          </a:prstGeom>
          <a:noFill/>
          <a:ln/>
        </p:spPr>
        <p:txBody>
          <a:bodyPr wrap="square" rtlCol="0" anchor="ctr">
            <a:normAutofit/>
          </a:bodyPr>
          <a:lstStyle/>
          <a:p>
            <a:pPr algn="ctr" indent="0" marL="0">
              <a:buNone/>
            </a:pPr>
            <a:r>
              <a:rPr lang="en-US" sz="740" b="1" dirty="0">
                <a:solidFill>
                  <a:srgbClr val="FFFFFF"/>
                </a:solidFill>
              </a:rPr>
              <a:t>visibility</a:t>
            </a:r>
            <a:endParaRPr lang="en-US" sz="740" dirty="0"/>
          </a:p>
        </p:txBody>
      </p:sp>
      <p:sp>
        <p:nvSpPr>
          <p:cNvPr id="53" name="Shape 49"/>
          <p:cNvSpPr/>
          <p:nvPr/>
        </p:nvSpPr>
        <p:spPr>
          <a:xfrm>
            <a:off x="4892040" y="5797296"/>
            <a:ext cx="1828800" cy="320040"/>
          </a:xfrm>
          <a:prstGeom prst="roundRect">
            <a:avLst>
              <a:gd name="adj" fmla="val 45714"/>
            </a:avLst>
          </a:prstGeom>
          <a:solidFill>
            <a:srgbClr val="1667CC">
              <a:alpha val="14000"/>
            </a:srgbClr>
          </a:solidFill>
          <a:ln w="12700">
            <a:solidFill>
              <a:srgbClr val="1667CC">
                <a:alpha val="70000"/>
              </a:srgbClr>
            </a:solidFill>
            <a:prstDash val="solid"/>
          </a:ln>
        </p:spPr>
      </p:sp>
      <p:sp>
        <p:nvSpPr>
          <p:cNvPr id="54" name="Text 50"/>
          <p:cNvSpPr/>
          <p:nvPr/>
        </p:nvSpPr>
        <p:spPr>
          <a:xfrm>
            <a:off x="5001768" y="5879592"/>
            <a:ext cx="1609344" cy="109728"/>
          </a:xfrm>
          <a:prstGeom prst="rect">
            <a:avLst/>
          </a:prstGeom>
          <a:noFill/>
          <a:ln/>
        </p:spPr>
        <p:txBody>
          <a:bodyPr wrap="square" rtlCol="0" anchor="ctr">
            <a:normAutofit/>
          </a:bodyPr>
          <a:lstStyle/>
          <a:p>
            <a:pPr algn="ctr" indent="0" marL="0">
              <a:buNone/>
            </a:pPr>
            <a:r>
              <a:rPr lang="en-US" sz="740" b="1" dirty="0">
                <a:solidFill>
                  <a:srgbClr val="FFFFFF"/>
                </a:solidFill>
              </a:rPr>
              <a:t>charge generation</a:t>
            </a:r>
            <a:endParaRPr lang="en-US" sz="740" dirty="0"/>
          </a:p>
        </p:txBody>
      </p:sp>
      <p:sp>
        <p:nvSpPr>
          <p:cNvPr id="55" name="Shape 51"/>
          <p:cNvSpPr/>
          <p:nvPr/>
        </p:nvSpPr>
        <p:spPr>
          <a:xfrm>
            <a:off x="6903720" y="5797296"/>
            <a:ext cx="1828800" cy="320040"/>
          </a:xfrm>
          <a:prstGeom prst="roundRect">
            <a:avLst>
              <a:gd name="adj" fmla="val 45714"/>
            </a:avLst>
          </a:prstGeom>
          <a:solidFill>
            <a:srgbClr val="6EBE4F">
              <a:alpha val="14000"/>
            </a:srgbClr>
          </a:solidFill>
          <a:ln w="12700">
            <a:solidFill>
              <a:srgbClr val="6EBE4F">
                <a:alpha val="70000"/>
              </a:srgbClr>
            </a:solidFill>
            <a:prstDash val="solid"/>
          </a:ln>
        </p:spPr>
      </p:sp>
      <p:sp>
        <p:nvSpPr>
          <p:cNvPr id="56" name="Text 52"/>
          <p:cNvSpPr/>
          <p:nvPr/>
        </p:nvSpPr>
        <p:spPr>
          <a:xfrm>
            <a:off x="7013448" y="5879592"/>
            <a:ext cx="1609344" cy="109728"/>
          </a:xfrm>
          <a:prstGeom prst="rect">
            <a:avLst/>
          </a:prstGeom>
          <a:noFill/>
          <a:ln/>
        </p:spPr>
        <p:txBody>
          <a:bodyPr wrap="square" rtlCol="0" anchor="ctr">
            <a:normAutofit/>
          </a:bodyPr>
          <a:lstStyle/>
          <a:p>
            <a:pPr algn="ctr" indent="0" marL="0">
              <a:buNone/>
            </a:pPr>
            <a:r>
              <a:rPr lang="en-US" sz="740" b="1" dirty="0">
                <a:solidFill>
                  <a:srgbClr val="FFFFFF"/>
                </a:solidFill>
              </a:rPr>
              <a:t>revenue assurance</a:t>
            </a:r>
            <a:endParaRPr lang="en-US" sz="740" dirty="0"/>
          </a:p>
        </p:txBody>
      </p:sp>
      <p:sp>
        <p:nvSpPr>
          <p:cNvPr id="57" name="Shape 53"/>
          <p:cNvSpPr/>
          <p:nvPr/>
        </p:nvSpPr>
        <p:spPr>
          <a:xfrm>
            <a:off x="8915400" y="5797296"/>
            <a:ext cx="1828800" cy="320040"/>
          </a:xfrm>
          <a:prstGeom prst="roundRect">
            <a:avLst>
              <a:gd name="adj" fmla="val 45714"/>
            </a:avLst>
          </a:prstGeom>
          <a:solidFill>
            <a:srgbClr val="FC6120">
              <a:alpha val="14000"/>
            </a:srgbClr>
          </a:solidFill>
          <a:ln w="12700">
            <a:solidFill>
              <a:srgbClr val="FC6120">
                <a:alpha val="70000"/>
              </a:srgbClr>
            </a:solidFill>
            <a:prstDash val="solid"/>
          </a:ln>
        </p:spPr>
      </p:sp>
      <p:sp>
        <p:nvSpPr>
          <p:cNvPr id="58" name="Text 54"/>
          <p:cNvSpPr/>
          <p:nvPr/>
        </p:nvSpPr>
        <p:spPr>
          <a:xfrm>
            <a:off x="9025128" y="5879592"/>
            <a:ext cx="1609344" cy="109728"/>
          </a:xfrm>
          <a:prstGeom prst="rect">
            <a:avLst/>
          </a:prstGeom>
          <a:noFill/>
          <a:ln/>
        </p:spPr>
        <p:txBody>
          <a:bodyPr wrap="square" rtlCol="0" anchor="ctr">
            <a:normAutofit/>
          </a:bodyPr>
          <a:lstStyle/>
          <a:p>
            <a:pPr algn="ctr" indent="0" marL="0">
              <a:buNone/>
            </a:pPr>
            <a:r>
              <a:rPr lang="en-US" sz="740" b="1" dirty="0">
                <a:solidFill>
                  <a:srgbClr val="FFFFFF"/>
                </a:solidFill>
              </a:rPr>
              <a:t>modernization</a:t>
            </a:r>
            <a:endParaRPr lang="en-US" sz="740" dirty="0"/>
          </a:p>
        </p:txBody>
      </p:sp>
      <p:sp>
        <p:nvSpPr>
          <p:cNvPr id="59" name="Text 55"/>
          <p:cNvSpPr/>
          <p:nvPr/>
        </p:nvSpPr>
        <p:spPr>
          <a:xfrm>
            <a:off x="530352" y="6473952"/>
            <a:ext cx="6583680" cy="164592"/>
          </a:xfrm>
          <a:prstGeom prst="rect">
            <a:avLst/>
          </a:prstGeom>
          <a:noFill/>
          <a:ln/>
        </p:spPr>
        <p:txBody>
          <a:bodyPr wrap="square" rtlCol="0" anchor="ctr"/>
          <a:lstStyle/>
          <a:p>
            <a:pPr indent="0" marL="0">
              <a:buNone/>
            </a:pPr>
            <a:r>
              <a:rPr lang="en-US" sz="750" dirty="0">
                <a:solidFill>
                  <a:srgbClr val="6E7F96"/>
                </a:solidFill>
              </a:rPr>
              <a:t>Rev.io x Intermedia | Revii AI billing modernization | Confidential</a:t>
            </a:r>
            <a:endParaRPr lang="en-US" sz="750" dirty="0"/>
          </a:p>
        </p:txBody>
      </p:sp>
      <p:sp>
        <p:nvSpPr>
          <p:cNvPr id="60" name="Text 56"/>
          <p:cNvSpPr/>
          <p:nvPr/>
        </p:nvSpPr>
        <p:spPr>
          <a:xfrm>
            <a:off x="10652760" y="6473952"/>
            <a:ext cx="1005840" cy="164592"/>
          </a:xfrm>
          <a:prstGeom prst="rect">
            <a:avLst/>
          </a:prstGeom>
          <a:noFill/>
          <a:ln/>
        </p:spPr>
        <p:txBody>
          <a:bodyPr wrap="square" rtlCol="0" anchor="ctr"/>
          <a:lstStyle/>
          <a:p>
            <a:pPr algn="r" indent="0" marL="0">
              <a:buNone/>
            </a:pPr>
            <a:r>
              <a:rPr lang="en-US" sz="750" dirty="0">
                <a:solidFill>
                  <a:srgbClr val="6E7F96"/>
                </a:solidFill>
              </a:rPr>
              <a:t>June 2026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Rev.io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Intermedia Revii AI Billing Modernization</dc:title>
  <dc:subject>Intermedia Revii AI billing modernization use case</dc:subject>
  <dc:creator>Rev.io</dc:creator>
  <cp:lastModifiedBy>Rev.io</cp:lastModifiedBy>
  <cp:revision>1</cp:revision>
  <dcterms:created xsi:type="dcterms:W3CDTF">2026-06-26T18:20:48Z</dcterms:created>
  <dcterms:modified xsi:type="dcterms:W3CDTF">2026-06-26T18:20:48Z</dcterms:modified>
</cp:coreProperties>
</file>