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pic>
        <p:nvPicPr>
          <p:cNvPr id="42" name="Image 0" descr="/home/openclaw/.openclaw/workspace/revi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298448" cy="32004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2011680" y="329184"/>
            <a:ext cx="0" cy="384048"/>
          </a:xfrm>
          <a:prstGeom prst="line">
            <a:avLst/>
          </a:prstGeom>
          <a:noFill/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212848" y="283464"/>
            <a:ext cx="15361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5" name="Image 1" descr="/home/openclaw/.openclaw/workspace/intermedia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384048"/>
            <a:ext cx="1261872" cy="265176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621792" y="1298448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2499B6"/>
                </a:solidFill>
              </a:rPr>
              <a:t>BILLING MODERNIZATION CASE</a:t>
            </a:r>
            <a:endParaRPr lang="en-US" sz="880" dirty="0"/>
          </a:p>
        </p:txBody>
      </p:sp>
      <p:sp>
        <p:nvSpPr>
          <p:cNvPr id="47" name="Text 43"/>
          <p:cNvSpPr/>
          <p:nvPr/>
        </p:nvSpPr>
        <p:spPr>
          <a:xfrm>
            <a:off x="603504" y="1664208"/>
            <a:ext cx="813816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Why Intermedia should switch to Rev.io</a:t>
            </a:r>
            <a:endParaRPr lang="en-US" sz="4000" dirty="0"/>
          </a:p>
        </p:txBody>
      </p:sp>
      <p:sp>
        <p:nvSpPr>
          <p:cNvPr id="48" name="Text 44"/>
          <p:cNvSpPr/>
          <p:nvPr/>
        </p:nvSpPr>
        <p:spPr>
          <a:xfrm>
            <a:off x="621792" y="3090672"/>
            <a:ext cx="73152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C4D1E1"/>
                </a:solidFill>
              </a:rPr>
              <a:t>BRM has been pushed hard by strong engineering work, but Intermedia is running into a scale ceiling: long bill runs, month-end pressure, and more complexity with every partner, customer, and market added.</a:t>
            </a:r>
            <a:endParaRPr lang="en-US" sz="1220" dirty="0"/>
          </a:p>
        </p:txBody>
      </p:sp>
      <p:sp>
        <p:nvSpPr>
          <p:cNvPr id="49" name="Shape 45"/>
          <p:cNvSpPr/>
          <p:nvPr/>
        </p:nvSpPr>
        <p:spPr>
          <a:xfrm>
            <a:off x="640080" y="4892040"/>
            <a:ext cx="3200400" cy="1024128"/>
          </a:xfrm>
          <a:prstGeom prst="roundRect">
            <a:avLst>
              <a:gd name="adj" fmla="val 7143"/>
            </a:avLst>
          </a:prstGeom>
          <a:solidFill>
            <a:srgbClr val="101A2A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804672" y="503834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EBE4F"/>
                </a:solidFill>
              </a:rPr>
              <a:t>1.5M</a:t>
            </a:r>
            <a:endParaRPr lang="en-US" sz="2500" dirty="0"/>
          </a:p>
        </p:txBody>
      </p:sp>
      <p:sp>
        <p:nvSpPr>
          <p:cNvPr id="51" name="Text 47"/>
          <p:cNvSpPr/>
          <p:nvPr/>
        </p:nvSpPr>
        <p:spPr>
          <a:xfrm>
            <a:off x="804672" y="5504688"/>
            <a:ext cx="2871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9B8CB"/>
                </a:solidFill>
              </a:rPr>
              <a:t>BILLING LINES TODAY</a:t>
            </a:r>
            <a:endParaRPr lang="en-US" sz="750" dirty="0"/>
          </a:p>
        </p:txBody>
      </p:sp>
      <p:sp>
        <p:nvSpPr>
          <p:cNvPr id="52" name="Shape 48"/>
          <p:cNvSpPr/>
          <p:nvPr/>
        </p:nvSpPr>
        <p:spPr>
          <a:xfrm>
            <a:off x="4480560" y="4892040"/>
            <a:ext cx="3200400" cy="1024128"/>
          </a:xfrm>
          <a:prstGeom prst="roundRect">
            <a:avLst>
              <a:gd name="adj" fmla="val 7143"/>
            </a:avLst>
          </a:prstGeom>
          <a:solidFill>
            <a:srgbClr val="101A2A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4645152" y="503834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EBE4F"/>
                </a:solidFill>
              </a:rPr>
              <a:t>48 hrs</a:t>
            </a:r>
            <a:endParaRPr lang="en-US" sz="2500" dirty="0"/>
          </a:p>
        </p:txBody>
      </p:sp>
      <p:sp>
        <p:nvSpPr>
          <p:cNvPr id="54" name="Text 50"/>
          <p:cNvSpPr/>
          <p:nvPr/>
        </p:nvSpPr>
        <p:spPr>
          <a:xfrm>
            <a:off x="4645152" y="5504688"/>
            <a:ext cx="2871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9B8CB"/>
                </a:solidFill>
              </a:rPr>
              <a:t>CURRENT BILL-RUN WINDOW</a:t>
            </a:r>
            <a:endParaRPr lang="en-US" sz="750" dirty="0"/>
          </a:p>
        </p:txBody>
      </p:sp>
      <p:sp>
        <p:nvSpPr>
          <p:cNvPr id="55" name="Shape 51"/>
          <p:cNvSpPr/>
          <p:nvPr/>
        </p:nvSpPr>
        <p:spPr>
          <a:xfrm>
            <a:off x="8321040" y="4892040"/>
            <a:ext cx="3200400" cy="1024128"/>
          </a:xfrm>
          <a:prstGeom prst="roundRect">
            <a:avLst>
              <a:gd name="adj" fmla="val 7143"/>
            </a:avLst>
          </a:prstGeom>
          <a:solidFill>
            <a:srgbClr val="101A2A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8485632" y="503834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6EBE4F"/>
                </a:solidFill>
              </a:rPr>
              <a:t>3M</a:t>
            </a:r>
            <a:endParaRPr lang="en-US" sz="2500" dirty="0"/>
          </a:p>
        </p:txBody>
      </p:sp>
      <p:sp>
        <p:nvSpPr>
          <p:cNvPr id="57" name="Text 53"/>
          <p:cNvSpPr/>
          <p:nvPr/>
        </p:nvSpPr>
        <p:spPr>
          <a:xfrm>
            <a:off x="8485632" y="5504688"/>
            <a:ext cx="2871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9B8CB"/>
                </a:solidFill>
              </a:rPr>
              <a:t>TARGET SCALE REQUIREMENT</a:t>
            </a:r>
            <a:endParaRPr lang="en-US" sz="750" dirty="0"/>
          </a:p>
        </p:txBody>
      </p:sp>
      <p:sp>
        <p:nvSpPr>
          <p:cNvPr id="58" name="Text 54"/>
          <p:cNvSpPr/>
          <p:nvPr/>
        </p:nvSpPr>
        <p:spPr>
          <a:xfrm>
            <a:off x="502920" y="6473952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F96"/>
                </a:solidFill>
              </a:rPr>
              <a:t>Rev.io x Intermedia | Billing modernization discussion</a:t>
            </a:r>
            <a:endParaRPr lang="en-US" sz="750" dirty="0"/>
          </a:p>
        </p:txBody>
      </p:sp>
      <p:sp>
        <p:nvSpPr>
          <p:cNvPr id="59" name="Text 55"/>
          <p:cNvSpPr/>
          <p:nvPr/>
        </p:nvSpPr>
        <p:spPr>
          <a:xfrm>
            <a:off x="1051560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7F96"/>
                </a:solidFill>
              </a:rPr>
              <a:t>June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Image 0" descr="/home/openclaw/.openclaw/workspace/revi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298448" cy="3200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329184"/>
            <a:ext cx="0" cy="384048"/>
          </a:xfrm>
          <a:prstGeom prst="line">
            <a:avLst/>
          </a:prstGeom>
          <a:noFill/>
          <a:ln w="12700">
            <a:solidFill>
              <a:srgbClr val="26374F">
                <a:alpha val="6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212848" y="283464"/>
            <a:ext cx="15361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6" name="Image 1" descr="/home/openclaw/.openclaw/workspace/intermedia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384048"/>
            <a:ext cx="1261872" cy="2651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792" y="9601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7CC"/>
                </a:solidFill>
              </a:rPr>
              <a:t>THE BREAKING POINT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603504" y="1261872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62033"/>
                </a:solidFill>
              </a:rPr>
              <a:t>The issue is not effort. It is architecture.</a:t>
            </a:r>
            <a:endParaRPr lang="en-US" sz="3100" dirty="0"/>
          </a:p>
        </p:txBody>
      </p:sp>
      <p:sp>
        <p:nvSpPr>
          <p:cNvPr id="9" name="Text 5"/>
          <p:cNvSpPr/>
          <p:nvPr/>
        </p:nvSpPr>
        <p:spPr>
          <a:xfrm>
            <a:off x="621792" y="235915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26176"/>
                </a:solidFill>
              </a:rPr>
              <a:t>Intermedia has bought time through multi-threading, performance tuning, and real engineering investment. But if bill runs are already spilling past the first of the month, every growth initiative makes the operational risk bigger.</a:t>
            </a:r>
            <a:endParaRPr lang="en-US" sz="1120" dirty="0"/>
          </a:p>
        </p:txBody>
      </p:sp>
      <p:sp>
        <p:nvSpPr>
          <p:cNvPr id="10" name="Shape 6"/>
          <p:cNvSpPr/>
          <p:nvPr/>
        </p:nvSpPr>
        <p:spPr>
          <a:xfrm>
            <a:off x="685800" y="31546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85800" y="3154680"/>
            <a:ext cx="5074920" cy="64008"/>
          </a:xfrm>
          <a:prstGeom prst="rect">
            <a:avLst/>
          </a:prstGeom>
          <a:solidFill>
            <a:srgbClr val="FC61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86968" y="3374136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033"/>
                </a:solidFill>
              </a:rPr>
              <a:t>Bill runs are too long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86968" y="3849624"/>
            <a:ext cx="4672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176"/>
                </a:solidFill>
              </a:rPr>
              <a:t>A 48-hour cycle creates pressure around month-end close, downstream reporting, partner timelines, customer experience, and finance confidence.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6400800" y="3154680"/>
            <a:ext cx="5074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0" y="3154680"/>
            <a:ext cx="5074920" cy="64008"/>
          </a:xfrm>
          <a:prstGeom prst="rect">
            <a:avLst/>
          </a:prstGeom>
          <a:solidFill>
            <a:srgbClr val="F5B64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01968" y="3374136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033"/>
                </a:solidFill>
              </a:rPr>
              <a:t>Scale increases the strain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601968" y="3849624"/>
            <a:ext cx="46725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176"/>
                </a:solidFill>
              </a:rPr>
              <a:t>Every new partner, customer, product bundle, and market expansion adds more lines, more exceptions, and more dependency on custom billing work.</a:t>
            </a:r>
            <a:endParaRPr lang="en-US" sz="1020" dirty="0"/>
          </a:p>
        </p:txBody>
      </p:sp>
      <p:sp>
        <p:nvSpPr>
          <p:cNvPr id="18" name="Text 14"/>
          <p:cNvSpPr/>
          <p:nvPr/>
        </p:nvSpPr>
        <p:spPr>
          <a:xfrm>
            <a:off x="502920" y="6473952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99C"/>
                </a:solidFill>
              </a:rPr>
              <a:t>Rev.io x Intermedia | Billing modernization discussion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1051560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99C"/>
                </a:solidFill>
              </a:rPr>
              <a:t>June 2026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pic>
        <p:nvPicPr>
          <p:cNvPr id="42" name="Image 0" descr="/home/openclaw/.openclaw/workspace/revi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298448" cy="32004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2011680" y="329184"/>
            <a:ext cx="0" cy="384048"/>
          </a:xfrm>
          <a:prstGeom prst="line">
            <a:avLst/>
          </a:prstGeom>
          <a:noFill/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212848" y="283464"/>
            <a:ext cx="15361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5" name="Image 1" descr="/home/openclaw/.openclaw/workspace/intermedia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384048"/>
            <a:ext cx="1261872" cy="265176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621792" y="9601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99B6"/>
                </a:solidFill>
              </a:rPr>
              <a:t>THE GROWTH RISK</a:t>
            </a:r>
            <a:endParaRPr lang="en-US" sz="850" dirty="0"/>
          </a:p>
        </p:txBody>
      </p:sp>
      <p:sp>
        <p:nvSpPr>
          <p:cNvPr id="47" name="Text 43"/>
          <p:cNvSpPr/>
          <p:nvPr/>
        </p:nvSpPr>
        <p:spPr>
          <a:xfrm>
            <a:off x="603504" y="1261872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Ascend growth needs a billing engine with a path to 3 million lines.</a:t>
            </a:r>
            <a:endParaRPr lang="en-US" sz="3100" dirty="0"/>
          </a:p>
        </p:txBody>
      </p:sp>
      <p:sp>
        <p:nvSpPr>
          <p:cNvPr id="48" name="Text 44"/>
          <p:cNvSpPr/>
          <p:nvPr/>
        </p:nvSpPr>
        <p:spPr>
          <a:xfrm>
            <a:off x="621792" y="235915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4D1E1"/>
                </a:solidFill>
              </a:rPr>
              <a:t>Intermedia is not solving for today's billing run only. It is solving for the next wave of partner-led growth, larger customer volume, more products, and more market expansion.</a:t>
            </a:r>
            <a:endParaRPr lang="en-US" sz="1120" dirty="0"/>
          </a:p>
        </p:txBody>
      </p:sp>
      <p:sp>
        <p:nvSpPr>
          <p:cNvPr id="49" name="Shape 45"/>
          <p:cNvSpPr/>
          <p:nvPr/>
        </p:nvSpPr>
        <p:spPr>
          <a:xfrm>
            <a:off x="594360" y="3246120"/>
            <a:ext cx="2542032" cy="2148840"/>
          </a:xfrm>
          <a:prstGeom prst="roundRect">
            <a:avLst>
              <a:gd name="adj" fmla="val 3404"/>
            </a:avLst>
          </a:prstGeom>
          <a:solidFill>
            <a:srgbClr val="101A2A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594360" y="3246120"/>
            <a:ext cx="2542032" cy="64008"/>
          </a:xfrm>
          <a:prstGeom prst="rect">
            <a:avLst/>
          </a:prstGeom>
          <a:solidFill>
            <a:srgbClr val="2499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795528" y="346557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More partners</a:t>
            </a:r>
            <a:endParaRPr lang="en-US" sz="1400" dirty="0"/>
          </a:p>
        </p:txBody>
      </p:sp>
      <p:sp>
        <p:nvSpPr>
          <p:cNvPr id="52" name="Text 48"/>
          <p:cNvSpPr/>
          <p:nvPr/>
        </p:nvSpPr>
        <p:spPr>
          <a:xfrm>
            <a:off x="795528" y="3941064"/>
            <a:ext cx="2139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8CB"/>
                </a:solidFill>
              </a:rPr>
              <a:t>Partner invoicing models become harder to support and reconcile when billing logic stays custom.</a:t>
            </a:r>
            <a:endParaRPr lang="en-US" sz="1020" dirty="0"/>
          </a:p>
        </p:txBody>
      </p:sp>
      <p:sp>
        <p:nvSpPr>
          <p:cNvPr id="53" name="Shape 49"/>
          <p:cNvSpPr/>
          <p:nvPr/>
        </p:nvSpPr>
        <p:spPr>
          <a:xfrm>
            <a:off x="3474720" y="3246120"/>
            <a:ext cx="2542032" cy="2148840"/>
          </a:xfrm>
          <a:prstGeom prst="roundRect">
            <a:avLst>
              <a:gd name="adj" fmla="val 3404"/>
            </a:avLst>
          </a:prstGeom>
          <a:solidFill>
            <a:srgbClr val="101A2A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3474720" y="3246120"/>
            <a:ext cx="2542032" cy="64008"/>
          </a:xfrm>
          <a:prstGeom prst="rect">
            <a:avLst/>
          </a:prstGeom>
          <a:solidFill>
            <a:srgbClr val="6EBE4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3675888" y="346557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More customers</a:t>
            </a:r>
            <a:endParaRPr lang="en-US" sz="1400" dirty="0"/>
          </a:p>
        </p:txBody>
      </p:sp>
      <p:sp>
        <p:nvSpPr>
          <p:cNvPr id="56" name="Text 52"/>
          <p:cNvSpPr/>
          <p:nvPr/>
        </p:nvSpPr>
        <p:spPr>
          <a:xfrm>
            <a:off x="3675888" y="3941064"/>
            <a:ext cx="2139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8CB"/>
                </a:solidFill>
              </a:rPr>
              <a:t>Higher customer volume increases line count, exceptions, bill-run windows, and operational exposure.</a:t>
            </a:r>
            <a:endParaRPr lang="en-US" sz="1020" dirty="0"/>
          </a:p>
        </p:txBody>
      </p:sp>
      <p:sp>
        <p:nvSpPr>
          <p:cNvPr id="57" name="Shape 53"/>
          <p:cNvSpPr/>
          <p:nvPr/>
        </p:nvSpPr>
        <p:spPr>
          <a:xfrm>
            <a:off x="6355080" y="3246120"/>
            <a:ext cx="2542032" cy="2148840"/>
          </a:xfrm>
          <a:prstGeom prst="roundRect">
            <a:avLst>
              <a:gd name="adj" fmla="val 3404"/>
            </a:avLst>
          </a:prstGeom>
          <a:solidFill>
            <a:srgbClr val="101A2A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6355080" y="3246120"/>
            <a:ext cx="2542032" cy="64008"/>
          </a:xfrm>
          <a:prstGeom prst="rect">
            <a:avLst/>
          </a:prstGeom>
          <a:solidFill>
            <a:srgbClr val="1667C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6556248" y="346557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More markets</a:t>
            </a:r>
            <a:endParaRPr lang="en-US" sz="1400" dirty="0"/>
          </a:p>
        </p:txBody>
      </p:sp>
      <p:sp>
        <p:nvSpPr>
          <p:cNvPr id="60" name="Text 56"/>
          <p:cNvSpPr/>
          <p:nvPr/>
        </p:nvSpPr>
        <p:spPr>
          <a:xfrm>
            <a:off x="6556248" y="3941064"/>
            <a:ext cx="2139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8CB"/>
                </a:solidFill>
              </a:rPr>
              <a:t>New market entry adds billing rules, taxes, product packaging, and reporting complexity.</a:t>
            </a:r>
            <a:endParaRPr lang="en-US" sz="1020" dirty="0"/>
          </a:p>
        </p:txBody>
      </p:sp>
      <p:sp>
        <p:nvSpPr>
          <p:cNvPr id="61" name="Shape 57"/>
          <p:cNvSpPr/>
          <p:nvPr/>
        </p:nvSpPr>
        <p:spPr>
          <a:xfrm>
            <a:off x="9235440" y="3246120"/>
            <a:ext cx="2542032" cy="2148840"/>
          </a:xfrm>
          <a:prstGeom prst="roundRect">
            <a:avLst>
              <a:gd name="adj" fmla="val 3404"/>
            </a:avLst>
          </a:prstGeom>
          <a:solidFill>
            <a:srgbClr val="101A2A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9235440" y="3246120"/>
            <a:ext cx="2542032" cy="64008"/>
          </a:xfrm>
          <a:prstGeom prst="rect">
            <a:avLst/>
          </a:prstGeom>
          <a:solidFill>
            <a:srgbClr val="FC61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9436608" y="3465576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More engineering drag</a:t>
            </a:r>
            <a:endParaRPr lang="en-US" sz="1400" dirty="0"/>
          </a:p>
        </p:txBody>
      </p:sp>
      <p:sp>
        <p:nvSpPr>
          <p:cNvPr id="64" name="Text 60"/>
          <p:cNvSpPr/>
          <p:nvPr/>
        </p:nvSpPr>
        <p:spPr>
          <a:xfrm>
            <a:off x="9436608" y="3941064"/>
            <a:ext cx="21396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8CB"/>
                </a:solidFill>
              </a:rPr>
              <a:t>Engineering time keeps flowing into billing capabilities instead of product and growth work.</a:t>
            </a:r>
            <a:endParaRPr lang="en-US" sz="1020" dirty="0"/>
          </a:p>
        </p:txBody>
      </p:sp>
      <p:sp>
        <p:nvSpPr>
          <p:cNvPr id="65" name="Text 61"/>
          <p:cNvSpPr/>
          <p:nvPr/>
        </p:nvSpPr>
        <p:spPr>
          <a:xfrm>
            <a:off x="502920" y="6473952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F96"/>
                </a:solidFill>
              </a:rPr>
              <a:t>Rev.io x Intermedia | Billing modernization discussion</a:t>
            </a:r>
            <a:endParaRPr lang="en-US" sz="750" dirty="0"/>
          </a:p>
        </p:txBody>
      </p:sp>
      <p:sp>
        <p:nvSpPr>
          <p:cNvPr id="66" name="Text 62"/>
          <p:cNvSpPr/>
          <p:nvPr/>
        </p:nvSpPr>
        <p:spPr>
          <a:xfrm>
            <a:off x="1051560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7F96"/>
                </a:solidFill>
              </a:rPr>
              <a:t>June 2026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Image 0" descr="/home/openclaw/.openclaw/workspace/revi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298448" cy="3200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329184"/>
            <a:ext cx="0" cy="384048"/>
          </a:xfrm>
          <a:prstGeom prst="line">
            <a:avLst/>
          </a:prstGeom>
          <a:noFill/>
          <a:ln w="12700">
            <a:solidFill>
              <a:srgbClr val="26374F">
                <a:alpha val="6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212848" y="283464"/>
            <a:ext cx="15361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6" name="Image 1" descr="/home/openclaw/.openclaw/workspace/intermedia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384048"/>
            <a:ext cx="1261872" cy="26517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792" y="9601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667CC"/>
                </a:solidFill>
              </a:rPr>
              <a:t>THE OPPORTUNITY COST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603504" y="1261872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62033"/>
                </a:solidFill>
              </a:rPr>
              <a:t>Intermedia should not have to build commodity billing capabilities in-house.</a:t>
            </a:r>
            <a:endParaRPr lang="en-US" sz="3100" dirty="0"/>
          </a:p>
        </p:txBody>
      </p:sp>
      <p:sp>
        <p:nvSpPr>
          <p:cNvPr id="9" name="Text 5"/>
          <p:cNvSpPr/>
          <p:nvPr/>
        </p:nvSpPr>
        <p:spPr>
          <a:xfrm>
            <a:off x="621792" y="235915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26176"/>
                </a:solidFill>
              </a:rPr>
              <a:t>Anniversary billing, invoice-level detail, and partner invoicing models are exactly the kinds of capabilities a purpose-built billing platform should already handle.</a:t>
            </a:r>
            <a:endParaRPr lang="en-US" sz="1120" dirty="0"/>
          </a:p>
        </p:txBody>
      </p:sp>
      <p:sp>
        <p:nvSpPr>
          <p:cNvPr id="10" name="Shape 6"/>
          <p:cNvSpPr/>
          <p:nvPr/>
        </p:nvSpPr>
        <p:spPr>
          <a:xfrm>
            <a:off x="685800" y="315468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85800" y="3154680"/>
            <a:ext cx="5074920" cy="64008"/>
          </a:xfrm>
          <a:prstGeom prst="rect">
            <a:avLst/>
          </a:prstGeom>
          <a:solidFill>
            <a:srgbClr val="FC61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86968" y="3374136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033"/>
                </a:solidFill>
              </a:rPr>
              <a:t>Today: engineering-owned billing burden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86968" y="3849624"/>
            <a:ext cx="4672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176"/>
                </a:solidFill>
              </a:rPr>
              <a:t>Performance tuning, custom billing logic, billing-model development, and exception handling consume technical capacity that could be pointed at growth.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6400800" y="3154680"/>
            <a:ext cx="50749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BE3E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0" y="3154680"/>
            <a:ext cx="5074920" cy="64008"/>
          </a:xfrm>
          <a:prstGeom prst="rect">
            <a:avLst/>
          </a:prstGeom>
          <a:solidFill>
            <a:srgbClr val="6EBE4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601968" y="3374136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033"/>
                </a:solidFill>
              </a:rPr>
              <a:t>With Rev.io: platform-owned billing execution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601968" y="3849624"/>
            <a:ext cx="4672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526176"/>
                </a:solidFill>
              </a:rPr>
              <a:t>Rev.io is built for complex communications billing, including high-volume bill runs, detailed invoicing, recurring models, usage, and partner billing structures.</a:t>
            </a:r>
            <a:endParaRPr lang="en-US" sz="1020" dirty="0"/>
          </a:p>
        </p:txBody>
      </p:sp>
      <p:sp>
        <p:nvSpPr>
          <p:cNvPr id="18" name="Text 14"/>
          <p:cNvSpPr/>
          <p:nvPr/>
        </p:nvSpPr>
        <p:spPr>
          <a:xfrm>
            <a:off x="502920" y="6473952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99C"/>
                </a:solidFill>
              </a:rPr>
              <a:t>Rev.io x Intermedia | Billing modernization discussion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1051560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99C"/>
                </a:solidFill>
              </a:rPr>
              <a:t>June 2026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pic>
        <p:nvPicPr>
          <p:cNvPr id="42" name="Image 0" descr="/home/openclaw/.openclaw/workspace/revi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298448" cy="32004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2011680" y="329184"/>
            <a:ext cx="0" cy="384048"/>
          </a:xfrm>
          <a:prstGeom prst="line">
            <a:avLst/>
          </a:prstGeom>
          <a:noFill/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212848" y="283464"/>
            <a:ext cx="15361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5" name="Image 1" descr="/home/openclaw/.openclaw/workspace/intermedia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384048"/>
            <a:ext cx="1261872" cy="265176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621792" y="9601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99B6"/>
                </a:solidFill>
              </a:rPr>
              <a:t>THE REV.IO ANSWER</a:t>
            </a:r>
            <a:endParaRPr lang="en-US" sz="850" dirty="0"/>
          </a:p>
        </p:txBody>
      </p:sp>
      <p:sp>
        <p:nvSpPr>
          <p:cNvPr id="47" name="Text 43"/>
          <p:cNvSpPr/>
          <p:nvPr/>
        </p:nvSpPr>
        <p:spPr>
          <a:xfrm>
            <a:off x="603504" y="1261872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Rev.io gives Intermedia a faster, purpose-built billing foundation.</a:t>
            </a:r>
            <a:endParaRPr lang="en-US" sz="3100" dirty="0"/>
          </a:p>
        </p:txBody>
      </p:sp>
      <p:sp>
        <p:nvSpPr>
          <p:cNvPr id="48" name="Text 44"/>
          <p:cNvSpPr/>
          <p:nvPr/>
        </p:nvSpPr>
        <p:spPr>
          <a:xfrm>
            <a:off x="621792" y="235915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4D1E1"/>
                </a:solidFill>
              </a:rPr>
              <a:t>The reason to lead with architecture and performance is simple: billing speed, scale, and reliability are the heart of the problem.</a:t>
            </a:r>
            <a:endParaRPr lang="en-US" sz="1120" dirty="0"/>
          </a:p>
        </p:txBody>
      </p:sp>
      <p:sp>
        <p:nvSpPr>
          <p:cNvPr id="49" name="Shape 45"/>
          <p:cNvSpPr/>
          <p:nvPr/>
        </p:nvSpPr>
        <p:spPr>
          <a:xfrm>
            <a:off x="685800" y="3127248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101A2A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85800" y="3127248"/>
            <a:ext cx="5074920" cy="64008"/>
          </a:xfrm>
          <a:prstGeom prst="rect">
            <a:avLst/>
          </a:prstGeom>
          <a:solidFill>
            <a:srgbClr val="6EBE4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886968" y="3346704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Faster bill-run execution</a:t>
            </a:r>
            <a:endParaRPr lang="en-US" sz="1400" dirty="0"/>
          </a:p>
        </p:txBody>
      </p:sp>
      <p:sp>
        <p:nvSpPr>
          <p:cNvPr id="52" name="Text 48"/>
          <p:cNvSpPr/>
          <p:nvPr/>
        </p:nvSpPr>
        <p:spPr>
          <a:xfrm>
            <a:off x="886968" y="3822192"/>
            <a:ext cx="4672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8CB"/>
                </a:solidFill>
              </a:rPr>
              <a:t>Move from a fragile, heavily tuned billing run toward a platform designed for communications billing performance and repeatable monthly execution.</a:t>
            </a:r>
            <a:endParaRPr lang="en-US" sz="1020" dirty="0"/>
          </a:p>
        </p:txBody>
      </p:sp>
      <p:sp>
        <p:nvSpPr>
          <p:cNvPr id="53" name="Shape 49"/>
          <p:cNvSpPr/>
          <p:nvPr/>
        </p:nvSpPr>
        <p:spPr>
          <a:xfrm>
            <a:off x="6400800" y="3127248"/>
            <a:ext cx="5074920" cy="2057400"/>
          </a:xfrm>
          <a:prstGeom prst="roundRect">
            <a:avLst>
              <a:gd name="adj" fmla="val 3556"/>
            </a:avLst>
          </a:prstGeom>
          <a:solidFill>
            <a:srgbClr val="101A2A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400800" y="3127248"/>
            <a:ext cx="5074920" cy="64008"/>
          </a:xfrm>
          <a:prstGeom prst="rect">
            <a:avLst/>
          </a:prstGeom>
          <a:solidFill>
            <a:srgbClr val="2499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6601968" y="3346704"/>
            <a:ext cx="4672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Built-in telecom billing capabilities</a:t>
            </a:r>
            <a:endParaRPr lang="en-US" sz="1400" dirty="0"/>
          </a:p>
        </p:txBody>
      </p:sp>
      <p:sp>
        <p:nvSpPr>
          <p:cNvPr id="56" name="Text 52"/>
          <p:cNvSpPr/>
          <p:nvPr/>
        </p:nvSpPr>
        <p:spPr>
          <a:xfrm>
            <a:off x="6601968" y="3822192"/>
            <a:ext cx="467258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8CB"/>
                </a:solidFill>
              </a:rPr>
              <a:t>Support anniversary billing, invoice-level detail, partner invoicing models, usage complexity, and customer-specific billing needs without rebuilding them from scratch.</a:t>
            </a:r>
            <a:endParaRPr lang="en-US" sz="1020" dirty="0"/>
          </a:p>
        </p:txBody>
      </p:sp>
      <p:sp>
        <p:nvSpPr>
          <p:cNvPr id="57" name="Text 53"/>
          <p:cNvSpPr/>
          <p:nvPr/>
        </p:nvSpPr>
        <p:spPr>
          <a:xfrm>
            <a:off x="502920" y="6473952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F96"/>
                </a:solidFill>
              </a:rPr>
              <a:t>Rev.io x Intermedia | Billing modernization discussion</a:t>
            </a:r>
            <a:endParaRPr lang="en-US" sz="750" dirty="0"/>
          </a:p>
        </p:txBody>
      </p:sp>
      <p:sp>
        <p:nvSpPr>
          <p:cNvPr id="58" name="Text 54"/>
          <p:cNvSpPr/>
          <p:nvPr/>
        </p:nvSpPr>
        <p:spPr>
          <a:xfrm>
            <a:off x="1051560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7F96"/>
                </a:solidFill>
              </a:rPr>
              <a:t>June 2026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087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146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0233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262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321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408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5438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467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496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5840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6132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06424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56716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070080" y="0"/>
            <a:ext cx="0" cy="685800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50292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100584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150876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201168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25146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301752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352044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402336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0" y="452628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0" y="502920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0" y="553212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0" y="603504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12700">
            <a:solidFill>
              <a:srgbClr val="FFFFFF">
                <a:alpha val="4000"/>
              </a:srgbClr>
            </a:solidFill>
            <a:prstDash val="solid"/>
          </a:ln>
        </p:spPr>
      </p:sp>
      <p:pic>
        <p:nvPicPr>
          <p:cNvPr id="42" name="Image 0" descr="/home/openclaw/.openclaw/workspace/revi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298448" cy="320040"/>
          </a:xfrm>
          <a:prstGeom prst="rect">
            <a:avLst/>
          </a:prstGeom>
        </p:spPr>
      </p:pic>
      <p:sp>
        <p:nvSpPr>
          <p:cNvPr id="43" name="Shape 40"/>
          <p:cNvSpPr/>
          <p:nvPr/>
        </p:nvSpPr>
        <p:spPr>
          <a:xfrm>
            <a:off x="2011680" y="329184"/>
            <a:ext cx="0" cy="384048"/>
          </a:xfrm>
          <a:prstGeom prst="line">
            <a:avLst/>
          </a:prstGeom>
          <a:noFill/>
          <a:ln w="12700">
            <a:solidFill>
              <a:srgbClr val="FFFFFF">
                <a:alpha val="2200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2212848" y="283464"/>
            <a:ext cx="15361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45" name="Image 1" descr="/home/openclaw/.openclaw/workspace/intermedia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384048"/>
            <a:ext cx="1261872" cy="265176"/>
          </a:xfrm>
          <a:prstGeom prst="rect">
            <a:avLst/>
          </a:prstGeom>
        </p:spPr>
      </p:pic>
      <p:sp>
        <p:nvSpPr>
          <p:cNvPr id="46" name="Text 42"/>
          <p:cNvSpPr/>
          <p:nvPr/>
        </p:nvSpPr>
        <p:spPr>
          <a:xfrm>
            <a:off x="621792" y="960120"/>
            <a:ext cx="4937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499B6"/>
                </a:solidFill>
              </a:rPr>
              <a:t>REVII AI AUTOMATION</a:t>
            </a:r>
            <a:endParaRPr lang="en-US" sz="850" dirty="0"/>
          </a:p>
        </p:txBody>
      </p:sp>
      <p:sp>
        <p:nvSpPr>
          <p:cNvPr id="47" name="Text 43"/>
          <p:cNvSpPr/>
          <p:nvPr/>
        </p:nvSpPr>
        <p:spPr>
          <a:xfrm>
            <a:off x="603504" y="1261872"/>
            <a:ext cx="7863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Rev.io also brings native AI through Revii.</a:t>
            </a:r>
            <a:endParaRPr lang="en-US" sz="3100" dirty="0"/>
          </a:p>
        </p:txBody>
      </p:sp>
      <p:sp>
        <p:nvSpPr>
          <p:cNvPr id="48" name="Text 44"/>
          <p:cNvSpPr/>
          <p:nvPr/>
        </p:nvSpPr>
        <p:spPr>
          <a:xfrm>
            <a:off x="621792" y="235915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C4D1E1"/>
                </a:solidFill>
              </a:rPr>
              <a:t>Revii adds an automation and intelligence layer on top of billing and operations data, helping teams ask better questions, find issues faster, and reduce manual work around billing workflows.</a:t>
            </a:r>
            <a:endParaRPr lang="en-US" sz="1120" dirty="0"/>
          </a:p>
        </p:txBody>
      </p:sp>
      <p:sp>
        <p:nvSpPr>
          <p:cNvPr id="49" name="Shape 45"/>
          <p:cNvSpPr/>
          <p:nvPr/>
        </p:nvSpPr>
        <p:spPr>
          <a:xfrm>
            <a:off x="685800" y="315468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101A2A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85800" y="3154680"/>
            <a:ext cx="3383280" cy="64008"/>
          </a:xfrm>
          <a:prstGeom prst="rect">
            <a:avLst/>
          </a:prstGeom>
          <a:solidFill>
            <a:srgbClr val="6EBE4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886968" y="3374136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Bill-run insight</a:t>
            </a:r>
            <a:endParaRPr lang="en-US" sz="1400" dirty="0"/>
          </a:p>
        </p:txBody>
      </p:sp>
      <p:sp>
        <p:nvSpPr>
          <p:cNvPr id="52" name="Text 48"/>
          <p:cNvSpPr/>
          <p:nvPr/>
        </p:nvSpPr>
        <p:spPr>
          <a:xfrm>
            <a:off x="886968" y="3849624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8CB"/>
                </a:solidFill>
              </a:rPr>
              <a:t>Show the exceptions most likely to delay this month's billing cycle.</a:t>
            </a:r>
            <a:endParaRPr lang="en-US" sz="1020" dirty="0"/>
          </a:p>
        </p:txBody>
      </p:sp>
      <p:sp>
        <p:nvSpPr>
          <p:cNvPr id="53" name="Shape 49"/>
          <p:cNvSpPr/>
          <p:nvPr/>
        </p:nvSpPr>
        <p:spPr>
          <a:xfrm>
            <a:off x="4407408" y="315468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101A2A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407408" y="3154680"/>
            <a:ext cx="3383280" cy="64008"/>
          </a:xfrm>
          <a:prstGeom prst="rect">
            <a:avLst/>
          </a:prstGeom>
          <a:solidFill>
            <a:srgbClr val="2499B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4608576" y="3374136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Revenue assurance</a:t>
            </a:r>
            <a:endParaRPr lang="en-US" sz="1400" dirty="0"/>
          </a:p>
        </p:txBody>
      </p:sp>
      <p:sp>
        <p:nvSpPr>
          <p:cNvPr id="56" name="Text 52"/>
          <p:cNvSpPr/>
          <p:nvPr/>
        </p:nvSpPr>
        <p:spPr>
          <a:xfrm>
            <a:off x="4608576" y="3849624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8CB"/>
                </a:solidFill>
              </a:rPr>
              <a:t>Identify accounts where usage, partner pricing, or invoice detail changed unexpectedly.</a:t>
            </a:r>
            <a:endParaRPr lang="en-US" sz="1020" dirty="0"/>
          </a:p>
        </p:txBody>
      </p:sp>
      <p:sp>
        <p:nvSpPr>
          <p:cNvPr id="57" name="Shape 53"/>
          <p:cNvSpPr/>
          <p:nvPr/>
        </p:nvSpPr>
        <p:spPr>
          <a:xfrm>
            <a:off x="8138160" y="3154680"/>
            <a:ext cx="3383280" cy="1965960"/>
          </a:xfrm>
          <a:prstGeom prst="roundRect">
            <a:avLst>
              <a:gd name="adj" fmla="val 3721"/>
            </a:avLst>
          </a:prstGeom>
          <a:solidFill>
            <a:srgbClr val="101A2A"/>
          </a:solidFill>
          <a:ln w="12700">
            <a:solidFill>
              <a:srgbClr val="26374F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8138160" y="3154680"/>
            <a:ext cx="3383280" cy="64008"/>
          </a:xfrm>
          <a:prstGeom prst="rect">
            <a:avLst/>
          </a:prstGeom>
          <a:solidFill>
            <a:srgbClr val="1667C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8339328" y="3374136"/>
            <a:ext cx="2980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Operational automation</a:t>
            </a:r>
            <a:endParaRPr lang="en-US" sz="1400" dirty="0"/>
          </a:p>
        </p:txBody>
      </p:sp>
      <p:sp>
        <p:nvSpPr>
          <p:cNvPr id="60" name="Text 56"/>
          <p:cNvSpPr/>
          <p:nvPr/>
        </p:nvSpPr>
        <p:spPr>
          <a:xfrm>
            <a:off x="8339328" y="3849624"/>
            <a:ext cx="29809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A9B8CB"/>
                </a:solidFill>
              </a:rPr>
              <a:t>Summarize billing issues by partner, product, and customer segment for leadership review.</a:t>
            </a:r>
            <a:endParaRPr lang="en-US" sz="1020" dirty="0"/>
          </a:p>
        </p:txBody>
      </p:sp>
      <p:sp>
        <p:nvSpPr>
          <p:cNvPr id="61" name="Text 57"/>
          <p:cNvSpPr/>
          <p:nvPr/>
        </p:nvSpPr>
        <p:spPr>
          <a:xfrm>
            <a:off x="502920" y="6473952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7F96"/>
                </a:solidFill>
              </a:rPr>
              <a:t>Rev.io x Intermedia | Billing modernization discussion</a:t>
            </a:r>
            <a:endParaRPr lang="en-US" sz="750" dirty="0"/>
          </a:p>
        </p:txBody>
      </p:sp>
      <p:sp>
        <p:nvSpPr>
          <p:cNvPr id="62" name="Text 58"/>
          <p:cNvSpPr/>
          <p:nvPr/>
        </p:nvSpPr>
        <p:spPr>
          <a:xfrm>
            <a:off x="1051560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E7F96"/>
                </a:solidFill>
              </a:rPr>
              <a:t>June 2026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Image 0" descr="/home/openclaw/.openclaw/workspace/revio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298448" cy="3200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011680" y="329184"/>
            <a:ext cx="0" cy="384048"/>
          </a:xfrm>
          <a:prstGeom prst="line">
            <a:avLst/>
          </a:prstGeom>
          <a:noFill/>
          <a:ln w="12700">
            <a:solidFill>
              <a:srgbClr val="26374F">
                <a:alpha val="65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212848" y="283464"/>
            <a:ext cx="153619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6" name="Image 1" descr="/home/openclaw/.openclaw/workspace/intermedia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0008" y="384048"/>
            <a:ext cx="1261872" cy="26517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94944" y="1417320"/>
            <a:ext cx="73152" cy="3611880"/>
          </a:xfrm>
          <a:prstGeom prst="rect">
            <a:avLst/>
          </a:prstGeom>
          <a:solidFill>
            <a:srgbClr val="6EBE4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87552" y="148132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667CC"/>
                </a:solidFill>
              </a:rPr>
              <a:t>WHY SWITCH NOW</a:t>
            </a:r>
            <a:endParaRPr lang="en-US" sz="880" dirty="0"/>
          </a:p>
        </p:txBody>
      </p:sp>
      <p:sp>
        <p:nvSpPr>
          <p:cNvPr id="9" name="Text 5"/>
          <p:cNvSpPr/>
          <p:nvPr/>
        </p:nvSpPr>
        <p:spPr>
          <a:xfrm>
            <a:off x="969264" y="1828800"/>
            <a:ext cx="8869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62033"/>
                </a:solidFill>
              </a:rPr>
              <a:t>Rev.io lets Intermedia stop stretching BRM and start scaling billing.</a:t>
            </a:r>
            <a:endParaRPr lang="en-US" sz="3400" dirty="0"/>
          </a:p>
        </p:txBody>
      </p:sp>
      <p:sp>
        <p:nvSpPr>
          <p:cNvPr id="10" name="Text 6"/>
          <p:cNvSpPr/>
          <p:nvPr/>
        </p:nvSpPr>
        <p:spPr>
          <a:xfrm>
            <a:off x="987552" y="3063240"/>
            <a:ext cx="8961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26176"/>
                </a:solidFill>
              </a:rPr>
              <a:t>The business has already proven it can engineer around the current platform's limits. The question is whether it should keep doing that. Rev.io gives Intermedia a purpose-built path to faster bill runs, 3 million-line scale, native AI automation with Revii, and fewer engineering cycles spent rebuilding billing capabilities that should already exist.</a:t>
            </a:r>
            <a:endParaRPr lang="en-US" sz="1320" dirty="0"/>
          </a:p>
        </p:txBody>
      </p:sp>
      <p:sp>
        <p:nvSpPr>
          <p:cNvPr id="11" name="Text 7"/>
          <p:cNvSpPr/>
          <p:nvPr/>
        </p:nvSpPr>
        <p:spPr>
          <a:xfrm>
            <a:off x="502920" y="6473952"/>
            <a:ext cx="5852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A899C"/>
                </a:solidFill>
              </a:rPr>
              <a:t>Rev.io x Intermedia | Billing modernization discussion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10515600" y="647395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A899C"/>
                </a:solidFill>
              </a:rPr>
              <a:t>June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Rev.io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Intermedia Should Switch to Rev.io</dc:title>
  <dc:subject>Why Intermedia should switch to Rev.io</dc:subject>
  <dc:creator>Rev.io</dc:creator>
  <cp:lastModifiedBy>Rev.io</cp:lastModifiedBy>
  <cp:revision>1</cp:revision>
  <dcterms:created xsi:type="dcterms:W3CDTF">2026-06-29T17:14:25Z</dcterms:created>
  <dcterms:modified xsi:type="dcterms:W3CDTF">2026-06-29T17:14:25Z</dcterms:modified>
</cp:coreProperties>
</file>