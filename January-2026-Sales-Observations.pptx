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Loss Reasons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bubble3D val="0"/>
            <c:spPr>
              <a:solidFill>
                <a:srgbClr val="F1C40F"/>
              </a:solidFill>
              <a:effectLst/>
            </c:spPr>
          </c:dPt>
          <c:dPt>
            <c:idx val="3"/>
            <c:bubble3D val="0"/>
            <c:spPr>
              <a:solidFill>
                <a:srgbClr val="3498DB"/>
              </a:solidFill>
              <a:effectLst/>
            </c:spPr>
          </c:dPt>
          <c:dPt>
            <c:idx val="4"/>
            <c:bubble3D val="0"/>
            <c:spPr>
              <a:solidFill>
                <a:srgbClr val="9B59B6"/>
              </a:solidFill>
              <a:effectLst/>
            </c:spPr>
          </c:dPt>
          <c:dPt>
            <c:idx val="5"/>
            <c:bubble3D val="0"/>
            <c:spPr>
              <a:solidFill>
                <a:srgbClr val="95A5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Disco No Show
$50.8K</c:v>
                </c:pt>
                <c:pt idx="1">
                  <c:v>Not Right Time
$42.5K</c:v>
                </c:pt>
                <c:pt idx="2">
                  <c:v>Missing Features
$17.3K</c:v>
                </c:pt>
                <c:pt idx="3">
                  <c:v>Non-Responsive
$15.9K</c:v>
                </c:pt>
                <c:pt idx="4">
                  <c:v>Wrong Customer
$12.4K</c:v>
                </c:pt>
                <c:pt idx="5">
                  <c:v>Other
$33.7K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50790</c:v>
                </c:pt>
                <c:pt idx="1">
                  <c:v>42475</c:v>
                </c:pt>
                <c:pt idx="2">
                  <c:v>17255</c:v>
                </c:pt>
                <c:pt idx="3">
                  <c:v>15942</c:v>
                </c:pt>
                <c:pt idx="4">
                  <c:v>12425</c:v>
                </c:pt>
                <c:pt idx="5">
                  <c:v>33707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MRR by Industry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CC94C"/>
              </a:solidFill>
              <a:effectLst/>
            </c:spPr>
          </c:dPt>
          <c:dPt>
            <c:idx val="1"/>
            <c:bubble3D val="0"/>
            <c:spPr>
              <a:solidFill>
                <a:srgbClr val="3498DB"/>
              </a:solidFill>
              <a:effectLst/>
            </c:spPr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</c:dPt>
          <c:dPt>
            <c:idx val="3"/>
            <c:bubble3D val="0"/>
            <c:spPr>
              <a:solidFill>
                <a:srgbClr val="9B59B6"/>
              </a:solidFill>
              <a:effectLst/>
            </c:spPr>
          </c:dPt>
          <c:dPt>
            <c:idx val="4"/>
            <c:bubble3D val="0"/>
            <c:spPr>
              <a:solidFill>
                <a:srgbClr val="1ABC9C"/>
              </a:solidFill>
              <a:effectLst/>
            </c:spPr>
          </c:dPt>
          <c:dPt>
            <c:idx val="5"/>
            <c:bubble3D val="0"/>
            <c:spPr>
              <a:solidFill>
                <a:srgbClr val="E74C3C"/>
              </a:solidFill>
              <a:effectLst/>
            </c:spPr>
          </c:dPt>
          <c:dPt>
            <c:idx val="6"/>
            <c:bubble3D val="0"/>
            <c:spPr>
              <a:solidFill>
                <a:srgbClr val="95A5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Security Integrator
$14,657 (43%)</c:v>
                </c:pt>
                <c:pt idx="1">
                  <c:v>MSP - UCaaS/VoIP
$6,890 (20%)</c:v>
                </c:pt>
                <c:pt idx="2">
                  <c:v>Business Support Svcs
$4,090 (12%)</c:v>
                </c:pt>
                <c:pt idx="3">
                  <c:v>Internet / Fiber / Data
$2,240 (7%)</c:v>
                </c:pt>
                <c:pt idx="4">
                  <c:v>MSP - No Voice
$2,010 (6%)</c:v>
                </c:pt>
                <c:pt idx="5">
                  <c:v>AV / Home Automation
$1,180 (3%)</c:v>
                </c:pt>
                <c:pt idx="6">
                  <c:v>Other
$2,765 (8%)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14657</c:v>
                </c:pt>
                <c:pt idx="1">
                  <c:v>6890</c:v>
                </c:pt>
                <c:pt idx="2">
                  <c:v>4090</c:v>
                </c:pt>
                <c:pt idx="3">
                  <c:v>2240</c:v>
                </c:pt>
                <c:pt idx="4">
                  <c:v>2010</c:v>
                </c:pt>
                <c:pt idx="5">
                  <c:v>1180</c:v>
                </c:pt>
                <c:pt idx="6">
                  <c:v>2765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2026 — Sales Observations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09728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10972800" cy="640080"/>
          </a:xfrm>
          <a:prstGeom prst="roundRect">
            <a:avLst>
              <a:gd name="adj" fmla="val 14286"/>
            </a:avLst>
          </a:prstGeom>
          <a:solidFill>
            <a:srgbClr val="2239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$21.2K booked vs $29.2K target  </a:t>
            </a:r>
            <a:pPr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(73% attainment)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$13.9K vs $3.2K target (4x)   </a:t>
            </a:r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PSA: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$5.7K vs $17K target   </a:t>
            </a:r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Payments: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$1.6K vs $9K target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$5.74K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-$11.26K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$13.90K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+$10.73K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$9.04K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-$7.49K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/ Odin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5669280" y="1737360"/>
          <a:ext cx="29260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5669280" y="17373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Lost: $172.6K / 247 Opps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🎯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closed-won PSA deals came from the Integrator industry (except 2 existing billing client expansions). Supports the thesis: we are not yet selling to pure MSPs due to key missing features (Project Mgmt, RMM integrations, advanced reporting).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49194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fringe industry and undersized MQLs flowing into pipeline — driving "Not the Right Customer Type" ($12.4K) and "Price" ($7.2K) closed-lost buckets. Need tighter lead qualification criteria.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526694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📉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MRR/deal for PSA dropped to $593 in January, down from $754 avg in Q4 2025 — deal size compression as we engage smaller integrators before MSP segment unlocks.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561441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📞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of closed-lost $ was Discovery No Shows + Not the Right Time — a pipeline quality and timing challenge, not a product rejection issue.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59618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1% lost to competitors ($1.8K of $172.6K) — when we get to demo, we compete and win.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📈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crushed target at 4x ($13.9K vs $3.2K) — strong organic demand signal for the core platform.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65836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Salesforce CRM — Closed Lost Report, January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Action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more with less. Shift from volume to precision. Raise the talent bar. Use AI to close the gap.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22395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2286000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Resources to Higher-ROI Channels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Redirecting planned April SDR hiring budget → MSP-focused marketing &amp; event spend. Meet the MSP buyer where they are instead of cold-calling into a segment we're still unlocking with product.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22395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188720"/>
            <a:ext cx="73152" cy="22860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371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Channel Motion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 proven AE from the Integrator team to backfill the open Channel Manager role. Prioritizing partner-driven revenue with someone who already knows the product and sales motion.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22395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840480"/>
            <a:ext cx="73152" cy="2286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Performance Bar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 two underperforming reps. Reallocating pipeline and freeing up management time to invest in higher-performing reps — more coaching in live prospect meetings, fewer reps carrying dead-weight pipeline.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84048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22395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3840480"/>
            <a:ext cx="73152" cy="22860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on AI to Multiply Output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46177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Promoting our first AI Lead to pilot new solutions for reducing prospecting time and automating CRM updates. Goal: increase selling time per rep without adding headcount.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6492240"/>
            <a:ext cx="109728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Theme: Precision over volume. Every dollar and every hour pointed at higher-probability outcomes.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Performance — 2025 Full Year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generates pipeline. The bottleneck is conversion — and we're attacking it.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SDR-Sourced Funnel (2025)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Opps Sourced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851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($879K MRR)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2011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233172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3317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Meeting Held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show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27889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310896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3108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Completed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06640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meeting → demo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3566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0" y="38862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4CC94C"/>
          </a:solidFill>
          <a:ln/>
        </p:spPr>
      </p:sp>
      <p:sp>
        <p:nvSpPr>
          <p:cNvPr id="18" name="Text 16"/>
          <p:cNvSpPr/>
          <p:nvPr/>
        </p:nvSpPr>
        <p:spPr>
          <a:xfrm>
            <a:off x="3154680" y="3886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($24.9K MRR)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demo → close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(per SDR)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463040"/>
          <a:ext cx="41148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SDR 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All-In Cost / SDR (Annual)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$67,600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SDR Investment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$473,200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Breakeven MRR / SDR / 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E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TARGETS TO BREAKEVEN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SDR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Opps Sourced (52.8% show rate)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Calls Held (39.9% → demo)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Demos Completed (19% → close)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Deals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7498080" y="3977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Industry Benchmarks (B2B SaaS)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425196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914400"/>
                <a:gridCol w="3657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Rev.io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Show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→ Demo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35-45%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→ Close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Opp → Close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Meetings / SDR /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🔴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7498080" y="57150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Bridge Group SDR Report 2024, TOPO/Gartner, Digital Bloom 2025 B2B SaaS Funnel Benchmarks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457200" y="4754880"/>
            <a:ext cx="658368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26" name="Text 22"/>
          <p:cNvSpPr/>
          <p:nvPr/>
        </p:nvSpPr>
        <p:spPr>
          <a:xfrm>
            <a:off x="457200" y="4892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Funnel Breaks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3840480" y="4892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We're Fixing It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57200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🚨  </a:t>
            </a:r>
            <a:pPr indent="0" marL="0">
              <a:buNone/>
            </a:pPr>
            <a:r>
              <a:rPr lang="en-US" sz="9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no-show rate — #1 leak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57200" y="5504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📉  </a:t>
            </a:r>
            <a:pPr indent="0" marL="0">
              <a:buNone/>
            </a:pPr>
            <a:r>
              <a:rPr lang="en-US" sz="9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Meetings/SDR/mo (~6) is half the industry benchmark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57200" y="57972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💸  </a:t>
            </a:r>
            <a:pPr indent="0" marL="0">
              <a:buNone/>
            </a:pPr>
            <a:r>
              <a:rPr lang="en-US" sz="9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ROI at 0.74x — below breakeven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840480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lead qual — reduce fringe MQLs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840480" y="5504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budget → MSP marketing events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3840480" y="57972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bar raised + AI Lead for prospecting efficiency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57200" y="6217920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22395E"/>
          </a:solidFill>
          <a:ln/>
        </p:spPr>
      </p:sp>
      <p:sp>
        <p:nvSpPr>
          <p:cNvPr id="35" name="Text 31"/>
          <p:cNvSpPr/>
          <p:nvPr/>
        </p:nvSpPr>
        <p:spPr>
          <a:xfrm>
            <a:off x="731520" y="6263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conversion rates are in line with B2B SaaS benchmarks. Two focus areas: demo-to-close (19% vs 20-30% industry) and meetings per SDR per month (~6 vs 12-15). We're investing in lead quality, AE performance, and AI-driven efficiency — not headcount.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 by Industry — 2025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Integrators drive nearly half of all closed-won MRR. MSP segments growing but still emerging.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0" cy="36576"/>
          </a:xfrm>
          <a:prstGeom prst="rect">
            <a:avLst/>
          </a:prstGeom>
          <a:solidFill>
            <a:srgbClr val="4CC94C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5943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54480"/>
          <a:ext cx="4297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822960"/>
                <a:gridCol w="6400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Integrator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$14,657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MSP - UCaaS/VoIP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$6,890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Support Svcs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MSP - No Voice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/ Fiber / 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 / Home Automation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Protection Svcs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Telecom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2-Way Radio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$33,832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94360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22395E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59893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Security Integrator = 49% of deals, 43% of MRR</a:t>
            </a:r>
            <a:pPr indent="0" marL="0">
              <a:buNone/>
            </a:pPr>
            <a:r>
              <a:rPr lang="en-US" sz="10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Product-market fit proven in this vertical
</a:t>
            </a:r>
            <a:pPr indent="0" marL="0">
              <a:buNone/>
            </a:pPr>
            <a:r>
              <a:rPr lang="en-US" sz="10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MSP combined (UCaaS + No Voice) = 24% of deals, 26% of MRR</a:t>
            </a:r>
            <a:pPr indent="0" marL="0">
              <a:buNone/>
            </a:pPr>
            <a:r>
              <a:rPr lang="en-US" sz="10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Growing segment, will accelerate as product gaps close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2026-02-23T19:42:23Z</dcterms:created>
  <dcterms:modified xsi:type="dcterms:W3CDTF">2026-02-23T19:42:23Z</dcterms:modified>
</cp:coreProperties>
</file>