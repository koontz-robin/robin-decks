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828" r:id="rId9"/>
    <p:sldId id="829" r:id="rId10"/>
    <p:sldId id="830" r:id="rId11"/>
    <p:sldId id="831" r:id="rId12"/>
    <p:sldId id="8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1"/>
    <p:restoredTop sz="72857"/>
  </p:normalViewPr>
  <p:slideViewPr>
    <p:cSldViewPr snapToGrid="0">
      <p:cViewPr varScale="1">
        <p:scale>
          <a:sx n="91" d="100"/>
          <a:sy n="91" d="100"/>
        </p:scale>
        <p:origin x="1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C880D-BAB9-814B-91C1-A2E6619901B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E4E2D-A077-D444-A84D-EE88C5B87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0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ECD4-BB87-DB1F-F089-CAB61A77D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6C12D-58BC-98E9-57E9-4762C20F3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570D7-BB01-E516-3A67-13A4B74B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13376-EE68-4C3E-8E9C-249801E5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B30D8-C414-E89D-12E4-95C21C29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9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55F3-964D-453F-D398-6BB3C135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B4CF0-41A3-9429-6D8B-D50964806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683B-AA11-5EFA-1B5E-CE14AE4F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09D1-A084-F2E8-FAD6-FDD1B927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F40A-1596-5849-8CDE-F9D06B56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A975-9567-7874-9641-AA05E375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DF9D9-28EC-885B-4C42-25AB24EE4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A476-71C5-A400-CA09-C92275C6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BE3D2-1E86-2D44-2B93-FF7DC781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18954-05E4-7483-72BB-3216C8FA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2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55E3-C1F7-F2F5-E1C4-E5442BF9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BF0F-C0E6-7363-A8BD-4418BA850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0EBA4-C9BB-5FAE-CAC4-11065DF6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0F989-47BC-7F78-5A2E-80CEEEEB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6573D-8446-8C6F-57FA-84CE31A7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9DE16-E329-4BCE-B984-DC1E1552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3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6E80-07EC-525B-30CC-16B8947C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40E5B-0665-25AD-4113-C89B4783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797EB-F218-E9FA-A691-F899468D0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F63C4-68B8-2847-D3A2-478F4EEB2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581B0-92C2-EBE8-ED27-8CCFDA355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7F20D-50AB-8042-9952-DFAA73DF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9A033-FB4E-6EFD-71B7-5A64BB61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6AE81-01FC-9EA5-ED2D-1634ACEE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F069-3A03-8A7A-8D6F-07C53765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B3B1E-165B-FA83-CFBB-4C2966D5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76F09-64EE-817E-922F-2AC83ED5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368B8-EF67-AF95-621A-718995B5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C8681-6E72-D0EC-9310-D49D6524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B4794-3947-FEF2-7657-56C5ACC1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D97C-5DE4-F099-DCD4-D49650F0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1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3490-39A9-4DB3-FE0E-CDB41B2D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DEB8-0627-0A05-BCD3-E42F254FF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E230-3501-32DC-0C78-2A005F649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97B73-392B-C9FF-5DB1-A47B0D13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760A-682B-FA90-D7F1-3A22E4F3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F447-DF94-13B7-68F9-75779C28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7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7294-4A9F-E74F-CCAD-68EF3183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9BC70-FA5A-61CD-D7A7-1AFA5E37D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923EE-914B-2423-CCDB-EA1FE059B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0D481-3DF3-00C2-489C-60E5E053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681AA-2AF3-9B77-75BF-E84BF24A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D3FC0-B706-D9AF-FA93-EF3010FC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8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16DA-2100-B38F-F92E-45455891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C260A-7741-A73F-1895-72F8335CC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548CA-20EA-0342-CF50-91472903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DB71-D7B2-3C1D-8354-B4F9DB39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51A4-2D1F-BADF-8242-2DBF3BEC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00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DD517-3D31-45BC-F44E-0F8B5D855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1B08E-8F83-F8A9-4B36-B83DEFADA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A14EE-B2E8-DD6E-D7C3-B46AAE35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A0471-7023-1435-FC78-E979BCEE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1669E-2604-66DC-A78A-3F0FF260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8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y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>
            <a:extLst>
              <a:ext uri="{FF2B5EF4-FFF2-40B4-BE49-F238E27FC236}">
                <a16:creationId xmlns:a16="http://schemas.microsoft.com/office/drawing/2014/main" id="{2BA0AF1D-C0DE-5590-1785-9F54B42D184F}"/>
              </a:ext>
            </a:extLst>
          </p:cNvPr>
          <p:cNvGrpSpPr/>
          <p:nvPr userDrawn="1"/>
        </p:nvGrpSpPr>
        <p:grpSpPr>
          <a:xfrm>
            <a:off x="0" y="13063"/>
            <a:ext cx="12192000" cy="6870337"/>
            <a:chOff x="0" y="-85725"/>
            <a:chExt cx="5380340" cy="2994575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7DABFEFC-6282-E727-1040-25E6B6134E9F}"/>
                </a:ext>
              </a:extLst>
            </p:cNvPr>
            <p:cNvSpPr/>
            <p:nvPr/>
          </p:nvSpPr>
          <p:spPr>
            <a:xfrm>
              <a:off x="0" y="0"/>
              <a:ext cx="5380340" cy="2908850"/>
            </a:xfrm>
            <a:custGeom>
              <a:avLst/>
              <a:gdLst/>
              <a:ahLst/>
              <a:cxnLst/>
              <a:rect l="l" t="t" r="r" b="b"/>
              <a:pathLst>
                <a:path w="5380340" h="2908850">
                  <a:moveTo>
                    <a:pt x="0" y="0"/>
                  </a:moveTo>
                  <a:lnTo>
                    <a:pt x="5380340" y="0"/>
                  </a:lnTo>
                  <a:lnTo>
                    <a:pt x="5380340" y="2908850"/>
                  </a:lnTo>
                  <a:lnTo>
                    <a:pt x="0" y="290885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E6E7E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F72FF90E-D89E-162D-5CAF-BB26A3827305}"/>
                </a:ext>
              </a:extLst>
            </p:cNvPr>
            <p:cNvSpPr txBox="1"/>
            <p:nvPr/>
          </p:nvSpPr>
          <p:spPr>
            <a:xfrm>
              <a:off x="0" y="-85725"/>
              <a:ext cx="5380340" cy="299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9" name="Freeform 6">
            <a:extLst>
              <a:ext uri="{FF2B5EF4-FFF2-40B4-BE49-F238E27FC236}">
                <a16:creationId xmlns:a16="http://schemas.microsoft.com/office/drawing/2014/main" id="{D44016A5-568E-9D32-EE4D-BE2C31A246AA}"/>
              </a:ext>
            </a:extLst>
          </p:cNvPr>
          <p:cNvSpPr/>
          <p:nvPr userDrawn="1"/>
        </p:nvSpPr>
        <p:spPr>
          <a:xfrm>
            <a:off x="10464800" y="177800"/>
            <a:ext cx="1402883" cy="360887"/>
          </a:xfrm>
          <a:custGeom>
            <a:avLst/>
            <a:gdLst/>
            <a:ahLst/>
            <a:cxnLst/>
            <a:rect l="l" t="t" r="r" b="b"/>
            <a:pathLst>
              <a:path w="2104324" h="541330">
                <a:moveTo>
                  <a:pt x="0" y="0"/>
                </a:moveTo>
                <a:lnTo>
                  <a:pt x="2104324" y="0"/>
                </a:lnTo>
                <a:lnTo>
                  <a:pt x="2104324" y="541330"/>
                </a:lnTo>
                <a:lnTo>
                  <a:pt x="0" y="541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C04C38A-CE8B-C5EE-2358-9C652E2E08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787400"/>
            <a:ext cx="11125200" cy="660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4000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D81BE22A-A3A6-73C4-C939-ECD9A149B22E}"/>
              </a:ext>
            </a:extLst>
          </p:cNvPr>
          <p:cNvSpPr/>
          <p:nvPr userDrawn="1"/>
        </p:nvSpPr>
        <p:spPr>
          <a:xfrm>
            <a:off x="7047434" y="1498600"/>
            <a:ext cx="5144566" cy="5524312"/>
          </a:xfrm>
          <a:custGeom>
            <a:avLst/>
            <a:gdLst/>
            <a:ahLst/>
            <a:cxnLst/>
            <a:rect l="l" t="t" r="r" b="b"/>
            <a:pathLst>
              <a:path w="7716849" h="8286468">
                <a:moveTo>
                  <a:pt x="0" y="0"/>
                </a:moveTo>
                <a:lnTo>
                  <a:pt x="7716849" y="0"/>
                </a:lnTo>
                <a:lnTo>
                  <a:pt x="7716849" y="8286467"/>
                </a:lnTo>
                <a:lnTo>
                  <a:pt x="0" y="8286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7" b="-307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EE1804C-71B5-90AB-0F84-C08AAA531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800" y="2108200"/>
            <a:ext cx="11125200" cy="4216400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1pPr>
            <a:lvl2pPr marL="533427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2pPr>
            <a:lvl3pPr marL="80014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3pPr>
            <a:lvl4pPr marL="1104955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4pPr>
            <a:lvl5pPr marL="140977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80A0606-51B9-0BBB-2834-70693AB2A1D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8800" y="1549400"/>
            <a:ext cx="11125200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33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101057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96E27-802F-5341-58E0-E29D36C5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65B73-875F-CEB0-62F1-DB1AD0984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3ABAF-2175-59BB-2A89-86759B328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BB37-1AF9-D815-C41D-2A3EBD1B5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B6820-E104-1F83-D98B-31AE263FF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3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85800" y="3448050"/>
            <a:ext cx="5560377" cy="0"/>
          </a:xfrm>
          <a:prstGeom prst="line">
            <a:avLst/>
          </a:prstGeom>
          <a:ln w="57150" cap="rnd">
            <a:gradFill>
              <a:gsLst>
                <a:gs pos="0">
                  <a:srgbClr val="1667CC">
                    <a:alpha val="100000"/>
                  </a:srgbClr>
                </a:gs>
                <a:gs pos="100000">
                  <a:srgbClr val="3DC570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85800" y="1603623"/>
            <a:ext cx="4975062" cy="1537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350" b="1" dirty="0">
                <a:solidFill>
                  <a:srgbClr val="FFFFFF"/>
                </a:solidFill>
                <a:latin typeface="Montserrat Bold"/>
                <a:sym typeface="Montserrat Bold"/>
              </a:rPr>
              <a:t>Sales </a:t>
            </a:r>
            <a:br>
              <a:rPr lang="en-US" sz="4350" b="1" dirty="0">
                <a:latin typeface="Montserrat Bold"/>
              </a:rPr>
            </a:br>
            <a:r>
              <a:rPr lang="en-US" sz="3600" b="1" dirty="0">
                <a:solidFill>
                  <a:srgbClr val="FFFFFF"/>
                </a:solidFill>
                <a:latin typeface="Montserrat Bold"/>
                <a:sym typeface="Montserrat Bold"/>
              </a:rPr>
              <a:t>Primus Update</a:t>
            </a:r>
            <a:endParaRPr lang="en-US" sz="36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3755262"/>
            <a:ext cx="5410200" cy="287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1.26.26</a:t>
            </a:r>
          </a:p>
        </p:txBody>
      </p:sp>
      <p:sp>
        <p:nvSpPr>
          <p:cNvPr id="9" name="Freeform 93">
            <a:extLst>
              <a:ext uri="{FF2B5EF4-FFF2-40B4-BE49-F238E27FC236}">
                <a16:creationId xmlns:a16="http://schemas.microsoft.com/office/drawing/2014/main" id="{5CD82284-60FD-3FA7-2488-2D1D3581D7D7}"/>
              </a:ext>
            </a:extLst>
          </p:cNvPr>
          <p:cNvSpPr/>
          <p:nvPr/>
        </p:nvSpPr>
        <p:spPr>
          <a:xfrm>
            <a:off x="10312439" y="6176179"/>
            <a:ext cx="1547547" cy="388627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7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548C-A52F-4422-99BB-66D5C688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DD2B-DCB3-6765-DC8D-17DC3D99C1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C5147-5205-AA7D-70EA-CCE388E6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6726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MSP Platform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Rev.io PSA Is Missing to Sell to IT MSPs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  ·  INTERNAL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3794760" cy="201168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24128"/>
            <a:ext cx="3794760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115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3E3E"/>
                </a:solidFill>
              </a:rPr>
              <a:t>No Centralized Pricing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42646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Labor rates and pricing policies cannot be controlled through agreements. Changing a rate requires editing 600+ records manually. No override logic. No audit trail.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024128"/>
            <a:ext cx="3794760" cy="201168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024128"/>
            <a:ext cx="3794760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1115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3E3E"/>
                </a:solidFill>
              </a:rPr>
              <a:t>Billing Disconnected from Agreements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142646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Recurring billing records are not children of agreements. Cancelling an agreement does not resolve billing. Orphaned billing records are structurally 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024128"/>
            <a:ext cx="3794760" cy="201168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024128"/>
            <a:ext cx="3794760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1115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3E3E"/>
                </a:solidFill>
              </a:rPr>
              <a:t>No Block / Prepaid Hour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42646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Prepaid hour balances are not system-managed. Teams reconcile in spreadsheets. Overages are caught late. Revenue is lost.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172968"/>
            <a:ext cx="3794760" cy="201168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172968"/>
            <a:ext cx="3794760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" y="3264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3E3E"/>
                </a:solidFill>
              </a:rPr>
              <a:t>No RMM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" y="357530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No connection between managed devices in RMM tools (NinjaOne, Datto, N-able, etc.) and contract billing. MSPs update quantities manually or lose revenue.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3172968"/>
            <a:ext cx="3794760" cy="201168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3172968"/>
            <a:ext cx="3794760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7096" y="3264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3E3E"/>
                </a:solidFill>
              </a:rPr>
              <a:t>No Native Reconciliation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357530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No way to compare RMM device counts against billed quantities. MSPs rely on Excel VLOOKUPs. One missed row = unbilled devices for an entire cycle.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172968"/>
            <a:ext cx="3794760" cy="201168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3172968"/>
            <a:ext cx="3794760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3264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3E3E"/>
                </a:solidFill>
              </a:rPr>
              <a:t>No Inline Profitability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575304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No native view of revenue vs. labor cost at the agreement level. Margin compression is invisible until it's too late to reprice.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693408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MSP Platform  ·  Internal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693408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MSP Platform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Agreements &amp; Contracts — 10 Core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13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A8C8"/>
                </a:solidFill>
              </a:rPr>
              <a:t>All requirements are absolute must-haves for MSP competitiveness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  · 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24128"/>
            <a:ext cx="5806440" cy="100584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024128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0972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Pricing &amp; Billing Rule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097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Admin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3716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Global admin table for labor rates and pricing policies. One change propagates to all agreements instantly with preview and audit log.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024128"/>
            <a:ext cx="5806440" cy="10058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024128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972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1097280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Recurring Services as Agreement Children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71631" y="1097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Recurring billing cannot exist without a parent agreement. Cancelling the agreement resolves all billing automatically. No orphaned records.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093976"/>
            <a:ext cx="5806440" cy="100584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093976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21671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167128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Block / Prepaid Hour Auto-Tracking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Agreement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" y="244144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System tracks consumed hours against included balance in real time. Auto-bills overages at the rate defined in the agreement.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093976"/>
            <a:ext cx="5806440" cy="10058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093976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1671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167128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Multiple Billing Cycles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1631" y="21671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Agreement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44144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Support monthly, quarterly, annual, and custom cycles per agreement. Cycle assigned at agreement level, not globally.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163824"/>
            <a:ext cx="5806440" cy="100584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3163824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32369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236976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Evergreen / No-End-Date Agreements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2369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Agreement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3511296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Agreements that continue indefinitely without expiration. Month-to-month MSP engagements are the standard, not the exception.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3912" y="3163824"/>
            <a:ext cx="5806440" cy="10058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53912" y="3163824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2369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236976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Term vs. Expiration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1" y="32369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Agreement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511296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Separate fields for commitment end date vs. agreement expiration. Renewal intelligence requires both. A single date field is insufficient.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233672"/>
            <a:ext cx="5806440" cy="100584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4233672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" y="43068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306824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Clean Cancellation Workflows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3068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Agreement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" y="4581144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Cancelling an agreement resolves all child billing in one action. Zero manual cleanup. Full audit trail.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53912" y="4233672"/>
            <a:ext cx="5806440" cy="10058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53912" y="4233672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43068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306824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Inline Agreement Profitability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71631" y="43068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Agreement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581144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Monthly recurring revenue vs. labor cost visible on the agreement record. Margin trend, utilization by tier. Neither ConnectWise nor Halo offers this natively.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5303520"/>
            <a:ext cx="5806440" cy="100584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5303520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" y="5376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376672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Agreement-Owned Pricing Overrides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53766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Agreement Layer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" y="565099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Agreement-level pricing overrides that do not break central library. Override logic preserved automatically when rates change.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53912" y="5303520"/>
            <a:ext cx="5806440" cy="10058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53912" y="5303520"/>
            <a:ext cx="45720" cy="100584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5376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1112" y="5376672"/>
            <a:ext cx="5212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Scale + Telecom Preservation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71631" y="53766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667CC"/>
                </a:solidFill>
              </a:rPr>
              <a:t>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565099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All MSP agreement capabilities are additive. Zero changes to existing telecom billing paths. No regression risk for current customers.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" y="6693408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MSP Platform  ·  Internal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6693408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MSP Platform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RMM Integration — 7 Core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13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A8C8"/>
                </a:solidFill>
              </a:rPr>
              <a:t>Zero manual steps between device discovery and contract billing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  · 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24128"/>
            <a:ext cx="11823192" cy="7315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024128"/>
            <a:ext cx="4572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7899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RMM Connection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078992"/>
            <a:ext cx="8458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8C8"/>
                </a:solidFill>
              </a:rPr>
              <a:t>Multi-vendor OAuth/API adapter. Supports NinjaOne, Datto, N-able, Kaseya, Atera, Syncro. Extensible to additional vendors.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796796"/>
            <a:ext cx="11823192" cy="7315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796796"/>
            <a:ext cx="4572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516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516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Asset Type → Product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51660"/>
            <a:ext cx="8458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8C8"/>
                </a:solidFill>
              </a:rPr>
              <a:t>Global admin table maps canonical asset types to Rev.io products. Vendor-specific aliases resolved automatically. Set once, works everywhere.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569464"/>
            <a:ext cx="11823192" cy="7315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2569464"/>
            <a:ext cx="4572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6243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624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Agreement Asset Billing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624328"/>
            <a:ext cx="8458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8C8"/>
                </a:solidFill>
              </a:rPr>
              <a:t>Each agreement selects which asset types it bills for. System auto-creates recurring service component if one does not exist.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342132"/>
            <a:ext cx="11823192" cy="7315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3342132"/>
            <a:ext cx="4572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39699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969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Managed Assets Section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396996"/>
            <a:ext cx="8458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8C8"/>
                </a:solidFill>
              </a:rPr>
              <a:t>Customer-level inventory of all managed devices across connected RMMs. Status lifecycle and billing assignment visible in one panel.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114800"/>
            <a:ext cx="11823192" cy="7315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4114800"/>
            <a:ext cx="4572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169663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R-5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169663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Continuous Automated Sync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169663"/>
            <a:ext cx="8458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8C8"/>
                </a:solidFill>
              </a:rPr>
              <a:t>Webhook support for near-real-time updates. Full immutable audit log. On failure, last known quantity is retained — zero never results from a timeout.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4887468"/>
            <a:ext cx="11823192" cy="7315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4887468"/>
            <a:ext cx="4572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942331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R-6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942331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Ticket Rollup to Agreement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942331"/>
            <a:ext cx="8458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8C8"/>
                </a:solidFill>
              </a:rPr>
              <a:t>Tickets on managed assets auto-associate to the governing agreement. Adds Cost Per Managed Asset metric to profitability panel.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5660136"/>
            <a:ext cx="11823192" cy="7315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5660136"/>
            <a:ext cx="45720" cy="7315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715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A8C8"/>
                </a:solidFill>
              </a:rPr>
              <a:t>R-7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Native Reconciliation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715000"/>
            <a:ext cx="8458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8C8"/>
                </a:solidFill>
              </a:rPr>
              <a:t>Schedulable, drillable, exportable. Side-by-side RMM vs. billed counts. Revenue Assurance Summary showing dollar impact of every discrepancy. Replaces Excel VLOOKUPs.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693408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MSP Platform  ·  Internal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693408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MSP Platform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Integration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13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A8C8"/>
                </a:solidFill>
              </a:rPr>
              <a:t>Rev.io PSA as the operational core — connected to every layer of the MSP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  · 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3063240"/>
            <a:ext cx="1828800" cy="91440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31363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Rev.io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502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8C8"/>
                </a:solidFill>
              </a:rPr>
              <a:t>PSA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024128"/>
            <a:ext cx="5029200" cy="25603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024128"/>
            <a:ext cx="5029200" cy="36576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097280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9E8A"/>
                </a:solidFill>
              </a:rPr>
              <a:t>RMM INTEGRATIONS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37160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14173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NinjaOne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0992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755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Datto RMM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48256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093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N-able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37160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4173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Kaseya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170992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755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Atera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048256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93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Syncro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024128"/>
            <a:ext cx="5029200" cy="25603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1024128"/>
            <a:ext cx="5029200" cy="36576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1097280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7C2A"/>
                </a:solidFill>
              </a:rPr>
              <a:t>DISTRIBUTORS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137160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4173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Ingram Micro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170992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1755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TD SYNNEX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2048256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2093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D&amp;H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137160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14173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ScanSource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170992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1755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Real-time pricing sync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2048256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2093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PO automation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931920"/>
            <a:ext cx="5029200" cy="25603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3931920"/>
            <a:ext cx="5029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005072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DOCUMENTATION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279392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79" y="43251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IT Glue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61772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Hudu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95604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79" y="50017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PassPortal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279392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0" y="43251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Confluence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461772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Asset docs linked to tickets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495604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50017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KB article access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9440" y="3931920"/>
            <a:ext cx="5029200" cy="2560320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9440" y="3931920"/>
            <a:ext cx="5029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4005072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CRM / QUOTING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600" y="4279392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78040" y="43251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HubSpot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600" y="461772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86600" y="495604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40" y="50017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ConnectWise Sell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9760" y="4279392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0" y="43251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QuoteWerks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4617720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01200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Quote → agreement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760" y="4956048"/>
            <a:ext cx="2240280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0" y="50017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Opp → contract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3410712"/>
            <a:ext cx="457200" cy="36576"/>
          </a:xfrm>
          <a:prstGeom prst="rect">
            <a:avLst/>
          </a:prstGeom>
          <a:solidFill>
            <a:srgbClr val="8A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92240" y="3410712"/>
            <a:ext cx="457200" cy="36576"/>
          </a:xfrm>
          <a:prstGeom prst="rect">
            <a:avLst/>
          </a:prstGeom>
          <a:solidFill>
            <a:srgbClr val="8A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71616" y="2606040"/>
            <a:ext cx="36576" cy="640080"/>
          </a:xfrm>
          <a:prstGeom prst="rect">
            <a:avLst/>
          </a:prstGeom>
          <a:solidFill>
            <a:srgbClr val="8A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71616" y="4069080"/>
            <a:ext cx="36576" cy="640080"/>
          </a:xfrm>
          <a:prstGeom prst="rect">
            <a:avLst/>
          </a:prstGeom>
          <a:solidFill>
            <a:srgbClr val="8A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6693408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MSP Platform  ·  Internal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6693408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3DC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MSP Platform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Competitive Position — Rev.io Target vs.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13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A8C8"/>
                </a:solidFill>
              </a:rPr>
              <a:t>MSP agreement depth + telecom billing depth — a position no competitor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  · 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24128"/>
            <a:ext cx="11823192" cy="274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42415"/>
            <a:ext cx="4727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042415"/>
            <a:ext cx="13898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ConnectWise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042415"/>
            <a:ext cx="14356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Halo PSA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042415"/>
            <a:ext cx="14356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Autotask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042415"/>
            <a:ext cx="2075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Rev.io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16736"/>
            <a:ext cx="11823192" cy="402336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4081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Centralized pricing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40817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408176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408176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1316736"/>
            <a:ext cx="2148840" cy="402336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408176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719072"/>
            <a:ext cx="11823192" cy="402336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8105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Agreement-owned billing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810512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810512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810512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719072"/>
            <a:ext cx="2148840" cy="402336"/>
          </a:xfrm>
          <a:prstGeom prst="rect">
            <a:avLst/>
          </a:prstGeom>
          <a:solidFill>
            <a:srgbClr val="0A2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810512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21408"/>
            <a:ext cx="11823192" cy="402336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22128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Block / prepaid hour auto-tracking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21284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212848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212848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121408"/>
            <a:ext cx="2148840" cy="402336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212848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523744"/>
            <a:ext cx="11823192" cy="402336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26151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Auto overage billing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261518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615184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615184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800" y="2523744"/>
            <a:ext cx="2148840" cy="402336"/>
          </a:xfrm>
          <a:prstGeom prst="rect">
            <a:avLst/>
          </a:prstGeom>
          <a:solidFill>
            <a:srgbClr val="0A2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2615184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2926080"/>
            <a:ext cx="11823192" cy="402336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3017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Evergreen / no-end-date agreements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01752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017520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017520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800" y="2926080"/>
            <a:ext cx="2148840" cy="402336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3017520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3328416"/>
            <a:ext cx="11823192" cy="402336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341985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Term vs. expiration tracking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41985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419856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3419856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328416"/>
            <a:ext cx="2148840" cy="402336"/>
          </a:xfrm>
          <a:prstGeom prst="rect">
            <a:avLst/>
          </a:prstGeom>
          <a:solidFill>
            <a:srgbClr val="0A2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0" y="3419856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3730752"/>
            <a:ext cx="11823192" cy="402336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" y="3822191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Clean cancellation workflow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3822191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3822191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3822191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9800" y="3730752"/>
            <a:ext cx="2148840" cy="402336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20" y="3822191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4133087"/>
            <a:ext cx="11823192" cy="402336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4224527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Inline profitability 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4224527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4224527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4224527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29800" y="4133087"/>
            <a:ext cx="2148840" cy="402336"/>
          </a:xfrm>
          <a:prstGeom prst="rect">
            <a:avLst/>
          </a:prstGeom>
          <a:solidFill>
            <a:srgbClr val="0A2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20" y="4224527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535424"/>
            <a:ext cx="11823192" cy="402336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" y="462686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Native RMM integration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0" y="462686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4626864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4626864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29800" y="4535424"/>
            <a:ext cx="2148840" cy="402336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75520" y="4626864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4937760"/>
            <a:ext cx="11823192" cy="402336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8600" y="50292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Native reconciliation report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20640" y="502920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5120" y="5029200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75320" y="5029200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29800" y="4937760"/>
            <a:ext cx="2148840" cy="402336"/>
          </a:xfrm>
          <a:prstGeom prst="rect">
            <a:avLst/>
          </a:prstGeom>
          <a:solidFill>
            <a:srgbClr val="0A2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0" y="5029200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5340096"/>
            <a:ext cx="11823192" cy="402336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8600" y="54315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Revenue Assurance $ impact view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20640" y="543153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75120" y="5431536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75320" y="5431536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29800" y="5340096"/>
            <a:ext cx="2148840" cy="402336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75520" y="5431536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" y="5742431"/>
            <a:ext cx="11823192" cy="402336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8600" y="5833871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Telecom / usage billing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0640" y="5833871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0" y="5833871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75320" y="5833871"/>
            <a:ext cx="14356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C8"/>
                </a:solidFill>
              </a:rPr>
              <a:t>--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29800" y="5742431"/>
            <a:ext cx="2148840" cy="402336"/>
          </a:xfrm>
          <a:prstGeom prst="rect">
            <a:avLst/>
          </a:prstGeom>
          <a:solidFill>
            <a:srgbClr val="0A2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75520" y="5833871"/>
            <a:ext cx="2075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DC570"/>
                </a:solidFill>
              </a:rPr>
              <a:t>Yes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6400800"/>
            <a:ext cx="11823192" cy="237744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6428232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Rev.io Target = MSP agreement depth + telecom billing depth. No competitor can offer both.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82880" y="6693408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MSP Platform  ·  Internal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6693408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6322</TotalTime>
  <Words>5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Avenir Medium</vt:lpstr>
      <vt:lpstr>Brandon Grotesque Medium</vt:lpstr>
      <vt:lpstr>Montserrat</vt:lpstr>
      <vt:lpstr>Montserrat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Koontz</dc:creator>
  <cp:lastModifiedBy>Ryan Koontz</cp:lastModifiedBy>
  <cp:revision>13</cp:revision>
  <dcterms:created xsi:type="dcterms:W3CDTF">2025-11-17T01:40:24Z</dcterms:created>
  <dcterms:modified xsi:type="dcterms:W3CDTF">2026-03-19T16:40:10Z</dcterms:modified>
</cp:coreProperties>
</file>