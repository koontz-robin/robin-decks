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MRR by Competitor Displaced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CC94C"/>
              </a:solidFill>
              <a:effectLst/>
            </c:spPr>
          </c:dPt>
          <c:dPt>
            <c:idx val="1"/>
            <c:bubble3D val="0"/>
            <c:spPr>
              <a:solidFill>
                <a:srgbClr val="3498DB"/>
              </a:solidFill>
              <a:effectLst/>
            </c:spPr>
          </c:dPt>
          <c:dPt>
            <c:idx val="2"/>
            <c:bubble3D val="0"/>
            <c:spPr>
              <a:solidFill>
                <a:srgbClr val="E67E22"/>
              </a:solidFill>
              <a:effectLst/>
            </c:spPr>
          </c:dPt>
          <c:dPt>
            <c:idx val="3"/>
            <c:bubble3D val="0"/>
            <c:spPr>
              <a:solidFill>
                <a:srgbClr val="9B59B6"/>
              </a:solidFill>
              <a:effectLst/>
            </c:spPr>
          </c:dPt>
          <c:dPt>
            <c:idx val="4"/>
            <c:bubble3D val="0"/>
            <c:spPr>
              <a:solidFill>
                <a:srgbClr val="1ABC9C"/>
              </a:solidFill>
              <a:effectLst/>
            </c:spPr>
          </c:dPt>
          <c:dPt>
            <c:idx val="5"/>
            <c:bubble3D val="0"/>
            <c:spPr>
              <a:solidFill>
                <a:srgbClr val="E74C3C"/>
              </a:solidFill>
              <a:effectLst/>
            </c:spPr>
          </c:dPt>
          <c:dPt>
            <c:idx val="6"/>
            <c:bubble3D val="0"/>
            <c:spPr>
              <a:solidFill>
                <a:srgbClr val="2ECC71"/>
              </a:solidFill>
              <a:effectLst/>
            </c:spPr>
          </c:dPt>
          <c:dPt>
            <c:idx val="7"/>
            <c:bubble3D val="0"/>
            <c:spPr>
              <a:solidFill>
                <a:srgbClr val="3498DB"/>
              </a:solidFill>
              <a:effectLst/>
            </c:spPr>
          </c:dPt>
          <c:dPt>
            <c:idx val="8"/>
            <c:bubble3D val="0"/>
            <c:spPr>
              <a:solidFill>
                <a:srgbClr val="F39C12"/>
              </a:solidFill>
              <a:effectLst/>
            </c:spPr>
          </c:dPt>
          <c:dPt>
            <c:idx val="9"/>
            <c:bubble3D val="0"/>
            <c:spPr>
              <a:solidFill>
                <a:srgbClr val="8E44AD"/>
              </a:solidFill>
              <a:effectLst/>
            </c:spPr>
          </c:dPt>
          <c:dPt>
            <c:idx val="10"/>
            <c:bubble3D val="0"/>
            <c:spPr>
              <a:solidFill>
                <a:srgbClr val="95A5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Spreadsheets / Manual
$5,590 (17%)</c:v>
                </c:pt>
                <c:pt idx="1">
                  <c:v>QuickBooks
$5,085 (15%)</c:v>
                </c:pt>
                <c:pt idx="2">
                  <c:v>Monday
$2,930 (9%)</c:v>
                </c:pt>
                <c:pt idx="3">
                  <c:v>ConnectWise
$2,120 (6%)</c:v>
                </c:pt>
                <c:pt idx="4">
                  <c:v>SuperOps
$1,990 (6%)</c:v>
                </c:pt>
                <c:pt idx="5">
                  <c:v>Zoho
$1,710 (5%)</c:v>
                </c:pt>
                <c:pt idx="6">
                  <c:v>Dinomyte
$1,917 (6%)</c:v>
                </c:pt>
                <c:pt idx="7">
                  <c:v>Rev.io Ticketing
$1,800 (5%)</c:v>
                </c:pt>
                <c:pt idx="8">
                  <c:v>Platypus
$1,740 (5%)</c:v>
                </c:pt>
                <c:pt idx="9">
                  <c:v>Ormandy
$1,560 (5%)</c:v>
                </c:pt>
                <c:pt idx="10">
                  <c:v>Other (12 platforms)
$7,390 (22%)</c:v>
                </c:pt>
              </c:strCache>
            </c:strRef>
          </c:cat>
          <c:val>
            <c:numRef>
              <c:f>Sheet1!$B$2:$B$12</c:f>
              <c:numCache>
                <c:ptCount val="11"/>
                <c:pt idx="0">
                  <c:v>5590</c:v>
                </c:pt>
                <c:pt idx="1">
                  <c:v>5085</c:v>
                </c:pt>
                <c:pt idx="2">
                  <c:v>2930</c:v>
                </c:pt>
                <c:pt idx="3">
                  <c:v>2120</c:v>
                </c:pt>
                <c:pt idx="4">
                  <c:v>1990</c:v>
                </c:pt>
                <c:pt idx="5">
                  <c:v>1710</c:v>
                </c:pt>
                <c:pt idx="6">
                  <c:v>1917</c:v>
                </c:pt>
                <c:pt idx="7">
                  <c:v>1800</c:v>
                </c:pt>
                <c:pt idx="8">
                  <c:v>1740</c:v>
                </c:pt>
                <c:pt idx="9">
                  <c:v>1560</c:v>
                </c:pt>
                <c:pt idx="10">
                  <c:v>7390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— PSA Competitors Displaced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winning against spreadsheets, QuickBooks, and manual processes — not losing to established PSA platforms.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0" cy="36576"/>
          </a:xfrm>
          <a:prstGeom prst="rect">
            <a:avLst/>
          </a:prstGeom>
          <a:solidFill>
            <a:srgbClr val="4CC94C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274320" y="1188720"/>
          <a:ext cx="6217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08760"/>
          <a:ext cx="4297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822960"/>
                <a:gridCol w="64008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PSA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$5,090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QuickBooks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$5,085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ConnectWise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SuperOps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$1,990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Dinomyte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Rev.io Ticketing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Platypus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Ormandy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AlarmBiller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Fusion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D-Tools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QB Time (TSheets)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Projx360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ComputerEase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Autotask/Datto/Kaseya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Housecall Pro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Inhouse / Homegrown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RazorSync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Zendesk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$33,832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6035040"/>
            <a:ext cx="6583680" cy="640080"/>
          </a:xfrm>
          <a:prstGeom prst="roundRect">
            <a:avLst>
              <a:gd name="adj" fmla="val 14286"/>
            </a:avLst>
          </a:prstGeom>
          <a:solidFill>
            <a:srgbClr val="22395E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6062472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#1 displaced: Spreadsheets + Homegrown (32% of deals)</a:t>
            </a:r>
            <a:pPr indent="0" marL="0">
              <a:buNone/>
            </a:pPr>
            <a:r>
              <a:rPr lang="en-US" sz="95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greenfield opportunity, not rip-and-replace
</a:t>
            </a:r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#2 displaced: QuickBooks (18% of deals)</a:t>
            </a:r>
            <a:pPr indent="0" marL="0">
              <a:buNone/>
            </a:pPr>
            <a:r>
              <a:rPr lang="en-US" sz="95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companies outgrowing basic tools, ready for purpose-built PSA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2026-02-23T19:51:02Z</dcterms:created>
  <dcterms:modified xsi:type="dcterms:W3CDTF">2026-02-23T19:51:02Z</dcterms:modified>
</cp:coreProperties>
</file>