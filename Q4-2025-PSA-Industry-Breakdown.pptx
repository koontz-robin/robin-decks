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MRR by Industry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CC94C"/>
              </a:solidFill>
              <a:effectLst/>
            </c:spPr>
          </c:dPt>
          <c:dPt>
            <c:idx val="1"/>
            <c:bubble3D val="0"/>
            <c:spPr>
              <a:solidFill>
                <a:srgbClr val="3498DB"/>
              </a:solidFill>
              <a:effectLst/>
            </c:spPr>
          </c:dPt>
          <c:dPt>
            <c:idx val="2"/>
            <c:bubble3D val="0"/>
            <c:spPr>
              <a:solidFill>
                <a:srgbClr val="E67E22"/>
              </a:solidFill>
              <a:effectLst/>
            </c:spPr>
          </c:dPt>
          <c:dPt>
            <c:idx val="3"/>
            <c:bubble3D val="0"/>
            <c:spPr>
              <a:solidFill>
                <a:srgbClr val="9B59B6"/>
              </a:solidFill>
              <a:effectLst/>
            </c:spPr>
          </c:dPt>
          <c:dPt>
            <c:idx val="4"/>
            <c:bubble3D val="0"/>
            <c:spPr>
              <a:solidFill>
                <a:srgbClr val="1ABC9C"/>
              </a:solidFill>
              <a:effectLst/>
            </c:spPr>
          </c:dPt>
          <c:dPt>
            <c:idx val="5"/>
            <c:bubble3D val="0"/>
            <c:spPr>
              <a:solidFill>
                <a:srgbClr val="E74C3C"/>
              </a:solidFill>
              <a:effectLst/>
            </c:spPr>
          </c:dPt>
          <c:dPt>
            <c:idx val="6"/>
            <c:bubble3D val="0"/>
            <c:spPr>
              <a:solidFill>
                <a:srgbClr val="95A5A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6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Security Integrator
$14,657 (43%)</c:v>
                </c:pt>
                <c:pt idx="1">
                  <c:v>MSP - UCaaS/VoIP
$6,890 (20%)</c:v>
                </c:pt>
                <c:pt idx="2">
                  <c:v>Business Support Svcs
$4,090 (12%)</c:v>
                </c:pt>
                <c:pt idx="3">
                  <c:v>Internet / Fiber / Data
$2,240 (7%)</c:v>
                </c:pt>
                <c:pt idx="4">
                  <c:v>MSP - No Voice
$2,010 (6%)</c:v>
                </c:pt>
                <c:pt idx="5">
                  <c:v>AV / Home Automation
$1,180 (3%)</c:v>
                </c:pt>
                <c:pt idx="6">
                  <c:v>Other
$2,765 (8%)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14657</c:v>
                </c:pt>
                <c:pt idx="1">
                  <c:v>6890</c:v>
                </c:pt>
                <c:pt idx="2">
                  <c:v>4090</c:v>
                </c:pt>
                <c:pt idx="3">
                  <c:v>2240</c:v>
                </c:pt>
                <c:pt idx="4">
                  <c:v>2010</c:v>
                </c:pt>
                <c:pt idx="5">
                  <c:v>1180</c:v>
                </c:pt>
                <c:pt idx="6">
                  <c:v>2765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FFFFFF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2025 — PSA Closed Won by Industry Vertical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Integrators remain the dominant PSA buyer. MSP segments showing early traction.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0972800" cy="36576"/>
          </a:xfrm>
          <a:prstGeom prst="rect">
            <a:avLst/>
          </a:prstGeom>
          <a:solidFill>
            <a:srgbClr val="4CC94C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274320" y="1188720"/>
          <a:ext cx="59436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315200" y="11887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1554480"/>
          <a:ext cx="42976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822960"/>
                <a:gridCol w="640080"/>
              </a:tblGrid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Industry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Deal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Integrator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$14,657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$666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MSP - UCaaS/VoIP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$6,890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$861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Support Svcs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MSP - No Voice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$670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/ Fiber / Data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$2,240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 / Home Automation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$1,180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Fire Protection Svcs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Telecom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2-Way Radio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$610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454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$500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395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$33,832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4CC9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F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42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94360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22395E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98932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Security Integrator = 49% of deals, 43% of MRR</a:t>
            </a:r>
            <a:pPr indent="0" marL="0">
              <a:buNone/>
            </a:pPr>
            <a:r>
              <a:rPr lang="en-US" sz="10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Product-market fit proven in this vertical
</a:t>
            </a:r>
            <a:pPr indent="0" marL="0">
              <a:buNone/>
            </a:pPr>
            <a:r>
              <a:rPr lang="en-US" sz="1050" b="1" dirty="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MSP combined (UCaaS + No Voice) = 24% of deals, 26% of MRR</a:t>
            </a:r>
            <a:pPr indent="0" marL="0">
              <a:buNone/>
            </a:pPr>
            <a:r>
              <a:rPr lang="en-US" sz="1000" dirty="0">
                <a:solidFill>
                  <a:srgbClr val="C0C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Growing segment, will accelerate as product gaps close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2026-02-23T19:43:52Z</dcterms:created>
  <dcterms:modified xsi:type="dcterms:W3CDTF">2026-02-23T19:43:52Z</dcterms:modified>
</cp:coreProperties>
</file>