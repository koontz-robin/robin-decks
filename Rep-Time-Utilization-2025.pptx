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Prospect Meetings</c:v>
                </c:pt>
              </c:strCache>
            </c:strRef>
          </c:tx>
          <c:spPr>
            <a:solidFill>
              <a:srgbClr val="4CC94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Dahlstrom</c:v>
                  </c:pt>
                  <c:pt idx="1">
                    <c:v>Butler</c:v>
                  </c:pt>
                  <c:pt idx="2">
                    <c:v>Abarno</c:v>
                  </c:pt>
                  <c:pt idx="3">
                    <c:v>Whisenant</c:v>
                  </c:pt>
                  <c:pt idx="4">
                    <c:v>Flynn</c:v>
                  </c:pt>
                  <c:pt idx="5">
                    <c:v>Davies</c:v>
                  </c:pt>
                  <c:pt idx="6">
                    <c:v>Mitchell</c:v>
                  </c:pt>
                  <c:pt idx="7">
                    <c:v>Borah</c:v>
                  </c:pt>
                  <c:pt idx="8">
                    <c:v>Zalmiyar</c:v>
                  </c:pt>
                  <c:pt idx="9">
                    <c:v>Bender</c:v>
                  </c:pt>
                  <c:pt idx="10">
                    <c:v>Herndon</c:v>
                  </c:pt>
                  <c:pt idx="11">
                    <c:v>Industry Avg</c:v>
                  </c:pt>
                  <c:pt idx="12">
                    <c:v>Best-in-Class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25.9</c:v>
                </c:pt>
                <c:pt idx="1">
                  <c:v>27.5</c:v>
                </c:pt>
                <c:pt idx="2">
                  <c:v>27.9</c:v>
                </c:pt>
                <c:pt idx="3">
                  <c:v>31.1</c:v>
                </c:pt>
                <c:pt idx="4">
                  <c:v>19</c:v>
                </c:pt>
                <c:pt idx="5">
                  <c:v>17.5</c:v>
                </c:pt>
                <c:pt idx="6">
                  <c:v>18.6</c:v>
                </c:pt>
                <c:pt idx="7">
                  <c:v>14</c:v>
                </c:pt>
                <c:pt idx="8">
                  <c:v>14.2</c:v>
                </c:pt>
                <c:pt idx="9">
                  <c:v>19.6</c:v>
                </c:pt>
                <c:pt idx="10">
                  <c:v>12.7</c:v>
                </c:pt>
                <c:pt idx="11">
                  <c:v>25</c:v>
                </c:pt>
                <c:pt idx="12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Prospecting (Calls + Emails)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Dahlstrom</c:v>
                  </c:pt>
                  <c:pt idx="1">
                    <c:v>Butler</c:v>
                  </c:pt>
                  <c:pt idx="2">
                    <c:v>Abarno</c:v>
                  </c:pt>
                  <c:pt idx="3">
                    <c:v>Whisenant</c:v>
                  </c:pt>
                  <c:pt idx="4">
                    <c:v>Flynn</c:v>
                  </c:pt>
                  <c:pt idx="5">
                    <c:v>Davies</c:v>
                  </c:pt>
                  <c:pt idx="6">
                    <c:v>Mitchell</c:v>
                  </c:pt>
                  <c:pt idx="7">
                    <c:v>Borah</c:v>
                  </c:pt>
                  <c:pt idx="8">
                    <c:v>Zalmiyar</c:v>
                  </c:pt>
                  <c:pt idx="9">
                    <c:v>Bender</c:v>
                  </c:pt>
                  <c:pt idx="10">
                    <c:v>Herndon</c:v>
                  </c:pt>
                  <c:pt idx="11">
                    <c:v>Industry Avg</c:v>
                  </c:pt>
                  <c:pt idx="12">
                    <c:v>Best-in-Class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34.1</c:v>
                </c:pt>
                <c:pt idx="1">
                  <c:v>32.5</c:v>
                </c:pt>
                <c:pt idx="2">
                  <c:v>32.1</c:v>
                </c:pt>
                <c:pt idx="3">
                  <c:v>28.9</c:v>
                </c:pt>
                <c:pt idx="4">
                  <c:v>41</c:v>
                </c:pt>
                <c:pt idx="5">
                  <c:v>42.5</c:v>
                </c:pt>
                <c:pt idx="6">
                  <c:v>41.4</c:v>
                </c:pt>
                <c:pt idx="7">
                  <c:v>46</c:v>
                </c:pt>
                <c:pt idx="8">
                  <c:v>45.8</c:v>
                </c:pt>
                <c:pt idx="9">
                  <c:v>40.4</c:v>
                </c:pt>
                <c:pt idx="10">
                  <c:v>47.3</c:v>
                </c:pt>
                <c:pt idx="11">
                  <c:v>36</c:v>
                </c:pt>
                <c:pt idx="12">
                  <c:v>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 Management</c:v>
                </c:pt>
              </c:strCache>
            </c:strRef>
          </c:tx>
          <c:spPr>
            <a:solidFill>
              <a:srgbClr val="9B59B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Dahlstrom</c:v>
                  </c:pt>
                  <c:pt idx="1">
                    <c:v>Butler</c:v>
                  </c:pt>
                  <c:pt idx="2">
                    <c:v>Abarno</c:v>
                  </c:pt>
                  <c:pt idx="3">
                    <c:v>Whisenant</c:v>
                  </c:pt>
                  <c:pt idx="4">
                    <c:v>Flynn</c:v>
                  </c:pt>
                  <c:pt idx="5">
                    <c:v>Davies</c:v>
                  </c:pt>
                  <c:pt idx="6">
                    <c:v>Mitchell</c:v>
                  </c:pt>
                  <c:pt idx="7">
                    <c:v>Borah</c:v>
                  </c:pt>
                  <c:pt idx="8">
                    <c:v>Zalmiyar</c:v>
                  </c:pt>
                  <c:pt idx="9">
                    <c:v>Bender</c:v>
                  </c:pt>
                  <c:pt idx="10">
                    <c:v>Herndon</c:v>
                  </c:pt>
                  <c:pt idx="11">
                    <c:v>Industry Avg</c:v>
                  </c:pt>
                  <c:pt idx="12">
                    <c:v>Best-in-Class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10</c:v>
                </c:pt>
                <c:pt idx="12">
                  <c:v>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CRM Updates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Dahlstrom</c:v>
                  </c:pt>
                  <c:pt idx="1">
                    <c:v>Butler</c:v>
                  </c:pt>
                  <c:pt idx="2">
                    <c:v>Abarno</c:v>
                  </c:pt>
                  <c:pt idx="3">
                    <c:v>Whisenant</c:v>
                  </c:pt>
                  <c:pt idx="4">
                    <c:v>Flynn</c:v>
                  </c:pt>
                  <c:pt idx="5">
                    <c:v>Davies</c:v>
                  </c:pt>
                  <c:pt idx="6">
                    <c:v>Mitchell</c:v>
                  </c:pt>
                  <c:pt idx="7">
                    <c:v>Borah</c:v>
                  </c:pt>
                  <c:pt idx="8">
                    <c:v>Zalmiyar</c:v>
                  </c:pt>
                  <c:pt idx="9">
                    <c:v>Bender</c:v>
                  </c:pt>
                  <c:pt idx="10">
                    <c:v>Herndon</c:v>
                  </c:pt>
                  <c:pt idx="11">
                    <c:v>Industry Avg</c:v>
                  </c:pt>
                  <c:pt idx="12">
                    <c:v>Best-in-Class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15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  <c:pt idx="5">
                  <c:v>15</c:v>
                </c:pt>
                <c:pt idx="6">
                  <c:v>15</c:v>
                </c:pt>
                <c:pt idx="7">
                  <c:v>15</c:v>
                </c:pt>
                <c:pt idx="8">
                  <c:v>15</c:v>
                </c:pt>
                <c:pt idx="9">
                  <c:v>15</c:v>
                </c:pt>
                <c:pt idx="10">
                  <c:v>15</c:v>
                </c:pt>
                <c:pt idx="11">
                  <c:v>17</c:v>
                </c:pt>
                <c:pt idx="12">
                  <c:v>10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Team Meetings</c:v>
                </c:pt>
              </c:strCache>
            </c:strRef>
          </c:tx>
          <c:spPr>
            <a:solidFill>
              <a:srgbClr val="95A5A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Dahlstrom</c:v>
                  </c:pt>
                  <c:pt idx="1">
                    <c:v>Butler</c:v>
                  </c:pt>
                  <c:pt idx="2">
                    <c:v>Abarno</c:v>
                  </c:pt>
                  <c:pt idx="3">
                    <c:v>Whisenant</c:v>
                  </c:pt>
                  <c:pt idx="4">
                    <c:v>Flynn</c:v>
                  </c:pt>
                  <c:pt idx="5">
                    <c:v>Davies</c:v>
                  </c:pt>
                  <c:pt idx="6">
                    <c:v>Mitchell</c:v>
                  </c:pt>
                  <c:pt idx="7">
                    <c:v>Borah</c:v>
                  </c:pt>
                  <c:pt idx="8">
                    <c:v>Zalmiyar</c:v>
                  </c:pt>
                  <c:pt idx="9">
                    <c:v>Bender</c:v>
                  </c:pt>
                  <c:pt idx="10">
                    <c:v>Herndon</c:v>
                  </c:pt>
                  <c:pt idx="11">
                    <c:v>Industry Avg</c:v>
                  </c:pt>
                  <c:pt idx="12">
                    <c:v>Best-in-Class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20</c:v>
                </c:pt>
                <c:pt idx="11">
                  <c:v>12</c:v>
                </c:pt>
                <c:pt idx="12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2A3F5F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Efficiency Ratio</c:v>
                </c:pt>
              </c:strCache>
            </c:strRef>
          </c:tx>
          <c:spPr>
            <a:solidFill>
              <a:srgbClr val="4CC94C"/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Dahlstrom</c:v>
                  </c:pt>
                  <c:pt idx="1">
                    <c:v>Butler</c:v>
                  </c:pt>
                  <c:pt idx="2">
                    <c:v>Abarno</c:v>
                  </c:pt>
                  <c:pt idx="3">
                    <c:v>Best-in-Class</c:v>
                  </c:pt>
                  <c:pt idx="4">
                    <c:v>Herndon*</c:v>
                  </c:pt>
                  <c:pt idx="5">
                    <c:v>Whisenant</c:v>
                  </c:pt>
                  <c:pt idx="6">
                    <c:v>Borah</c:v>
                  </c:pt>
                  <c:pt idx="7">
                    <c:v>Mitchell</c:v>
                  </c:pt>
                  <c:pt idx="8">
                    <c:v>Flynn</c:v>
                  </c:pt>
                  <c:pt idx="9">
                    <c:v>Davies</c:v>
                  </c:pt>
                  <c:pt idx="10">
                    <c:v>Bender*</c:v>
                  </c:pt>
                  <c:pt idx="11">
                    <c:v>Zalmiyar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5.94</c:v>
                </c:pt>
                <c:pt idx="1">
                  <c:v>4.78</c:v>
                </c:pt>
                <c:pt idx="2">
                  <c:v>3.46</c:v>
                </c:pt>
                <c:pt idx="3">
                  <c:v>3</c:v>
                </c:pt>
                <c:pt idx="4">
                  <c:v>2.5</c:v>
                </c:pt>
                <c:pt idx="5">
                  <c:v>2.22</c:v>
                </c:pt>
                <c:pt idx="6">
                  <c:v>1.61</c:v>
                </c:pt>
                <c:pt idx="7">
                  <c:v>1.58</c:v>
                </c:pt>
                <c:pt idx="8">
                  <c:v>1.32</c:v>
                </c:pt>
                <c:pt idx="9">
                  <c:v>1.2</c:v>
                </c:pt>
                <c:pt idx="10">
                  <c:v>0.93</c:v>
                </c:pt>
                <c:pt idx="11">
                  <c:v>0.57</c:v>
                </c:pt>
              </c:numCache>
            </c:numRef>
          </c:val>
        </c:ser>
        <c:dLbls>
          <c:numFmt formatCode="0.00&quot;x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Time Utilization — 2025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calls ≠ more revenue. Our top performers convert prospecting into meetings more efficiently — the answer isn't more dials, it's more selling time and smarter outreach.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estimates: 1hr/meeting, 3min/call, 1min/email (Outreach templates) | CRM &amp; Team Meetings based on B2B SaaS benchmarks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Salesforce State of Sales 2024 | Forrester Research | HubSpot Sales Productivity Report 2024 | Highspot Sales Enablement Impact Report 2024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97280"/>
          <a:ext cx="1097280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Prospecting Activity Volume — 2025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0" cy="36576"/>
          </a:xfrm>
          <a:prstGeom prst="rect">
            <a:avLst/>
          </a:prstGeom>
          <a:solidFill>
            <a:srgbClr val="4CC94C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554480"/>
                <a:gridCol w="155448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Patrick Dahlstrom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15,666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Jamie Butler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Joe Abarno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Andy Whisenant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Connor Flynn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12,638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Patrick Davies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13,352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Jake Mitchell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Jake Borah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Husam Zalmiyar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Jaylin Bender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Davis Herndon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74,795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37,996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115,206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Efficiency by Rep — 2025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Efficiency Ratio = New ARR ÷ Total Cost (salary + benefits + commission)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10972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1645920" y="3971109"/>
            <a:ext cx="9601200" cy="0"/>
          </a:xfrm>
          <a:prstGeom prst="line">
            <a:avLst/>
          </a:prstGeom>
          <a:noFill/>
          <a:ln w="25400">
            <a:solidFill>
              <a:srgbClr val="FFD700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9144000" y="3769941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Avg (1.0x)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49377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= partial year  |  Industry Avg (1.0x): Benchmarkit 2025 — median New CAC Ratio $2.00; Bridge Group 2024 — only 51% of AEs hit quota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51206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(3.0x): Bessemer Venture Partners Efficiency Benchmarks; Insight Partners SaaS Sales Periodic Table (top-quartile threshold)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21208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103120"/>
                <a:gridCol w="2103120"/>
                <a:gridCol w="21031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Dahlstrom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$571,356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$96,153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5.94x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$438,240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$91,650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4.78x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Abarno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$322,032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$93,041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i="1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► Best-in-Class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Herndon*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$47,724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$19,060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Whisenant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$195,540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$87,964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Borah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$130,800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$81,267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Mitchell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$124,968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$79,095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Flynn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$103,380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$78,461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$92,832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$77,529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Bender*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$16,320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Zalmiyar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$39,384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$68,604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2026-02-20T22:18:18Z</dcterms:created>
  <dcterms:modified xsi:type="dcterms:W3CDTF">2026-02-20T22:18:18Z</dcterms:modified>
</cp:coreProperties>
</file>