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828" r:id="rId9"/>
    <p:sldId id="829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21"/>
    <p:restoredTop sz="72857"/>
  </p:normalViewPr>
  <p:slideViewPr>
    <p:cSldViewPr snapToGrid="0">
      <p:cViewPr varScale="1">
        <p:scale>
          <a:sx n="91" d="100"/>
          <a:sy n="91" d="100"/>
        </p:scale>
        <p:origin x="174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8C880D-BAB9-814B-91C1-A2E6619901B5}" type="datetimeFigureOut">
              <a:rPr lang="en-US" smtClean="0"/>
              <a:t>3/19/26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BE4E2D-A077-D444-A84D-EE88C5B872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89085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0ECD4-BB87-DB1F-F089-CAB61A77D1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E6C12D-58BC-98E9-57E9-4762C20F34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570D7-BB01-E516-3A67-13A4B74BB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B13376-EE68-4C3E-8E9C-249801E5AC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1B30D8-C414-E89D-12E4-95C21C2957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6905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0A55F3-964D-453F-D398-6BB3C1354E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9B4CF0-41A3-9429-6D8B-D50964806F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27683B-AA11-5EFA-1B5E-CE14AE4FCD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4B09D1-A084-F2E8-FAD6-FDD1B927E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62F40A-1596-5849-8CDE-F9D06B561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6225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61A975-9567-7874-9641-AA05E375A3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1DF9D9-28EC-885B-4C42-25AB24EE47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AA476-71C5-A400-CA09-C92275C69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6BE3D2-1E86-2D44-2B93-FF7DC7814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018954-05E4-7483-72BB-3216C8FA1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15286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355E3-C1F7-F2F5-E1C4-E5442BF9D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B6BF0F-C0E6-7363-A8BD-4418BA850A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B0EBA4-C9BB-5FAE-CAC4-11065DF656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B0F989-47BC-7F78-5A2E-80CEEEEBD1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D6573D-8446-8C6F-57FA-84CE31A786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69DE16-E329-4BCE-B984-DC1E15522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5329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DF6E80-07EC-525B-30CC-16B8947C9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C40E5B-0665-25AD-4113-C89B47839C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6797EB-F218-E9FA-A691-F899468D04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AF63C4-68B8-2847-D3A2-478F4EEB2F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E581B0-92C2-EBE8-ED27-8CCFDA355E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747F20D-50AB-8042-9952-DFAA73DFB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269A033-FB4E-6EFD-71B7-5A64BB61B2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66AE81-01FC-9EA5-ED2D-1634ACEED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6768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CCF069-3A03-8A7A-8D6F-07C53765A8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3B3B1E-165B-FA83-CFBB-4C2966D507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E76F09-64EE-817E-922F-2AC83ED5E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9368B8-EF67-AF95-621A-718995B52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5392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DC8681-6E72-D0EC-9310-D49D6524A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62B4794-3947-FEF2-7657-56C5ACC183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AAD97C-5DE4-F099-DCD4-D49650F0A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4153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33490-39A9-4DB3-FE0E-CDB41B2D4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13DEB8-0627-0A05-BCD3-E42F254FFD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78E230-3501-32DC-0C78-2A005F649D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597B73-392B-C9FF-5DB1-A47B0D130B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93760A-682B-FA90-D7F1-3A22E4F3D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5FF447-DF94-13B7-68F9-75779C28A4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11746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A67294-4A9F-E74F-CCAD-68EF31834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809BC70-FA5A-61CD-D7A7-1AFA5E37DCE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A923EE-914B-2423-CCDB-EA1FE059B4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90D481-3DF3-00C2-489C-60E5E0536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C681AA-2AF3-9B77-75BF-E84BF24A8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DD3FC0-B706-D9AF-FA93-EF3010FCF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5899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7816DA-2100-B38F-F92E-454558912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BC260A-7741-A73F-1895-72F8335CC2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C548CA-20EA-0342-CF50-91472903D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EEDB71-D7B2-3C1D-8354-B4F9DB392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D51A4-2D1F-BADF-8242-2DBF3BECEB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7005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56DD517-3D31-45BC-F44E-0F8B5D85571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91B08E-8F83-F8A9-4B36-B83DEFADAB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3A14EE-B2E8-DD6E-D7C3-B46AAE35A9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8A0471-7023-1435-FC78-E979BCEE24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31669E-2604-66DC-A78A-3F0FF2604E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88928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Grey_Bull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2">
            <a:extLst>
              <a:ext uri="{FF2B5EF4-FFF2-40B4-BE49-F238E27FC236}">
                <a16:creationId xmlns:a16="http://schemas.microsoft.com/office/drawing/2014/main" id="{2BA0AF1D-C0DE-5590-1785-9F54B42D184F}"/>
              </a:ext>
            </a:extLst>
          </p:cNvPr>
          <p:cNvGrpSpPr/>
          <p:nvPr userDrawn="1"/>
        </p:nvGrpSpPr>
        <p:grpSpPr>
          <a:xfrm>
            <a:off x="0" y="13063"/>
            <a:ext cx="12192000" cy="6870337"/>
            <a:chOff x="0" y="-85725"/>
            <a:chExt cx="5380340" cy="2994575"/>
          </a:xfrm>
        </p:grpSpPr>
        <p:sp>
          <p:nvSpPr>
            <p:cNvPr id="16" name="Freeform 3">
              <a:extLst>
                <a:ext uri="{FF2B5EF4-FFF2-40B4-BE49-F238E27FC236}">
                  <a16:creationId xmlns:a16="http://schemas.microsoft.com/office/drawing/2014/main" id="{7DABFEFC-6282-E727-1040-25E6B6134E9F}"/>
                </a:ext>
              </a:extLst>
            </p:cNvPr>
            <p:cNvSpPr/>
            <p:nvPr/>
          </p:nvSpPr>
          <p:spPr>
            <a:xfrm>
              <a:off x="0" y="0"/>
              <a:ext cx="5380340" cy="2908850"/>
            </a:xfrm>
            <a:custGeom>
              <a:avLst/>
              <a:gdLst/>
              <a:ahLst/>
              <a:cxnLst/>
              <a:rect l="l" t="t" r="r" b="b"/>
              <a:pathLst>
                <a:path w="5380340" h="2908850">
                  <a:moveTo>
                    <a:pt x="0" y="0"/>
                  </a:moveTo>
                  <a:lnTo>
                    <a:pt x="5380340" y="0"/>
                  </a:lnTo>
                  <a:lnTo>
                    <a:pt x="5380340" y="2908850"/>
                  </a:lnTo>
                  <a:lnTo>
                    <a:pt x="0" y="2908850"/>
                  </a:ln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100000"/>
                  </a:srgbClr>
                </a:gs>
                <a:gs pos="100000">
                  <a:srgbClr val="E6E7E8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17" name="TextBox 4">
              <a:extLst>
                <a:ext uri="{FF2B5EF4-FFF2-40B4-BE49-F238E27FC236}">
                  <a16:creationId xmlns:a16="http://schemas.microsoft.com/office/drawing/2014/main" id="{F72FF90E-D89E-162D-5CAF-BB26A3827305}"/>
                </a:ext>
              </a:extLst>
            </p:cNvPr>
            <p:cNvSpPr txBox="1"/>
            <p:nvPr/>
          </p:nvSpPr>
          <p:spPr>
            <a:xfrm>
              <a:off x="0" y="-85725"/>
              <a:ext cx="5380340" cy="29945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67"/>
                </a:lnSpc>
              </a:pPr>
              <a:endParaRPr sz="1200"/>
            </a:p>
          </p:txBody>
        </p:sp>
      </p:grpSp>
      <p:sp>
        <p:nvSpPr>
          <p:cNvPr id="9" name="Freeform 6">
            <a:extLst>
              <a:ext uri="{FF2B5EF4-FFF2-40B4-BE49-F238E27FC236}">
                <a16:creationId xmlns:a16="http://schemas.microsoft.com/office/drawing/2014/main" id="{D44016A5-568E-9D32-EE4D-BE2C31A246AA}"/>
              </a:ext>
            </a:extLst>
          </p:cNvPr>
          <p:cNvSpPr/>
          <p:nvPr userDrawn="1"/>
        </p:nvSpPr>
        <p:spPr>
          <a:xfrm>
            <a:off x="10464800" y="177800"/>
            <a:ext cx="1402883" cy="360887"/>
          </a:xfrm>
          <a:custGeom>
            <a:avLst/>
            <a:gdLst/>
            <a:ahLst/>
            <a:cxnLst/>
            <a:rect l="l" t="t" r="r" b="b"/>
            <a:pathLst>
              <a:path w="2104324" h="541330">
                <a:moveTo>
                  <a:pt x="0" y="0"/>
                </a:moveTo>
                <a:lnTo>
                  <a:pt x="2104324" y="0"/>
                </a:lnTo>
                <a:lnTo>
                  <a:pt x="2104324" y="541330"/>
                </a:lnTo>
                <a:lnTo>
                  <a:pt x="0" y="54133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 sz="1200"/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EC04C38A-CE8B-C5EE-2358-9C652E2E08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8800" y="787400"/>
            <a:ext cx="11125200" cy="660400"/>
          </a:xfrm>
          <a:prstGeom prst="rect">
            <a:avLst/>
          </a:prstGeom>
          <a:ln>
            <a:noFill/>
          </a:ln>
        </p:spPr>
        <p:txBody>
          <a:bodyPr/>
          <a:lstStyle>
            <a:lvl1pPr algn="l">
              <a:defRPr sz="4000" b="0" i="0">
                <a:solidFill>
                  <a:srgbClr val="1D3756"/>
                </a:solidFill>
                <a:latin typeface="Brandon Grotesque Medium" panose="020B0603020203060202" pitchFamily="34" charset="77"/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23" name="Freeform 5">
            <a:extLst>
              <a:ext uri="{FF2B5EF4-FFF2-40B4-BE49-F238E27FC236}">
                <a16:creationId xmlns:a16="http://schemas.microsoft.com/office/drawing/2014/main" id="{D81BE22A-A3A6-73C4-C939-ECD9A149B22E}"/>
              </a:ext>
            </a:extLst>
          </p:cNvPr>
          <p:cNvSpPr/>
          <p:nvPr userDrawn="1"/>
        </p:nvSpPr>
        <p:spPr>
          <a:xfrm>
            <a:off x="7047434" y="1498600"/>
            <a:ext cx="5144566" cy="5524312"/>
          </a:xfrm>
          <a:custGeom>
            <a:avLst/>
            <a:gdLst/>
            <a:ahLst/>
            <a:cxnLst/>
            <a:rect l="l" t="t" r="r" b="b"/>
            <a:pathLst>
              <a:path w="7716849" h="8286468">
                <a:moveTo>
                  <a:pt x="0" y="0"/>
                </a:moveTo>
                <a:lnTo>
                  <a:pt x="7716849" y="0"/>
                </a:lnTo>
                <a:lnTo>
                  <a:pt x="7716849" y="8286467"/>
                </a:lnTo>
                <a:lnTo>
                  <a:pt x="0" y="828646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307" b="-307"/>
            </a:stretch>
          </a:blipFill>
        </p:spPr>
        <p:txBody>
          <a:bodyPr/>
          <a:lstStyle/>
          <a:p>
            <a:endParaRPr lang="en-US" sz="1200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CEE1804C-71B5-90AB-0F84-C08AAA5319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8800" y="2108200"/>
            <a:ext cx="11125200" cy="4216400"/>
          </a:xfrm>
          <a:prstGeom prst="rect">
            <a:avLst/>
          </a:prstGeom>
        </p:spPr>
        <p:txBody>
          <a:bodyPr/>
          <a:lstStyle>
            <a:lvl1pPr marL="228611" indent="-228611">
              <a:buClr>
                <a:srgbClr val="1D3756"/>
              </a:buClr>
              <a:buFont typeface="Arial" panose="020B0604020202020204" pitchFamily="34" charset="0"/>
              <a:buChar char="•"/>
              <a:defRPr sz="1333" b="0" i="0">
                <a:solidFill>
                  <a:srgbClr val="1D3756"/>
                </a:solidFill>
                <a:latin typeface="Avenir Medium" panose="02000503020000020003" pitchFamily="2" charset="0"/>
              </a:defRPr>
            </a:lvl1pPr>
            <a:lvl2pPr marL="533427" indent="-228611">
              <a:buClr>
                <a:srgbClr val="1D3756"/>
              </a:buClr>
              <a:buFont typeface="Arial" panose="020B0604020202020204" pitchFamily="34" charset="0"/>
              <a:buChar char="•"/>
              <a:defRPr sz="1333" b="0" i="0">
                <a:solidFill>
                  <a:srgbClr val="1D3756"/>
                </a:solidFill>
                <a:latin typeface="Avenir Medium" panose="02000503020000020003" pitchFamily="2" charset="0"/>
              </a:defRPr>
            </a:lvl2pPr>
            <a:lvl3pPr marL="800140" indent="-190510">
              <a:buClr>
                <a:srgbClr val="1D3756"/>
              </a:buClr>
              <a:buFont typeface="Arial" panose="020B0604020202020204" pitchFamily="34" charset="0"/>
              <a:buChar char="•"/>
              <a:defRPr sz="1333" b="0" i="0">
                <a:solidFill>
                  <a:srgbClr val="1D3756"/>
                </a:solidFill>
                <a:latin typeface="Avenir Medium" panose="02000503020000020003" pitchFamily="2" charset="0"/>
              </a:defRPr>
            </a:lvl3pPr>
            <a:lvl4pPr marL="1104955" indent="-190510">
              <a:buClr>
                <a:srgbClr val="1D3756"/>
              </a:buClr>
              <a:buFont typeface="Arial" panose="020B0604020202020204" pitchFamily="34" charset="0"/>
              <a:buChar char="•"/>
              <a:defRPr sz="1333" b="0" i="0">
                <a:solidFill>
                  <a:srgbClr val="1D3756"/>
                </a:solidFill>
                <a:latin typeface="Avenir Medium" panose="02000503020000020003" pitchFamily="2" charset="0"/>
              </a:defRPr>
            </a:lvl4pPr>
            <a:lvl5pPr marL="1409770" indent="-190510">
              <a:buClr>
                <a:srgbClr val="1D3756"/>
              </a:buClr>
              <a:buFont typeface="Arial" panose="020B0604020202020204" pitchFamily="34" charset="0"/>
              <a:buChar char="•"/>
              <a:defRPr sz="1333" b="0" i="0">
                <a:solidFill>
                  <a:srgbClr val="1D3756"/>
                </a:solidFill>
                <a:latin typeface="Avenir Medium" panose="02000503020000020003" pitchFamily="2" charset="0"/>
              </a:defRPr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480A0606-51B9-0BBB-2834-70693AB2A1D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8800" y="1549400"/>
            <a:ext cx="11125200" cy="42650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133" b="0" i="0">
                <a:solidFill>
                  <a:srgbClr val="1D3756"/>
                </a:solidFill>
                <a:latin typeface="Brandon Grotesque Medium" panose="020B0603020203060202" pitchFamily="34" charset="77"/>
              </a:defRPr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SUBHEADING</a:t>
            </a:r>
          </a:p>
        </p:txBody>
      </p:sp>
    </p:spTree>
    <p:extLst>
      <p:ext uri="{BB962C8B-B14F-4D97-AF65-F5344CB8AC3E}">
        <p14:creationId xmlns:p14="http://schemas.microsoft.com/office/powerpoint/2010/main" val="281010571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9696E27-802F-5341-58E0-E29D36C59B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B65B73-875F-CEB0-62F1-DB1AD09842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33ABAF-2175-59BB-2A89-86759B3288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22BB37-1AF9-D815-C41D-2A3EBD1B5D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3B6820-E104-1F83-D98B-31AE263FFB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75301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AutoShape 4"/>
          <p:cNvSpPr/>
          <p:nvPr/>
        </p:nvSpPr>
        <p:spPr>
          <a:xfrm>
            <a:off x="685800" y="3448050"/>
            <a:ext cx="5560377" cy="0"/>
          </a:xfrm>
          <a:prstGeom prst="line">
            <a:avLst/>
          </a:prstGeom>
          <a:ln w="57150" cap="rnd">
            <a:gradFill>
              <a:gsLst>
                <a:gs pos="0">
                  <a:srgbClr val="1667CC">
                    <a:alpha val="100000"/>
                  </a:srgbClr>
                </a:gs>
                <a:gs pos="100000">
                  <a:srgbClr val="3DC570">
                    <a:alpha val="100000"/>
                  </a:srgbClr>
                </a:gs>
              </a:gsLst>
              <a:lin ang="2700000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Box 5"/>
          <p:cNvSpPr txBox="1"/>
          <p:nvPr/>
        </p:nvSpPr>
        <p:spPr>
          <a:xfrm>
            <a:off x="685800" y="1603623"/>
            <a:ext cx="4975062" cy="15372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6160"/>
              </a:lnSpc>
              <a:spcBef>
                <a:spcPct val="0"/>
              </a:spcBef>
            </a:pPr>
            <a:r>
              <a:rPr lang="en-US" sz="4350" b="1" dirty="0">
                <a:solidFill>
                  <a:srgbClr val="FFFFFF"/>
                </a:solidFill>
                <a:latin typeface="Montserrat Bold"/>
                <a:sym typeface="Montserrat Bold"/>
              </a:rPr>
              <a:t>Sales </a:t>
            </a:r>
            <a:br>
              <a:rPr lang="en-US" sz="4350" b="1" dirty="0">
                <a:latin typeface="Montserrat Bold"/>
              </a:rPr>
            </a:br>
            <a:r>
              <a:rPr lang="en-US" sz="3600" b="1" dirty="0">
                <a:solidFill>
                  <a:srgbClr val="FFFFFF"/>
                </a:solidFill>
                <a:latin typeface="Montserrat Bold"/>
                <a:sym typeface="Montserrat Bold"/>
              </a:rPr>
              <a:t>Primus Update</a:t>
            </a:r>
            <a:endParaRPr lang="en-US" sz="3600" dirty="0"/>
          </a:p>
        </p:txBody>
      </p:sp>
      <p:sp>
        <p:nvSpPr>
          <p:cNvPr id="7" name="TextBox 7"/>
          <p:cNvSpPr txBox="1"/>
          <p:nvPr/>
        </p:nvSpPr>
        <p:spPr>
          <a:xfrm>
            <a:off x="685800" y="3755262"/>
            <a:ext cx="5410200" cy="2876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239"/>
              </a:lnSpc>
              <a:spcBef>
                <a:spcPct val="0"/>
              </a:spcBef>
            </a:pPr>
            <a:r>
              <a:rPr lang="en-US" sz="240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1.26.26</a:t>
            </a:r>
          </a:p>
        </p:txBody>
      </p:sp>
      <p:sp>
        <p:nvSpPr>
          <p:cNvPr id="9" name="Freeform 93">
            <a:extLst>
              <a:ext uri="{FF2B5EF4-FFF2-40B4-BE49-F238E27FC236}">
                <a16:creationId xmlns:a16="http://schemas.microsoft.com/office/drawing/2014/main" id="{5CD82284-60FD-3FA7-2488-2D1D3581D7D7}"/>
              </a:ext>
            </a:extLst>
          </p:cNvPr>
          <p:cNvSpPr/>
          <p:nvPr/>
        </p:nvSpPr>
        <p:spPr>
          <a:xfrm>
            <a:off x="10312439" y="6176179"/>
            <a:ext cx="1547547" cy="388627"/>
          </a:xfrm>
          <a:custGeom>
            <a:avLst/>
            <a:gdLst/>
            <a:ahLst/>
            <a:cxnLst/>
            <a:rect l="l" t="t" r="r" b="b"/>
            <a:pathLst>
              <a:path w="2586660" h="664583">
                <a:moveTo>
                  <a:pt x="0" y="0"/>
                </a:moveTo>
                <a:lnTo>
                  <a:pt x="2586660" y="0"/>
                </a:lnTo>
                <a:lnTo>
                  <a:pt x="2586660" y="664582"/>
                </a:lnTo>
                <a:lnTo>
                  <a:pt x="0" y="66458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80783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3548C-A52F-4422-99BB-66D5C688FC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EEDD2B-DCB3-6765-DC8D-17DC3D99C10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FC5147-5205-AA7D-70EA-CCE388E6F1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367268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Meet Robin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2296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8AA8C8"/>
                </a:solidFill>
              </a:rPr>
              <a:t>Rev.io's AI Sales Assistant — running 24/7 to power the sales team.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11457432" cy="566928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45720" cy="566928"/>
          </a:xfrm>
          <a:prstGeom prst="rect">
            <a:avLst/>
          </a:prstGeom>
          <a:solidFill>
            <a:srgbClr val="00D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16152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DC570"/>
                </a:solidFill>
              </a:rPr>
              <a:t>WHAT ROBIN DOES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8074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Built for the Rev.io sales team — automating intelligence, research, and execution so reps spend more time selling.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65376"/>
            <a:ext cx="11457432" cy="4809744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65376"/>
            <a:ext cx="45720" cy="4809744"/>
          </a:xfrm>
          <a:prstGeom prst="rect">
            <a:avLst/>
          </a:prstGeom>
          <a:solidFill>
            <a:srgbClr val="00D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975104"/>
            <a:ext cx="7315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🦸🏻‍♂️  Robin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4688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D4D4"/>
                </a:solidFill>
              </a:rPr>
              <a:t>AI Sales Assistant &amp; Intelligence Engine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734056"/>
            <a:ext cx="6400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AA8C8"/>
                </a:solidFill>
              </a:rPr>
              <a:t>Built for Ryan Koontz  ·  SVP of Sales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2980944"/>
            <a:ext cx="11055096" cy="18288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054096"/>
            <a:ext cx="55001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DC570"/>
                </a:solidFill>
              </a:rPr>
              <a:t>PIPELINE &amp; FORECASTING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255264"/>
            <a:ext cx="540867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· Daily forecast dashboard — live SF data, scenarios, marketing attribution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493008"/>
            <a:ext cx="540867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· Weekly forecast emails to Evan &amp; Brent every Monday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3730752"/>
            <a:ext cx="540867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· Per-product Q1 tracking vs quota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059935"/>
            <a:ext cx="55001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DC570"/>
                </a:solidFill>
              </a:rPr>
              <a:t>SALES ACTIVITY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4261103"/>
            <a:ext cx="540867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· Daily activity scorecard — calls, emails, meetings, opps sourced (Tue–Fri)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4498847"/>
            <a:ext cx="540867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· AE capacity dashboard — prospect meetings MTD vs projected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" y="4736591"/>
            <a:ext cx="540867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· Weekly call blitz support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065775"/>
            <a:ext cx="55001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DC570"/>
                </a:solidFill>
              </a:rPr>
              <a:t>PROSPECTING &amp; INTELLIGENCE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" y="5266943"/>
            <a:ext cx="540867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· Daily MSP prospector — 5 net-new accounts every morning not in SF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5504687"/>
            <a:ext cx="540867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· Rev.io mention monitor — daily web scan, alerts on noteworthy coverage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" y="5742431"/>
            <a:ext cx="540867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· Morning briefings Mon–Fri — schedule + weather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58483" y="3054096"/>
            <a:ext cx="55001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DC570"/>
                </a:solidFill>
              </a:rPr>
              <a:t>COACHING &amp; ANALYTICS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3347" y="3255264"/>
            <a:ext cx="540867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· Discovery call grading — BEACON framework, 6 categories, 100 pts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3347" y="3493008"/>
            <a:ext cx="540867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· Closed loss analysis — Feb vs March trends + coaching actions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3347" y="3730752"/>
            <a:ext cx="540867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· Loss reason deep dives — no-show, missing capabilities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58483" y="4059935"/>
            <a:ext cx="55001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DC570"/>
                </a:solidFill>
              </a:rPr>
              <a:t>RESEARCH &amp; CONTENT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3347" y="4261103"/>
            <a:ext cx="540867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· Competitive battle card dashboard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3347" y="4498847"/>
            <a:ext cx="540867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· MSP PSA requirements deck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3347" y="4736591"/>
            <a:ext cx="540867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· Custom decks and analysis on demand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7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4320" y="6693408"/>
            <a:ext cx="18288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• rev.io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693408"/>
            <a:ext cx="20116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</a:rPr>
              <a:t>BUILT FOR TOMORROW.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98480" y="6693408"/>
            <a:ext cx="1371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3DC570"/>
                </a:solidFill>
              </a:rPr>
              <a:t>READY FOR TODAY.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Robin's Tool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2296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8AA8C8"/>
                </a:solidFill>
              </a:rPr>
              <a:t>Integrated with best-in-class tools to automate the full sales workflow end-to-end.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11457432" cy="566928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45720" cy="566928"/>
          </a:xfrm>
          <a:prstGeom prst="rect">
            <a:avLst/>
          </a:prstGeom>
          <a:solidFill>
            <a:srgbClr val="00D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16152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DC570"/>
                </a:solidFill>
              </a:rPr>
              <a:t>INTEGRATIONS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8074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Robin connects into Rev.io's existing tool stack — using AI to turn raw data and workflows into automated action at scale.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65376"/>
            <a:ext cx="3739896" cy="4809744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65376"/>
            <a:ext cx="45720" cy="480974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no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993392"/>
            <a:ext cx="475488" cy="4754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15568" y="1993392"/>
            <a:ext cx="28072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Notion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578608"/>
            <a:ext cx="35112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7C3AED"/>
                </a:solidFill>
              </a:rPr>
              <a:t>AI Knowledge &amp; Workflow Automation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834640"/>
            <a:ext cx="351129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8AA8C8"/>
                </a:solidFill>
              </a:rPr>
              <a:t>Personalization · Transcription · Follow-up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3035808"/>
            <a:ext cx="3465576" cy="18288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3127248"/>
            <a:ext cx="35112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• MSP EMAIL PERSONALIZATION AT SCALE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" y="3364991"/>
            <a:ext cx="34472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A8C8"/>
                </a:solidFill>
              </a:rPr>
              <a:t>Researches each prospect and writes personalized outreach automatically — no manual prep required.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3895344"/>
            <a:ext cx="35112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• MEETING NOTE-TAKING &amp; TRANSCRIPTION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" y="4133087"/>
            <a:ext cx="34472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A8C8"/>
                </a:solidFill>
              </a:rPr>
              <a:t>Captures full meeting notes, key takeaways, and action items from every prospect call.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4663440"/>
            <a:ext cx="35112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• POST-MEETING FOLLOW-UP EMAILS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" y="4901183"/>
            <a:ext cx="34472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A8C8"/>
                </a:solidFill>
              </a:rPr>
              <a:t>Generates tailored follow-up emails and action item summaries immediately after each call.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4528" y="1865376"/>
            <a:ext cx="3739896" cy="4809744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24528" y="1865376"/>
            <a:ext cx="45720" cy="4809744"/>
          </a:xfrm>
          <a:prstGeom prst="rect">
            <a:avLst/>
          </a:prstGeom>
          <a:solidFill>
            <a:srgbClr val="F57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la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0" y="1993392"/>
            <a:ext cx="475488" cy="47548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974336" y="1993392"/>
            <a:ext cx="28072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Clay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2578608"/>
            <a:ext cx="35112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57C2A"/>
                </a:solidFill>
              </a:rPr>
              <a:t>Custom AI for Data Intelligence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2834640"/>
            <a:ext cx="351129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8AA8C8"/>
                </a:solidFill>
              </a:rPr>
              <a:t>Enrichment · CRM hygiene · Verification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89120" y="3035808"/>
            <a:ext cx="3465576" cy="18288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89120" y="3127248"/>
            <a:ext cx="35112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• INDUSTRY FIELD VERIFICATION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62272" y="3364991"/>
            <a:ext cx="34472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A8C8"/>
                </a:solidFill>
              </a:rPr>
              <a:t>Built a custom AI agent to verify and correct the industry field on Salesforce accounts at scale.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62272" y="3895344"/>
            <a:ext cx="34472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8AA8C8"/>
                </a:solidFill>
              </a:rPr>
              <a:t>   ↳ Result: Found 11,000+ accounts incorrectly marked as MSPs — cleaning the CRM foundation for better targeting and scoring.</a:t>
            </a:r>
          </a:p>
        </p:txBody>
      </p:sp>
      <p:pic>
        <p:nvPicPr>
          <p:cNvPr id="31" name="Picture 30" descr="clay-screensho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89120" y="4462271"/>
            <a:ext cx="3410712" cy="1856463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8083296" y="1865376"/>
            <a:ext cx="3739896" cy="4809744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83296" y="1865376"/>
            <a:ext cx="45720" cy="4809744"/>
          </a:xfrm>
          <a:prstGeom prst="rect">
            <a:avLst/>
          </a:prstGeom>
          <a:solidFill>
            <a:srgbClr val="0D9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outrea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47888" y="1993392"/>
            <a:ext cx="475488" cy="47548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833103" y="1993392"/>
            <a:ext cx="28072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Outreach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7888" y="2578608"/>
            <a:ext cx="35112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D9E8A"/>
                </a:solidFill>
              </a:rPr>
              <a:t>Revenue Agent — Automated Sequencing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7888" y="2834640"/>
            <a:ext cx="351129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8AA8C8"/>
                </a:solidFill>
              </a:rPr>
              <a:t>MSP Team · Persona-based · Always-on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47888" y="3035808"/>
            <a:ext cx="3465576" cy="18288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47888" y="3127248"/>
            <a:ext cx="35112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• DEDICATED REVENUE AGENTS PER PERSONA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3364991"/>
            <a:ext cx="34472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A8C8"/>
                </a:solidFill>
              </a:rPr>
              <a:t>MSP team agents automatically add contacts into specific sequences daily — based on persona, industry, and time since last engagement.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47888" y="3895344"/>
            <a:ext cx="35112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• ELIMINATED MANUAL SEQUENCE MANAGEMENT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0" y="4133087"/>
            <a:ext cx="34472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A8C8"/>
                </a:solidFill>
              </a:rPr>
              <a:t>Removed daily decision-making and time spent manually adding prospects to sequences. Reps focus on selling, not admin.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7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4320" y="6693408"/>
            <a:ext cx="18288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• rev.io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6693408"/>
            <a:ext cx="20116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</a:rPr>
              <a:t>BUILT FOR TOMORROW.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8480" y="6693408"/>
            <a:ext cx="1371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3DC570"/>
                </a:solidFill>
              </a:rPr>
              <a:t>READY FOR TODAY.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6322</TotalTime>
  <Words>5</Words>
  <Application>Microsoft Macintosh PowerPoint</Application>
  <PresentationFormat>Widescreen</PresentationFormat>
  <Paragraphs>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10" baseType="lpstr">
      <vt:lpstr>Aptos</vt:lpstr>
      <vt:lpstr>Aptos Display</vt:lpstr>
      <vt:lpstr>Arial</vt:lpstr>
      <vt:lpstr>Avenir Medium</vt:lpstr>
      <vt:lpstr>Brandon Grotesque Medium</vt:lpstr>
      <vt:lpstr>Montserrat</vt:lpstr>
      <vt:lpstr>Montserrat Bold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Ryan Koontz</dc:creator>
  <cp:lastModifiedBy>Ryan Koontz</cp:lastModifiedBy>
  <cp:revision>13</cp:revision>
  <dcterms:created xsi:type="dcterms:W3CDTF">2025-11-17T01:40:24Z</dcterms:created>
  <dcterms:modified xsi:type="dcterms:W3CDTF">2026-03-19T16:40:10Z</dcterms:modified>
</cp:coreProperties>
</file>