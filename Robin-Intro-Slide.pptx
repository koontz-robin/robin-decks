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82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21"/>
    <p:restoredTop sz="72857"/>
  </p:normalViewPr>
  <p:slideViewPr>
    <p:cSldViewPr snapToGrid="0">
      <p:cViewPr varScale="1">
        <p:scale>
          <a:sx n="91" d="100"/>
          <a:sy n="91" d="100"/>
        </p:scale>
        <p:origin x="17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8C880D-BAB9-814B-91C1-A2E6619901B5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BE4E2D-A077-D444-A84D-EE88C5B872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908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0ECD4-BB87-DB1F-F089-CAB61A77D1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E6C12D-58BC-98E9-57E9-4762C20F3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570D7-BB01-E516-3A67-13A4B74BB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B13376-EE68-4C3E-8E9C-249801E5A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B30D8-C414-E89D-12E4-95C21C295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690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A55F3-964D-453F-D398-6BB3C1354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9B4CF0-41A3-9429-6D8B-D50964806F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27683B-AA11-5EFA-1B5E-CE14AE4FC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4B09D1-A084-F2E8-FAD6-FDD1B927E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2F40A-1596-5849-8CDE-F9D06B561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6225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1A975-9567-7874-9641-AA05E375A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1DF9D9-28EC-885B-4C42-25AB24EE47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AA476-71C5-A400-CA09-C92275C69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BE3D2-1E86-2D44-2B93-FF7DC7814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018954-05E4-7483-72BB-3216C8FA1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528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355E3-C1F7-F2F5-E1C4-E5442BF9D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B6BF0F-C0E6-7363-A8BD-4418BA850A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B0EBA4-C9BB-5FAE-CAC4-11065DF65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B0F989-47BC-7F78-5A2E-80CEEEEBD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D6573D-8446-8C6F-57FA-84CE31A78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69DE16-E329-4BCE-B984-DC1E15522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532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F6E80-07EC-525B-30CC-16B8947C9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C40E5B-0665-25AD-4113-C89B47839C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6797EB-F218-E9FA-A691-F899468D04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AF63C4-68B8-2847-D3A2-478F4EEB2F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581B0-92C2-EBE8-ED27-8CCFDA355E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47F20D-50AB-8042-9952-DFAA73DFB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69A033-FB4E-6EFD-71B7-5A64BB61B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66AE81-01FC-9EA5-ED2D-1634ACEED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6768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CF069-3A03-8A7A-8D6F-07C53765A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B3B1E-165B-FA83-CFBB-4C2966D50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E76F09-64EE-817E-922F-2AC83ED5E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9368B8-EF67-AF95-621A-718995B5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539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DC8681-6E72-D0EC-9310-D49D6524A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2B4794-3947-FEF2-7657-56C5ACC18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AD97C-5DE4-F099-DCD4-D49650F0A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15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33490-39A9-4DB3-FE0E-CDB41B2D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3DEB8-0627-0A05-BCD3-E42F254FF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E230-3501-32DC-0C78-2A005F649D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597B73-392B-C9FF-5DB1-A47B0D130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93760A-682B-FA90-D7F1-3A22E4F3D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5FF447-DF94-13B7-68F9-75779C28A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174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67294-4A9F-E74F-CCAD-68EF31834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09BC70-FA5A-61CD-D7A7-1AFA5E37DC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A923EE-914B-2423-CCDB-EA1FE059B4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90D481-3DF3-00C2-489C-60E5E0536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C681AA-2AF3-9B77-75BF-E84BF24A8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DD3FC0-B706-D9AF-FA93-EF3010FCF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589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816DA-2100-B38F-F92E-454558912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BC260A-7741-A73F-1895-72F8335CC2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C548CA-20EA-0342-CF50-91472903D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EEDB71-D7B2-3C1D-8354-B4F9DB392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D51A4-2D1F-BADF-8242-2DBF3BECEB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00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6DD517-3D31-45BC-F44E-0F8B5D8557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91B08E-8F83-F8A9-4B36-B83DEFADAB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A14EE-B2E8-DD6E-D7C3-B46AAE35A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8A0471-7023-1435-FC78-E979BCEE2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31669E-2604-66DC-A78A-3F0FF2604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8892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rey_Bul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2">
            <a:extLst>
              <a:ext uri="{FF2B5EF4-FFF2-40B4-BE49-F238E27FC236}">
                <a16:creationId xmlns:a16="http://schemas.microsoft.com/office/drawing/2014/main" id="{2BA0AF1D-C0DE-5590-1785-9F54B42D184F}"/>
              </a:ext>
            </a:extLst>
          </p:cNvPr>
          <p:cNvGrpSpPr/>
          <p:nvPr userDrawn="1"/>
        </p:nvGrpSpPr>
        <p:grpSpPr>
          <a:xfrm>
            <a:off x="0" y="13063"/>
            <a:ext cx="12192000" cy="6870337"/>
            <a:chOff x="0" y="-85725"/>
            <a:chExt cx="5380340" cy="2994575"/>
          </a:xfrm>
        </p:grpSpPr>
        <p:sp>
          <p:nvSpPr>
            <p:cNvPr id="16" name="Freeform 3">
              <a:extLst>
                <a:ext uri="{FF2B5EF4-FFF2-40B4-BE49-F238E27FC236}">
                  <a16:creationId xmlns:a16="http://schemas.microsoft.com/office/drawing/2014/main" id="{7DABFEFC-6282-E727-1040-25E6B6134E9F}"/>
                </a:ext>
              </a:extLst>
            </p:cNvPr>
            <p:cNvSpPr/>
            <p:nvPr/>
          </p:nvSpPr>
          <p:spPr>
            <a:xfrm>
              <a:off x="0" y="0"/>
              <a:ext cx="5380340" cy="2908850"/>
            </a:xfrm>
            <a:custGeom>
              <a:avLst/>
              <a:gdLst/>
              <a:ahLst/>
              <a:cxnLst/>
              <a:rect l="l" t="t" r="r" b="b"/>
              <a:pathLst>
                <a:path w="5380340" h="2908850">
                  <a:moveTo>
                    <a:pt x="0" y="0"/>
                  </a:moveTo>
                  <a:lnTo>
                    <a:pt x="5380340" y="0"/>
                  </a:lnTo>
                  <a:lnTo>
                    <a:pt x="5380340" y="2908850"/>
                  </a:lnTo>
                  <a:lnTo>
                    <a:pt x="0" y="290885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E6E7E8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17" name="TextBox 4">
              <a:extLst>
                <a:ext uri="{FF2B5EF4-FFF2-40B4-BE49-F238E27FC236}">
                  <a16:creationId xmlns:a16="http://schemas.microsoft.com/office/drawing/2014/main" id="{F72FF90E-D89E-162D-5CAF-BB26A3827305}"/>
                </a:ext>
              </a:extLst>
            </p:cNvPr>
            <p:cNvSpPr txBox="1"/>
            <p:nvPr/>
          </p:nvSpPr>
          <p:spPr>
            <a:xfrm>
              <a:off x="0" y="-85725"/>
              <a:ext cx="5380340" cy="29945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7"/>
                </a:lnSpc>
              </a:pPr>
              <a:endParaRPr sz="1200"/>
            </a:p>
          </p:txBody>
        </p:sp>
      </p:grpSp>
      <p:sp>
        <p:nvSpPr>
          <p:cNvPr id="9" name="Freeform 6">
            <a:extLst>
              <a:ext uri="{FF2B5EF4-FFF2-40B4-BE49-F238E27FC236}">
                <a16:creationId xmlns:a16="http://schemas.microsoft.com/office/drawing/2014/main" id="{D44016A5-568E-9D32-EE4D-BE2C31A246AA}"/>
              </a:ext>
            </a:extLst>
          </p:cNvPr>
          <p:cNvSpPr/>
          <p:nvPr userDrawn="1"/>
        </p:nvSpPr>
        <p:spPr>
          <a:xfrm>
            <a:off x="10464800" y="177800"/>
            <a:ext cx="1402883" cy="360887"/>
          </a:xfrm>
          <a:custGeom>
            <a:avLst/>
            <a:gdLst/>
            <a:ahLst/>
            <a:cxnLst/>
            <a:rect l="l" t="t" r="r" b="b"/>
            <a:pathLst>
              <a:path w="2104324" h="541330">
                <a:moveTo>
                  <a:pt x="0" y="0"/>
                </a:moveTo>
                <a:lnTo>
                  <a:pt x="2104324" y="0"/>
                </a:lnTo>
                <a:lnTo>
                  <a:pt x="2104324" y="541330"/>
                </a:lnTo>
                <a:lnTo>
                  <a:pt x="0" y="5413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EC04C38A-CE8B-C5EE-2358-9C652E2E08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8800" y="787400"/>
            <a:ext cx="11125200" cy="660400"/>
          </a:xfrm>
          <a:prstGeom prst="rect">
            <a:avLst/>
          </a:prstGeom>
          <a:ln>
            <a:noFill/>
          </a:ln>
        </p:spPr>
        <p:txBody>
          <a:bodyPr/>
          <a:lstStyle>
            <a:lvl1pPr algn="l">
              <a:defRPr sz="4000" b="0" i="0">
                <a:solidFill>
                  <a:srgbClr val="1D3756"/>
                </a:solidFill>
                <a:latin typeface="Brandon Grotesque Medium" panose="020B0603020203060202" pitchFamily="34" charset="77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23" name="Freeform 5">
            <a:extLst>
              <a:ext uri="{FF2B5EF4-FFF2-40B4-BE49-F238E27FC236}">
                <a16:creationId xmlns:a16="http://schemas.microsoft.com/office/drawing/2014/main" id="{D81BE22A-A3A6-73C4-C939-ECD9A149B22E}"/>
              </a:ext>
            </a:extLst>
          </p:cNvPr>
          <p:cNvSpPr/>
          <p:nvPr userDrawn="1"/>
        </p:nvSpPr>
        <p:spPr>
          <a:xfrm>
            <a:off x="7047434" y="1498600"/>
            <a:ext cx="5144566" cy="5524312"/>
          </a:xfrm>
          <a:custGeom>
            <a:avLst/>
            <a:gdLst/>
            <a:ahLst/>
            <a:cxnLst/>
            <a:rect l="l" t="t" r="r" b="b"/>
            <a:pathLst>
              <a:path w="7716849" h="8286468">
                <a:moveTo>
                  <a:pt x="0" y="0"/>
                </a:moveTo>
                <a:lnTo>
                  <a:pt x="7716849" y="0"/>
                </a:lnTo>
                <a:lnTo>
                  <a:pt x="7716849" y="8286467"/>
                </a:lnTo>
                <a:lnTo>
                  <a:pt x="0" y="82864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07" b="-307"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CEE1804C-71B5-90AB-0F84-C08AAA5319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8800" y="2108200"/>
            <a:ext cx="11125200" cy="4216400"/>
          </a:xfrm>
          <a:prstGeom prst="rect">
            <a:avLst/>
          </a:prstGeom>
        </p:spPr>
        <p:txBody>
          <a:bodyPr/>
          <a:lstStyle>
            <a:lvl1pPr marL="228611" indent="-228611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1pPr>
            <a:lvl2pPr marL="533427" indent="-228611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2pPr>
            <a:lvl3pPr marL="800140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3pPr>
            <a:lvl4pPr marL="1104955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4pPr>
            <a:lvl5pPr marL="1409770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480A0606-51B9-0BBB-2834-70693AB2A1D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8800" y="1549400"/>
            <a:ext cx="11125200" cy="42650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133" b="0" i="0">
                <a:solidFill>
                  <a:srgbClr val="1D3756"/>
                </a:solidFill>
                <a:latin typeface="Brandon Grotesque Medium" panose="020B0603020203060202" pitchFamily="34" charset="77"/>
              </a:defRPr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281010571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696E27-802F-5341-58E0-E29D36C59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B65B73-875F-CEB0-62F1-DB1AD0984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3ABAF-2175-59BB-2A89-86759B3288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22BB37-1AF9-D815-C41D-2A3EBD1B5D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3B6820-E104-1F83-D98B-31AE263FFB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530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AutoShape 4"/>
          <p:cNvSpPr/>
          <p:nvPr/>
        </p:nvSpPr>
        <p:spPr>
          <a:xfrm>
            <a:off x="685800" y="3448050"/>
            <a:ext cx="5560377" cy="0"/>
          </a:xfrm>
          <a:prstGeom prst="line">
            <a:avLst/>
          </a:prstGeom>
          <a:ln w="57150" cap="rnd">
            <a:gradFill>
              <a:gsLst>
                <a:gs pos="0">
                  <a:srgbClr val="1667CC">
                    <a:alpha val="100000"/>
                  </a:srgbClr>
                </a:gs>
                <a:gs pos="100000">
                  <a:srgbClr val="3DC570">
                    <a:alpha val="100000"/>
                  </a:srgbClr>
                </a:gs>
              </a:gsLst>
              <a:lin ang="270000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685800" y="1603623"/>
            <a:ext cx="4975062" cy="15372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6160"/>
              </a:lnSpc>
              <a:spcBef>
                <a:spcPct val="0"/>
              </a:spcBef>
            </a:pPr>
            <a:r>
              <a:rPr lang="en-US" sz="4350" b="1" dirty="0">
                <a:solidFill>
                  <a:srgbClr val="FFFFFF"/>
                </a:solidFill>
                <a:latin typeface="Montserrat Bold"/>
                <a:sym typeface="Montserrat Bold"/>
              </a:rPr>
              <a:t>Sales </a:t>
            </a:r>
            <a:br>
              <a:rPr lang="en-US" sz="4350" b="1" dirty="0">
                <a:latin typeface="Montserrat Bold"/>
              </a:rPr>
            </a:br>
            <a:r>
              <a:rPr lang="en-US" sz="3600" b="1" dirty="0">
                <a:solidFill>
                  <a:srgbClr val="FFFFFF"/>
                </a:solidFill>
                <a:latin typeface="Montserrat Bold"/>
                <a:sym typeface="Montserrat Bold"/>
              </a:rPr>
              <a:t>Primus Update</a:t>
            </a:r>
            <a:endParaRPr lang="en-US" sz="3600" dirty="0"/>
          </a:p>
        </p:txBody>
      </p:sp>
      <p:sp>
        <p:nvSpPr>
          <p:cNvPr id="7" name="TextBox 7"/>
          <p:cNvSpPr txBox="1"/>
          <p:nvPr/>
        </p:nvSpPr>
        <p:spPr>
          <a:xfrm>
            <a:off x="685800" y="3755262"/>
            <a:ext cx="5410200" cy="2876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1.26.26</a:t>
            </a:r>
          </a:p>
        </p:txBody>
      </p:sp>
      <p:sp>
        <p:nvSpPr>
          <p:cNvPr id="9" name="Freeform 93">
            <a:extLst>
              <a:ext uri="{FF2B5EF4-FFF2-40B4-BE49-F238E27FC236}">
                <a16:creationId xmlns:a16="http://schemas.microsoft.com/office/drawing/2014/main" id="{5CD82284-60FD-3FA7-2488-2D1D3581D7D7}"/>
              </a:ext>
            </a:extLst>
          </p:cNvPr>
          <p:cNvSpPr/>
          <p:nvPr/>
        </p:nvSpPr>
        <p:spPr>
          <a:xfrm>
            <a:off x="10312439" y="6176179"/>
            <a:ext cx="1547547" cy="388627"/>
          </a:xfrm>
          <a:custGeom>
            <a:avLst/>
            <a:gdLst/>
            <a:ahLst/>
            <a:cxnLst/>
            <a:rect l="l" t="t" r="r" b="b"/>
            <a:pathLst>
              <a:path w="2586660" h="664583">
                <a:moveTo>
                  <a:pt x="0" y="0"/>
                </a:moveTo>
                <a:lnTo>
                  <a:pt x="2586660" y="0"/>
                </a:lnTo>
                <a:lnTo>
                  <a:pt x="2586660" y="664582"/>
                </a:lnTo>
                <a:lnTo>
                  <a:pt x="0" y="6645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078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3548C-A52F-4422-99BB-66D5C688F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EEDD2B-DCB3-6765-DC8D-17DC3D99C10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FC5147-5205-AA7D-70EA-CCE388E6F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367268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</a:rPr>
              <a:t>Meet Robin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7782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A8C8"/>
                </a:solidFill>
              </a:rPr>
              <a:t>Rev.io's AI Sales Assistant — running 24/7 to power the sales team.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98448"/>
            <a:ext cx="11457432" cy="713232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98448"/>
            <a:ext cx="45720" cy="713232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35024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WHAT ROBIN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17904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Robin is focused on two things: accelerating revenue by giving the sales team better intelligence and tools — and improving efficiency by automating the work that shouldn't require a human.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139696"/>
            <a:ext cx="11457432" cy="4261104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139696"/>
            <a:ext cx="45720" cy="4261104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26771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🦸🏻‍♂️  Robin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D4D4"/>
                </a:solidFill>
              </a:rPr>
              <a:t>AI Sales Assistant &amp; Intelligence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099815"/>
            <a:ext cx="6400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AA8C8"/>
                </a:solidFill>
              </a:rPr>
              <a:t>Built for Ryan Koontz  ·  SVP of Sales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401568"/>
            <a:ext cx="11055096" cy="18288"/>
          </a:xfrm>
          <a:prstGeom prst="rect">
            <a:avLst/>
          </a:prstGeom>
          <a:solidFill>
            <a:srgbClr val="1A3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511296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TRACKING SALES TEAM ACTIVITY POINTS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105656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RUNNING WEEKLY CALL BLITZES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700016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RESEARCHING NEW PROSPECTS NOT IN CRM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294376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BUILT COMPETITOR BATTLECARD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511296"/>
            <a:ext cx="5577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AUTOMATED WEEKLY FORECAST DECKS FOR ELT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105656"/>
            <a:ext cx="5577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DISCOVERY NO-SHOW TREND ANALYSIS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700016"/>
            <a:ext cx="5577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SOFTWARE MISSING CAPABILITIES DEEP DIVE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294376"/>
            <a:ext cx="5577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• MORNING BRIEFINGS &amp; PIPELINE INTELLIGENCE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7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6934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• rev.io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693408"/>
            <a:ext cx="20116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</a:rPr>
              <a:t>BUILT FOR TOMORROW.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693408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3DC570"/>
                </a:solidFill>
              </a:rPr>
              <a:t>READY FOR TODAY.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6322</TotalTime>
  <Words>5</Words>
  <Application>Microsoft Macintosh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Aptos</vt:lpstr>
      <vt:lpstr>Aptos Display</vt:lpstr>
      <vt:lpstr>Arial</vt:lpstr>
      <vt:lpstr>Avenir Medium</vt:lpstr>
      <vt:lpstr>Brandon Grotesque Medium</vt:lpstr>
      <vt:lpstr>Montserrat</vt:lpstr>
      <vt:lpstr>Montserrat Bold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Ryan Koontz</dc:creator>
  <cp:lastModifiedBy>Ryan Koontz</cp:lastModifiedBy>
  <cp:revision>13</cp:revision>
  <dcterms:created xsi:type="dcterms:W3CDTF">2025-11-17T01:40:24Z</dcterms:created>
  <dcterms:modified xsi:type="dcterms:W3CDTF">2026-03-19T16:40:10Z</dcterms:modified>
</cp:coreProperties>
</file>