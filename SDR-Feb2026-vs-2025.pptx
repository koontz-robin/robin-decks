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SDR Funnel — Year-Over-Year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2025 Full Year vs. February 2026 (Ramped Reps Only)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3B3ED"/>
                </a:solidFill>
              </a:rPr>
              <a:t>rev.io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1175004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515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0515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3B3ED"/>
                </a:solidFill>
              </a:rPr>
              <a:t>2025 FULL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0515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</a:rPr>
              <a:t>FEBRUARY 2026 (RAMPED)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0515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TREND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389888"/>
            <a:ext cx="1175004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463040"/>
            <a:ext cx="11750040" cy="3154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508760"/>
            <a:ext cx="36576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Opps Sourced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508760"/>
            <a:ext cx="246888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B3ED"/>
                </a:solidFill>
              </a:rPr>
              <a:t>851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508760"/>
            <a:ext cx="2286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</a:rPr>
              <a:t>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508760"/>
            <a:ext cx="26517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1796796"/>
            <a:ext cx="11750040" cy="3154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842516"/>
            <a:ext cx="36576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Discoveries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842516"/>
            <a:ext cx="246888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B3ED"/>
                </a:solidFill>
              </a:rPr>
              <a:t>449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842516"/>
            <a:ext cx="2286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</a:rPr>
              <a:t>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842516"/>
            <a:ext cx="26517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130552"/>
            <a:ext cx="11750040" cy="3154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176272"/>
            <a:ext cx="36576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Demos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2176272"/>
            <a:ext cx="246888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B3ED"/>
                </a:solidFill>
              </a:rPr>
              <a:t>179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176272"/>
            <a:ext cx="2286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176272"/>
            <a:ext cx="26517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464308"/>
            <a:ext cx="11750040" cy="3154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510028"/>
            <a:ext cx="36576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Closes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2510028"/>
            <a:ext cx="246888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B3ED"/>
                </a:solidFill>
              </a:rPr>
              <a:t>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510028"/>
            <a:ext cx="2286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510028"/>
            <a:ext cx="26517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798064"/>
            <a:ext cx="11750040" cy="3154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2843784"/>
            <a:ext cx="36576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MRR Closed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2843784"/>
            <a:ext cx="246888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B3ED"/>
                </a:solidFill>
              </a:rPr>
              <a:t>$24,900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843784"/>
            <a:ext cx="2286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</a:rPr>
              <a:t>$3,450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2843784"/>
            <a:ext cx="26517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320497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</a:rPr>
              <a:t>CONVERSION RATES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3406140"/>
            <a:ext cx="11750040" cy="3154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451860"/>
            <a:ext cx="36576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Opp→Meeting 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3451860"/>
            <a:ext cx="246888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B3ED"/>
                </a:solidFill>
              </a:rPr>
              <a:t>52.8%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3451860"/>
            <a:ext cx="2286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</a:rPr>
              <a:t>72.4%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3451860"/>
            <a:ext cx="26517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4D399"/>
                </a:solidFill>
              </a:rPr>
              <a:t>✅ Improving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3739896"/>
            <a:ext cx="11750040" cy="3154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3785616"/>
            <a:ext cx="36576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Meeting→Demo Rate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3785616"/>
            <a:ext cx="246888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B3ED"/>
                </a:solidFill>
              </a:rPr>
              <a:t>39.9%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785616"/>
            <a:ext cx="2286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</a:rPr>
              <a:t>42.9%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3785616"/>
            <a:ext cx="26517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4D399"/>
                </a:solidFill>
              </a:rPr>
              <a:t>✅ Improving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4073652"/>
            <a:ext cx="11750040" cy="3154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4119372"/>
            <a:ext cx="36576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Demo→Close Rate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0" y="4119372"/>
            <a:ext cx="246888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B3ED"/>
                </a:solidFill>
              </a:rPr>
              <a:t>19.0%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4119372"/>
            <a:ext cx="2286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</a:rPr>
              <a:t>27.8%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4119372"/>
            <a:ext cx="26517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4D399"/>
                </a:solidFill>
              </a:rPr>
              <a:t>✅ Improving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4407408"/>
            <a:ext cx="11750040" cy="3154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4453128"/>
            <a:ext cx="36576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Avg MRR/Close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06240" y="4453128"/>
            <a:ext cx="246888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B3ED"/>
                </a:solidFill>
              </a:rPr>
              <a:t>$732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4453128"/>
            <a:ext cx="2286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</a:rPr>
              <a:t>$690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4453128"/>
            <a:ext cx="26517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BBF24"/>
                </a:solidFill>
              </a:rPr>
              <a:t>⚠️  Lower volume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" y="481431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</a:rPr>
              <a:t>MONTHLY RUN RATE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" y="5015484"/>
            <a:ext cx="11750040" cy="3154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061204"/>
            <a:ext cx="36576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Monthly Opps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06240" y="5061204"/>
            <a:ext cx="246888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B3ED"/>
                </a:solidFill>
              </a:rPr>
              <a:t>70.9/mo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0" y="5061204"/>
            <a:ext cx="2286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</a:rPr>
              <a:t>58/mo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0" y="5061204"/>
            <a:ext cx="26517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BBF24"/>
                </a:solidFill>
              </a:rPr>
              <a:t>⚠️  Lower volume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5349240"/>
            <a:ext cx="11750040" cy="31546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5394960"/>
            <a:ext cx="36576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Monthly MRR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06240" y="5394960"/>
            <a:ext cx="246888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B3ED"/>
                </a:solidFill>
              </a:rPr>
              <a:t>$2,075/mo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0" y="5394960"/>
            <a:ext cx="2286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</a:rPr>
              <a:t>$3,450/mo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80" y="5394960"/>
            <a:ext cx="265176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BBF24"/>
                </a:solidFill>
              </a:rPr>
              <a:t>⚠️  Lower volume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" y="5774436"/>
            <a:ext cx="11750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586587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⚠️  Note: February 2026 reflects ramped SDRs only. 2025 includes all 6 SDRs across the full year. Single-month data has more variance — conversion trends directionally positive.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