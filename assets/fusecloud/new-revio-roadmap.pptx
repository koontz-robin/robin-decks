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"/>
  </p:notesMasterIdLst>
  <p:sldIdLst>
    <p:sldId id="34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6"/>
    <p:restoredTop sz="94722"/>
  </p:normalViewPr>
  <p:slideViewPr>
    <p:cSldViewPr snapToGrid="0">
      <p:cViewPr varScale="1">
        <p:scale>
          <a:sx n="118" d="100"/>
          <a:sy n="118" d="100"/>
        </p:scale>
        <p:origin x="7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9B56C-FDFF-4D8C-8CBA-B61077CED21E}" type="datetimeFigureOut"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5C9E9-DD84-4EE8-AC85-ED608C3A23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3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9F36-214C-4CD2-AB42-EA0C8A824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644BC-F6F4-41B8-AB4E-1029F56F3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BA87-4B49-428E-9B4D-3EE2FF34D0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A8C8-706B-4B71-BDEC-907FD76180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A18A1-3279-43E8-8C4E-AF7CD7083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3DA3-26FF-4602-8E37-21E91555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DACF-2B34-4219-91CD-4A43D74F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04DA-E0F7-4DCE-B962-4CA8726700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CA770-58E6-4A68-A555-CB38D8294C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ED08-E7A9-4C1C-85CB-8BC07FB6B7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3493-FE45-440C-B212-F1CA83D3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BB3A3-FA98-458F-BAF8-C8E73CA8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91A34-864D-45B7-BE56-08C8DD4787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C29CC-F23D-48FF-8E0C-FDC6A59470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52E1F-D2C4-48A8-9E62-7BFFF1D42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5BBA-48B4-4DA4-B79A-FD668B49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1D95-4BCA-43E4-B05D-C0072DAE1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487E-3903-485B-9777-62AEBDDBCA7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AE755-F837-47C1-8C94-70E7915D80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7853B-4AD1-4A22-8823-0951E2027B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14878-B102-4E62-9311-9C23CF422A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4170-59B2-4E21-A292-35D9B5C5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3B7B-CD3F-485D-A444-DEE5D081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A8E82-7FA2-4F23-96EB-B5D34AE3B22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432B5-C79F-4E7C-8884-699E6BEA4E9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A57FD-79CC-4D05-B5F2-1916B76AA8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BF308-9F82-4896-A8C8-10158C8421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BDC15-BF7F-4EAD-A172-35907CCB21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C705D-8A28-4C50-918C-84CF10BE0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4E4F-CA76-41B9-B6F3-7F24E50E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8E2ED-27A9-41BB-9D9F-6D3A131A78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D36F5-3D64-430F-BB86-DFB5B9A266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C014C-99CD-4686-AC9A-5A16041F95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0184-CCC8-4CB5-9578-DC3F41847D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52340-15E3-4F0A-9B12-6BD1A7B21B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88024-7581-401A-9153-8FF8D22E6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5C38-B4F2-416E-8AB5-7913FED8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407CA-54D0-4864-9195-CB861E41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89D50-D217-4280-B7BD-A5AB6BB699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AC88C-31EB-4405-94C0-D72FC9D3B5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AA914-140A-418B-8608-C7D26B0E1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3BAAF-2E09-4F4D-8C42-A28CBD8FA9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B0DF-B561-41B2-9938-D3BC2D3C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4EBB7-30BA-4B27-BF21-03BB2A655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FDA4A-5FA3-4726-9212-B1E67BBE26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547AF-3E1B-4EAE-A246-84F7838133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118C-2790-4FB9-983E-3F0CAAC7C7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AEF42-5AFB-4133-940B-ADA382D8F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5C2C-A4E4-4B3E-8586-5BC9DA65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9C8E0-2FEE-4172-99E5-EFBBC1C6F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247EB-A22B-48BF-A78B-307DE8EE77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019C9-0BD9-4378-96DF-0C5CE1C457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CFBB0-5BBD-4FB5-9DFF-75B6C2EDC1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E2575D-B175-4374-A69C-9E6420D3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ADECB-0A5E-4FBD-B83B-FCC52BD31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B58C-674C-4136-90DC-9EE14B2FAA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4427A-B36A-4D74-A483-D7DBF214C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1391E-EF41-409F-AC7F-FA41CDBDB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BB085-34FF-4058-93A9-5EE3B80A4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34C15-4319-4E18-85CF-472B0C0E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BE6A0-DD7F-4D9C-A69C-EBF02075565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9C72-8988-47C1-BDDF-2881DCE3A0F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0EBF-4DED-455D-B15E-76585F7C047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6FB653-5C86-4F47-B4E7-166895DF5D42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106680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Classic Gap </a:t>
            </a:r>
            <a:r>
              <a:rPr sz="3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Roadmap</a:t>
            </a:r>
            <a:endParaRPr sz="1500" b="1" dirty="0">
              <a:solidFill>
                <a:srgbClr val="5CFF68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816687-7669-46F2-8827-9BA3F610F32F}"/>
              </a:ext>
            </a:extLst>
          </p:cNvPr>
          <p:cNvSpPr>
            <a:spLocks noGrp="1"/>
          </p:cNvSpPr>
          <p:nvPr/>
        </p:nvSpPr>
        <p:spPr>
          <a:xfrm>
            <a:off x="4572000" y="1030837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 sz="1388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88" b="1" spc="2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</a:t>
            </a:r>
            <a:r>
              <a:rPr lang="en-US" sz="1388" b="1" spc="2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  <a:r>
              <a:rPr sz="1388" b="1" spc="2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2026</a:t>
            </a:r>
            <a:endParaRPr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BFBA11-EB51-4C73-9E18-FE7ED1B2870B}"/>
              </a:ext>
            </a:extLst>
          </p:cNvPr>
          <p:cNvSpPr>
            <a:spLocks noGrp="1"/>
          </p:cNvSpPr>
          <p:nvPr/>
        </p:nvSpPr>
        <p:spPr>
          <a:xfrm>
            <a:off x="9032288" y="5638588"/>
            <a:ext cx="2214148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 sz="713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spc="2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INTERNATIONALIZATION</a:t>
            </a:r>
            <a:endParaRPr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AB97DCF-0766-4C48-B4F4-A68AD99F36E0}"/>
              </a:ext>
            </a:extLst>
          </p:cNvPr>
          <p:cNvSpPr>
            <a:spLocks noGrp="1"/>
          </p:cNvSpPr>
          <p:nvPr/>
        </p:nvSpPr>
        <p:spPr>
          <a:xfrm>
            <a:off x="8572500" y="952500"/>
            <a:ext cx="0" cy="5334000"/>
          </a:xfrm>
          <a:prstGeom prst="line">
            <a:avLst/>
          </a:prstGeom>
          <a:noFill/>
          <a:ln w="12700">
            <a:solidFill>
              <a:srgbClr val="3D6CA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7E363A-E66B-4ABB-9748-A1883A57EFA0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619250" cy="476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5CFF68"/>
                </a:solidFill>
                <a:latin typeface="Montserrat"/>
                <a:ea typeface="Montserrat"/>
                <a:cs typeface="Montserrat"/>
              </a:defRPr>
            </a:pPr>
            <a:r>
              <a:rPr lang="en-US" sz="975" b="1" spc="200" dirty="0">
                <a:solidFill>
                  <a:srgbClr val="5CFF68"/>
                </a:solidFill>
                <a:latin typeface="Montserrat"/>
                <a:ea typeface="Montserrat"/>
                <a:cs typeface="Montserrat"/>
              </a:rPr>
              <a:t>CUSTOMER &amp;</a:t>
            </a:r>
          </a:p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5CFF68"/>
                </a:solidFill>
                <a:latin typeface="Montserrat"/>
                <a:ea typeface="Montserrat"/>
                <a:cs typeface="Montserrat"/>
              </a:defRPr>
            </a:pPr>
            <a:r>
              <a:rPr lang="en-US" sz="975" b="1" spc="200" dirty="0">
                <a:solidFill>
                  <a:srgbClr val="5CFF68"/>
                </a:solidFill>
                <a:latin typeface="Montserrat"/>
                <a:ea typeface="Montserrat"/>
                <a:cs typeface="Montserrat"/>
              </a:rPr>
              <a:t>REVENUE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5FA402-474E-4790-85D7-38F6B344DBB5}"/>
              </a:ext>
            </a:extLst>
          </p:cNvPr>
          <p:cNvSpPr>
            <a:spLocks noGrp="1"/>
          </p:cNvSpPr>
          <p:nvPr/>
        </p:nvSpPr>
        <p:spPr>
          <a:xfrm>
            <a:off x="1943100" y="1752600"/>
            <a:ext cx="2533650" cy="0"/>
          </a:xfrm>
          <a:prstGeom prst="line">
            <a:avLst/>
          </a:prstGeom>
          <a:noFill/>
          <a:ln w="50800">
            <a:solidFill>
              <a:srgbClr val="5CFF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2316E1F-B265-4C8A-AC39-0119165CAD94}"/>
              </a:ext>
            </a:extLst>
          </p:cNvPr>
          <p:cNvSpPr>
            <a:spLocks noGrp="1"/>
          </p:cNvSpPr>
          <p:nvPr/>
        </p:nvSpPr>
        <p:spPr>
          <a:xfrm>
            <a:off x="4572000" y="1752600"/>
            <a:ext cx="6953250" cy="0"/>
          </a:xfrm>
          <a:prstGeom prst="line">
            <a:avLst/>
          </a:prstGeom>
          <a:noFill/>
          <a:ln w="50800">
            <a:solidFill>
              <a:srgbClr val="5CFF6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85B77B7-9870-4C6F-9DD6-659DA616E6DB}"/>
              </a:ext>
            </a:extLst>
          </p:cNvPr>
          <p:cNvSpPr>
            <a:spLocks noGrp="1"/>
          </p:cNvSpPr>
          <p:nvPr/>
        </p:nvSpPr>
        <p:spPr>
          <a:xfrm>
            <a:off x="190500" y="3733800"/>
            <a:ext cx="1619250" cy="476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B68CFF"/>
                </a:solidFill>
                <a:latin typeface="Montserrat"/>
                <a:ea typeface="Montserrat"/>
                <a:cs typeface="Montserrat"/>
              </a:defRPr>
            </a:pPr>
            <a:r>
              <a:rPr sz="975" b="1" spc="200">
                <a:solidFill>
                  <a:srgbClr val="B68CFF"/>
                </a:solidFill>
                <a:latin typeface="Montserrat"/>
                <a:ea typeface="Montserrat"/>
                <a:cs typeface="Montserrat"/>
              </a:rPr>
              <a:t>SERVICE</a:t>
            </a:r>
            <a:endParaRPr sz="900"/>
          </a:p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B68CFF"/>
                </a:solidFill>
                <a:latin typeface="Montserrat"/>
                <a:ea typeface="Montserrat"/>
                <a:cs typeface="Montserrat"/>
              </a:defRPr>
            </a:pPr>
            <a:r>
              <a:rPr sz="975" b="1" spc="200">
                <a:solidFill>
                  <a:srgbClr val="B68CFF"/>
                </a:solidFill>
                <a:latin typeface="Montserrat"/>
                <a:ea typeface="Montserrat"/>
                <a:cs typeface="Montserrat"/>
              </a:rPr>
              <a:t>OPERATIONS</a:t>
            </a:r>
            <a:endParaRPr sz="9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0439A7A-4FC3-45E7-BD39-E3A7F358ABDF}"/>
              </a:ext>
            </a:extLst>
          </p:cNvPr>
          <p:cNvSpPr>
            <a:spLocks noGrp="1"/>
          </p:cNvSpPr>
          <p:nvPr/>
        </p:nvSpPr>
        <p:spPr>
          <a:xfrm>
            <a:off x="1943100" y="3295650"/>
            <a:ext cx="2533650" cy="0"/>
          </a:xfrm>
          <a:prstGeom prst="line">
            <a:avLst/>
          </a:prstGeom>
          <a:noFill/>
          <a:ln w="50800">
            <a:solidFill>
              <a:srgbClr val="B4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794C9C-714E-4506-8966-E3415D85896D}"/>
              </a:ext>
            </a:extLst>
          </p:cNvPr>
          <p:cNvSpPr>
            <a:spLocks noGrp="1"/>
          </p:cNvSpPr>
          <p:nvPr/>
        </p:nvSpPr>
        <p:spPr>
          <a:xfrm>
            <a:off x="4572000" y="3295650"/>
            <a:ext cx="6953250" cy="0"/>
          </a:xfrm>
          <a:prstGeom prst="line">
            <a:avLst/>
          </a:prstGeom>
          <a:noFill/>
          <a:ln w="50800">
            <a:solidFill>
              <a:srgbClr val="B48C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F4CC51C-67B3-4E9D-9A55-5DA01C9B8AC5}"/>
              </a:ext>
            </a:extLst>
          </p:cNvPr>
          <p:cNvSpPr>
            <a:spLocks noGrp="1"/>
          </p:cNvSpPr>
          <p:nvPr/>
        </p:nvSpPr>
        <p:spPr>
          <a:xfrm>
            <a:off x="190500" y="5276850"/>
            <a:ext cx="1619250" cy="476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49D3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975" b="1" spc="200" dirty="0">
                <a:solidFill>
                  <a:srgbClr val="49D3FF"/>
                </a:solidFill>
                <a:latin typeface="Montserrat"/>
                <a:ea typeface="Montserrat"/>
                <a:cs typeface="Montserrat"/>
              </a:rPr>
              <a:t>SYSTEM,</a:t>
            </a:r>
          </a:p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49D3FF"/>
                </a:solidFill>
                <a:latin typeface="Montserrat"/>
                <a:ea typeface="Montserrat"/>
                <a:cs typeface="Montserrat"/>
              </a:defRPr>
            </a:pPr>
            <a:r>
              <a:rPr sz="975" b="1" spc="200" dirty="0">
                <a:solidFill>
                  <a:srgbClr val="49D3FF"/>
                </a:solidFill>
                <a:latin typeface="Montserrat"/>
                <a:ea typeface="Montserrat"/>
                <a:cs typeface="Montserrat"/>
              </a:rPr>
              <a:t>P</a:t>
            </a:r>
            <a:r>
              <a:rPr lang="en-US" sz="975" b="1" spc="200" dirty="0">
                <a:solidFill>
                  <a:srgbClr val="49D3FF"/>
                </a:solidFill>
                <a:latin typeface="Montserrat"/>
                <a:ea typeface="Montserrat"/>
                <a:cs typeface="Montserrat"/>
              </a:rPr>
              <a:t>ORTALS</a:t>
            </a:r>
            <a:r>
              <a:rPr sz="975" b="1" spc="200" dirty="0">
                <a:solidFill>
                  <a:srgbClr val="49D3FF"/>
                </a:solidFill>
                <a:latin typeface="Montserrat"/>
                <a:ea typeface="Montserrat"/>
                <a:cs typeface="Montserrat"/>
              </a:rPr>
              <a:t> &amp;</a:t>
            </a:r>
            <a:endParaRPr sz="900" dirty="0"/>
          </a:p>
          <a:p>
            <a:pPr marL="0" indent="0" algn="r">
              <a:lnSpc>
                <a:spcPct val="105000"/>
              </a:lnSpc>
              <a:buNone/>
              <a:defRPr sz="975" b="1">
                <a:solidFill>
                  <a:srgbClr val="49D3FF"/>
                </a:solidFill>
                <a:latin typeface="Montserrat"/>
                <a:ea typeface="Montserrat"/>
                <a:cs typeface="Montserrat"/>
              </a:defRPr>
            </a:pPr>
            <a:r>
              <a:rPr sz="975" b="1" spc="200" dirty="0">
                <a:solidFill>
                  <a:srgbClr val="49D3FF"/>
                </a:solidFill>
                <a:latin typeface="Montserrat"/>
                <a:ea typeface="Montserrat"/>
                <a:cs typeface="Montserrat"/>
              </a:rPr>
              <a:t>ACCESS</a:t>
            </a:r>
            <a:endParaRPr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A34EAFC-42CE-4099-9049-5E3F15F738BB}"/>
              </a:ext>
            </a:extLst>
          </p:cNvPr>
          <p:cNvSpPr>
            <a:spLocks noGrp="1"/>
          </p:cNvSpPr>
          <p:nvPr/>
        </p:nvSpPr>
        <p:spPr>
          <a:xfrm>
            <a:off x="1943100" y="4838700"/>
            <a:ext cx="2533650" cy="0"/>
          </a:xfrm>
          <a:prstGeom prst="line">
            <a:avLst/>
          </a:prstGeom>
          <a:noFill/>
          <a:ln w="50800">
            <a:solidFill>
              <a:srgbClr val="4AC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17E7D05-0F68-4A24-8A84-DA8ED35E1477}"/>
              </a:ext>
            </a:extLst>
          </p:cNvPr>
          <p:cNvSpPr>
            <a:spLocks noGrp="1"/>
          </p:cNvSpPr>
          <p:nvPr/>
        </p:nvSpPr>
        <p:spPr>
          <a:xfrm>
            <a:off x="4572000" y="4838700"/>
            <a:ext cx="6953250" cy="0"/>
          </a:xfrm>
          <a:prstGeom prst="line">
            <a:avLst/>
          </a:prstGeom>
          <a:noFill/>
          <a:ln w="50800">
            <a:solidFill>
              <a:srgbClr val="4AC9F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51076E-C30B-439E-899B-B8C6BCA1F9B7}"/>
              </a:ext>
            </a:extLst>
          </p:cNvPr>
          <p:cNvSpPr>
            <a:spLocks noGrp="1"/>
          </p:cNvSpPr>
          <p:nvPr/>
        </p:nvSpPr>
        <p:spPr>
          <a:xfrm>
            <a:off x="2047955" y="5000625"/>
            <a:ext cx="2047876" cy="1352550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CUSTOMER PORTAL UPDATES</a:t>
            </a:r>
          </a:p>
          <a:p>
            <a:pPr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View all Locations/services</a:t>
            </a:r>
          </a:p>
          <a:p>
            <a:pPr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Usage Monitoring</a:t>
            </a:r>
          </a:p>
          <a:p>
            <a:pPr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Portal Reporting</a:t>
            </a:r>
          </a:p>
          <a:p>
            <a:pPr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Customer Hierarchy Support</a:t>
            </a:r>
          </a:p>
          <a:p>
            <a:pPr algn="l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81E49F2-3D4B-48D1-B9AA-5F8B7D8441EE}"/>
              </a:ext>
            </a:extLst>
          </p:cNvPr>
          <p:cNvSpPr>
            <a:spLocks noGrp="1"/>
          </p:cNvSpPr>
          <p:nvPr/>
        </p:nvSpPr>
        <p:spPr>
          <a:xfrm>
            <a:off x="2038351" y="1854653"/>
            <a:ext cx="2019300" cy="1270221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BILLING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Tiered and Volume Pricing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Attribute Based Pricing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Custom Percent-based Fees and Discounts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Product Groups</a:t>
            </a:r>
          </a:p>
          <a:p>
            <a:pPr marL="10" indent="-7">
              <a:spcAft>
                <a:spcPts val="1"/>
              </a:spcAft>
              <a:buFontTx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Agreement Rollover Hours</a:t>
            </a:r>
          </a:p>
          <a:p>
            <a:pPr marL="10" indent="-7">
              <a:spcAft>
                <a:spcPts val="1"/>
              </a:spcAft>
              <a:buFontTx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Free and Expiring Products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36DC78E-C9A8-46A9-A722-10D4A71960EF}"/>
              </a:ext>
            </a:extLst>
          </p:cNvPr>
          <p:cNvSpPr>
            <a:spLocks noGrp="1"/>
          </p:cNvSpPr>
          <p:nvPr/>
        </p:nvSpPr>
        <p:spPr>
          <a:xfrm>
            <a:off x="2000250" y="3429000"/>
            <a:ext cx="2428875" cy="1333500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ORDERS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New Orders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Disconnect Orders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Change Orders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Sales Orders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Order Management View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Order Processes</a:t>
            </a: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2D70544-FBE3-43AE-9420-559A7A3961F3}"/>
              </a:ext>
            </a:extLst>
          </p:cNvPr>
          <p:cNvSpPr>
            <a:spLocks noGrp="1"/>
          </p:cNvSpPr>
          <p:nvPr/>
        </p:nvSpPr>
        <p:spPr>
          <a:xfrm>
            <a:off x="10096500" y="1314450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8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F93248C-6EF7-4F92-9BF5-16062E25B925}"/>
              </a:ext>
            </a:extLst>
          </p:cNvPr>
          <p:cNvSpPr>
            <a:spLocks noGrp="1"/>
          </p:cNvSpPr>
          <p:nvPr/>
        </p:nvSpPr>
        <p:spPr>
          <a:xfrm>
            <a:off x="6721252" y="3449411"/>
            <a:ext cx="2000250" cy="1009650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PROJECT MANAGEMENT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Project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</a:t>
            </a:r>
            <a:r>
              <a:rPr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hange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</a:t>
            </a:r>
            <a:r>
              <a:rPr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equests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Project Types</a:t>
            </a: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DCE6DE8-1157-43B0-8AE6-B00D250EF746}"/>
              </a:ext>
            </a:extLst>
          </p:cNvPr>
          <p:cNvSpPr>
            <a:spLocks noGrp="1"/>
          </p:cNvSpPr>
          <p:nvPr/>
        </p:nvSpPr>
        <p:spPr>
          <a:xfrm>
            <a:off x="4381540" y="5009469"/>
            <a:ext cx="1952625" cy="1228978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CONFIGURATION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Tax Provider Configuration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Email Template Library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Collections Settings, Tokens and Automations</a:t>
            </a:r>
          </a:p>
          <a:p>
            <a:pPr>
              <a:spcAft>
                <a:spcPts val="1"/>
              </a:spcAft>
              <a:buFont typeface="Arial"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 Provider Accounts</a:t>
            </a:r>
          </a:p>
          <a:p>
            <a:pPr indent="-7">
              <a:spcAft>
                <a:spcPts val="1"/>
              </a:spcAft>
              <a:buFont typeface="Arial"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External Print Vendor Support</a:t>
            </a:r>
          </a:p>
          <a:p>
            <a:pPr>
              <a:spcAft>
                <a:spcPts val="1"/>
              </a:spcAft>
              <a:buFont typeface="Arial"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3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721CEEA-4725-406C-87C5-4C76F66A3292}"/>
              </a:ext>
            </a:extLst>
          </p:cNvPr>
          <p:cNvSpPr>
            <a:spLocks noGrp="1"/>
          </p:cNvSpPr>
          <p:nvPr/>
        </p:nvSpPr>
        <p:spPr>
          <a:xfrm>
            <a:off x="8667750" y="10287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  <a:defRPr sz="1388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88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H1 2027</a:t>
            </a:r>
            <a:endParaRPr sz="8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1816D20-980E-46E7-92E1-34498289902D}"/>
              </a:ext>
            </a:extLst>
          </p:cNvPr>
          <p:cNvSpPr>
            <a:spLocks noGrp="1"/>
          </p:cNvSpPr>
          <p:nvPr/>
        </p:nvSpPr>
        <p:spPr>
          <a:xfrm>
            <a:off x="8667750" y="131445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800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EA977BB0-1F8D-3872-0150-C4F227072746}"/>
              </a:ext>
            </a:extLst>
          </p:cNvPr>
          <p:cNvSpPr>
            <a:spLocks noGrp="1"/>
          </p:cNvSpPr>
          <p:nvPr/>
        </p:nvSpPr>
        <p:spPr>
          <a:xfrm>
            <a:off x="4398548" y="1873704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INVOICE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Invoice 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Enhancements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– Bill Messages, Overrides, PO Numbers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" name="Text 38">
            <a:extLst>
              <a:ext uri="{FF2B5EF4-FFF2-40B4-BE49-F238E27FC236}">
                <a16:creationId xmlns:a16="http://schemas.microsoft.com/office/drawing/2014/main" id="{08625520-63B1-91DF-EE59-FB36A3517937}"/>
              </a:ext>
            </a:extLst>
          </p:cNvPr>
          <p:cNvSpPr>
            <a:spLocks noGrp="1"/>
          </p:cNvSpPr>
          <p:nvPr/>
        </p:nvSpPr>
        <p:spPr>
          <a:xfrm>
            <a:off x="4362044" y="3427769"/>
            <a:ext cx="2138768" cy="1333500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SERVICES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Additional Order Types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Create Orders from Quotes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Bulk Import for Multiple Sites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Display Additional Service Fields</a:t>
            </a:r>
          </a:p>
          <a:p>
            <a:pPr marL="3" algn="l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7" name="Text 34">
            <a:extLst>
              <a:ext uri="{FF2B5EF4-FFF2-40B4-BE49-F238E27FC236}">
                <a16:creationId xmlns:a16="http://schemas.microsoft.com/office/drawing/2014/main" id="{DA194DEB-A4EF-38A8-6962-FAA07F1F7690}"/>
              </a:ext>
            </a:extLst>
          </p:cNvPr>
          <p:cNvSpPr>
            <a:spLocks noGrp="1"/>
          </p:cNvSpPr>
          <p:nvPr/>
        </p:nvSpPr>
        <p:spPr>
          <a:xfrm>
            <a:off x="6711727" y="1873704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USAGE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Additional Metered Usage Types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Free/Included Minutes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CDR Options for Invoice</a:t>
            </a: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9" name="Text 52">
            <a:extLst>
              <a:ext uri="{FF2B5EF4-FFF2-40B4-BE49-F238E27FC236}">
                <a16:creationId xmlns:a16="http://schemas.microsoft.com/office/drawing/2014/main" id="{2C447BA1-4C2B-00D9-7E74-1AD5C0D985C3}"/>
              </a:ext>
            </a:extLst>
          </p:cNvPr>
          <p:cNvSpPr>
            <a:spLocks noGrp="1"/>
          </p:cNvSpPr>
          <p:nvPr/>
        </p:nvSpPr>
        <p:spPr>
          <a:xfrm>
            <a:off x="6619875" y="5009469"/>
            <a:ext cx="1952625" cy="870693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AGENTS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Agent Role Access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Commissions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Agent Portal</a:t>
            </a:r>
          </a:p>
          <a:p>
            <a:pPr marL="3" algn="l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3" algn="l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AB7FD471-CAE6-4ABA-C464-B40E54213B9F}"/>
              </a:ext>
            </a:extLst>
          </p:cNvPr>
          <p:cNvSpPr>
            <a:spLocks noGrp="1"/>
          </p:cNvSpPr>
          <p:nvPr/>
        </p:nvSpPr>
        <p:spPr>
          <a:xfrm>
            <a:off x="4398548" y="2628901"/>
            <a:ext cx="1714205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CUSTOMER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Customer Hierarchy Expansion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4413EAE5-064B-895D-2F35-D60A429DF293}"/>
              </a:ext>
            </a:extLst>
          </p:cNvPr>
          <p:cNvSpPr>
            <a:spLocks noGrp="1"/>
          </p:cNvSpPr>
          <p:nvPr/>
        </p:nvSpPr>
        <p:spPr>
          <a:xfrm>
            <a:off x="8721502" y="5971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  <a:defRPr sz="788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</a:rPr>
              <a:t>SSO</a:t>
            </a:r>
            <a:endParaRPr sz="1000" dirty="0"/>
          </a:p>
        </p:txBody>
      </p:sp>
      <p:sp>
        <p:nvSpPr>
          <p:cNvPr id="7" name="Text 34">
            <a:extLst>
              <a:ext uri="{FF2B5EF4-FFF2-40B4-BE49-F238E27FC236}">
                <a16:creationId xmlns:a16="http://schemas.microsoft.com/office/drawing/2014/main" id="{67309296-A911-7F4B-7263-9C5286AD2AA5}"/>
              </a:ext>
            </a:extLst>
          </p:cNvPr>
          <p:cNvSpPr>
            <a:spLocks noGrp="1"/>
          </p:cNvSpPr>
          <p:nvPr/>
        </p:nvSpPr>
        <p:spPr>
          <a:xfrm>
            <a:off x="8721502" y="1873704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BILLING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Manage Products Tool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Re-rate Usage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Adjustment Workflow</a:t>
            </a: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Early Term Fees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Deposits 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Tax included Products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D80A565F-1285-8F57-74FE-126AF39D04DB}"/>
              </a:ext>
            </a:extLst>
          </p:cNvPr>
          <p:cNvSpPr>
            <a:spLocks noGrp="1"/>
          </p:cNvSpPr>
          <p:nvPr/>
        </p:nvSpPr>
        <p:spPr>
          <a:xfrm>
            <a:off x="8739147" y="3486150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</a:t>
            </a: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ULK ACTIVITY TOOLS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Expand Functionality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Enable </a:t>
            </a:r>
            <a:r>
              <a:rPr lang="en-US" sz="1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Revii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for More Bulk Updates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Copy Services 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5" name="Text 34">
            <a:extLst>
              <a:ext uri="{FF2B5EF4-FFF2-40B4-BE49-F238E27FC236}">
                <a16:creationId xmlns:a16="http://schemas.microsoft.com/office/drawing/2014/main" id="{266BB9A2-F726-7102-3E59-1BA7F0490281}"/>
              </a:ext>
            </a:extLst>
          </p:cNvPr>
          <p:cNvSpPr>
            <a:spLocks noGrp="1"/>
          </p:cNvSpPr>
          <p:nvPr/>
        </p:nvSpPr>
        <p:spPr>
          <a:xfrm>
            <a:off x="8721502" y="4962525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ALERTS</a:t>
            </a:r>
          </a:p>
          <a:p>
            <a:pPr marL="171450" indent="-171450" algn="l">
              <a:spcAft>
                <a:spcPts val="2"/>
              </a:spcAft>
              <a:buFont typeface="Arial" panose="020B0604020202020204" pitchFamily="34" charset="0"/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System Alerts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F6E72F6B-20B7-667D-988D-0A186198AA53}"/>
              </a:ext>
            </a:extLst>
          </p:cNvPr>
          <p:cNvSpPr>
            <a:spLocks noGrp="1"/>
          </p:cNvSpPr>
          <p:nvPr/>
        </p:nvSpPr>
        <p:spPr>
          <a:xfrm>
            <a:off x="10418348" y="1900427"/>
            <a:ext cx="2019300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COLLECTIONS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Write-off Queue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Payment Arrangements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Promise to Pay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E601DC64-301E-4950-684F-B60C0A7867C4}"/>
              </a:ext>
            </a:extLst>
          </p:cNvPr>
          <p:cNvSpPr>
            <a:spLocks noGrp="1"/>
          </p:cNvSpPr>
          <p:nvPr/>
        </p:nvSpPr>
        <p:spPr>
          <a:xfrm>
            <a:off x="10430317" y="2572424"/>
            <a:ext cx="1714205" cy="1104900"/>
          </a:xfrm>
          <a:prstGeom prst="rect">
            <a:avLst/>
          </a:prstGeom>
          <a:noFill/>
        </p:spPr>
        <p:txBody>
          <a:bodyPr wrap="square" lIns="0" tIns="0" rIns="19050" bIns="0" anchor="t">
            <a:no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CUSTOMER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Copy Contacts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Set Tax Exemptions at Creation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7" name="Text 52">
            <a:extLst>
              <a:ext uri="{FF2B5EF4-FFF2-40B4-BE49-F238E27FC236}">
                <a16:creationId xmlns:a16="http://schemas.microsoft.com/office/drawing/2014/main" id="{072723BD-C91C-B345-6EF4-4AB9409A7937}"/>
              </a:ext>
            </a:extLst>
          </p:cNvPr>
          <p:cNvSpPr>
            <a:spLocks noGrp="1"/>
          </p:cNvSpPr>
          <p:nvPr/>
        </p:nvSpPr>
        <p:spPr>
          <a:xfrm>
            <a:off x="6615112" y="5751985"/>
            <a:ext cx="1952625" cy="870693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RESELLER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Access for Reseller Partners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Functionality for Managing Accounts</a:t>
            </a:r>
          </a:p>
          <a:p>
            <a:pPr marL="3" algn="l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1" name="Text 52">
            <a:extLst>
              <a:ext uri="{FF2B5EF4-FFF2-40B4-BE49-F238E27FC236}">
                <a16:creationId xmlns:a16="http://schemas.microsoft.com/office/drawing/2014/main" id="{49E22A78-4839-BB4D-65D2-1838F3973EA7}"/>
              </a:ext>
            </a:extLst>
          </p:cNvPr>
          <p:cNvSpPr>
            <a:spLocks noGrp="1"/>
          </p:cNvSpPr>
          <p:nvPr/>
        </p:nvSpPr>
        <p:spPr>
          <a:xfrm>
            <a:off x="10001250" y="4970689"/>
            <a:ext cx="1952625" cy="1228978"/>
          </a:xfrm>
          <a:prstGeom prst="rect">
            <a:avLst/>
          </a:prstGeom>
          <a:noFill/>
        </p:spPr>
        <p:txBody>
          <a:bodyPr wrap="square" lIns="0" tIns="0" rIns="19050" bIns="0" anchor="t">
            <a:normAutofit/>
          </a:bodyPr>
          <a:lstStyle/>
          <a:p>
            <a:pPr algn="l">
              <a:spcAft>
                <a:spcPts val="2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SETTINGS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Ongoing Granular Roles and Permissions</a:t>
            </a:r>
          </a:p>
          <a:p>
            <a:pPr marL="10" indent="-7" algn="l">
              <a:spcAft>
                <a:spcPts val="1"/>
              </a:spcAft>
              <a:buChar char="•"/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3">
              <a:spcAft>
                <a:spcPts val="1"/>
              </a:spcAft>
              <a:defRPr sz="788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lang="en-US" sz="10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7639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1014</TotalTime>
  <Words>267</Words>
  <Application>Microsoft Macintosh PowerPoint</Application>
  <PresentationFormat>Widescreen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Montserrat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Leslie Ingram</cp:lastModifiedBy>
  <cp:revision>17</cp:revision>
  <dcterms:created xsi:type="dcterms:W3CDTF">2013-07-15T20:26:40Z</dcterms:created>
  <dcterms:modified xsi:type="dcterms:W3CDTF">2026-10-07T15:34:05Z</dcterms:modified>
</cp:coreProperties>
</file>