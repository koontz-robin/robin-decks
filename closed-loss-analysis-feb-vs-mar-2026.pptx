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82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/>
    <p:restoredTop sz="72857"/>
  </p:normalViewPr>
  <p:slideViewPr>
    <p:cSldViewPr snapToGrid="0">
      <p:cViewPr varScale="1">
        <p:scale>
          <a:sx n="91" d="100"/>
          <a:sy n="91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C880D-BAB9-814B-91C1-A2E6619901B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E4E2D-A077-D444-A84D-EE88C5B87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0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ECD4-BB87-DB1F-F089-CAB61A77D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6C12D-58BC-98E9-57E9-4762C20F3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70D7-BB01-E516-3A67-13A4B74B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3376-EE68-4C3E-8E9C-249801E5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B30D8-C414-E89D-12E4-95C21C29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9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55F3-964D-453F-D398-6BB3C13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4CF0-41A3-9429-6D8B-D5096480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683B-AA11-5EFA-1B5E-CE14AE4F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09D1-A084-F2E8-FAD6-FDD1B927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F40A-1596-5849-8CDE-F9D06B56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A975-9567-7874-9641-AA05E375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DF9D9-28EC-885B-4C42-25AB24EE4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A476-71C5-A400-CA09-C92275C6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E3D2-1E86-2D44-2B93-FF7DC781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8954-05E4-7483-72BB-3216C8FA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2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55E3-C1F7-F2F5-E1C4-E5442BF9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BF0F-C0E6-7363-A8BD-4418BA850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0EBA4-C9BB-5FAE-CAC4-11065DF6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0F989-47BC-7F78-5A2E-80CEEEEB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573D-8446-8C6F-57FA-84CE31A7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9DE16-E329-4BCE-B984-DC1E1552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3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6E80-07EC-525B-30CC-16B8947C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40E5B-0665-25AD-4113-C89B4783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797EB-F218-E9FA-A691-F899468D0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F63C4-68B8-2847-D3A2-478F4EEB2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581B0-92C2-EBE8-ED27-8CCFDA355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7F20D-50AB-8042-9952-DFAA73D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9A033-FB4E-6EFD-71B7-5A64BB61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6AE81-01FC-9EA5-ED2D-1634ACEE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F069-3A03-8A7A-8D6F-07C53765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B3B1E-165B-FA83-CFBB-4C2966D5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76F09-64EE-817E-922F-2AC83ED5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368B8-EF67-AF95-621A-718995B5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8681-6E72-D0EC-9310-D49D6524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B4794-3947-FEF2-7657-56C5ACC1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D97C-5DE4-F099-DCD4-D49650F0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1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3490-39A9-4DB3-FE0E-CDB41B2D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EB8-0627-0A05-BCD3-E42F254F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E230-3501-32DC-0C78-2A005F649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7B73-392B-C9FF-5DB1-A47B0D13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760A-682B-FA90-D7F1-3A22E4F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F447-DF94-13B7-68F9-75779C28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7294-4A9F-E74F-CCAD-68EF3183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9BC70-FA5A-61CD-D7A7-1AFA5E37D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923EE-914B-2423-CCDB-EA1FE059B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0D481-3DF3-00C2-489C-60E5E053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681AA-2AF3-9B77-75BF-E84BF24A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3FC0-B706-D9AF-FA93-EF3010FC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16DA-2100-B38F-F92E-45455891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C260A-7741-A73F-1895-72F8335CC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548CA-20EA-0342-CF50-91472903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DB71-D7B2-3C1D-8354-B4F9DB39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51A4-2D1F-BADF-8242-2DBF3BEC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00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DD517-3D31-45BC-F44E-0F8B5D855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1B08E-8F83-F8A9-4B36-B83DEFADA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A14EE-B2E8-DD6E-D7C3-B46AAE35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A0471-7023-1435-FC78-E979BCEE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1669E-2604-66DC-A78A-3F0FF260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8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y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>
            <a:extLst>
              <a:ext uri="{FF2B5EF4-FFF2-40B4-BE49-F238E27FC236}">
                <a16:creationId xmlns:a16="http://schemas.microsoft.com/office/drawing/2014/main" id="{2BA0AF1D-C0DE-5590-1785-9F54B42D184F}"/>
              </a:ext>
            </a:extLst>
          </p:cNvPr>
          <p:cNvGrpSpPr/>
          <p:nvPr userDrawn="1"/>
        </p:nvGrpSpPr>
        <p:grpSpPr>
          <a:xfrm>
            <a:off x="0" y="13063"/>
            <a:ext cx="12192000" cy="6870337"/>
            <a:chOff x="0" y="-85725"/>
            <a:chExt cx="5380340" cy="2994575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7DABFEFC-6282-E727-1040-25E6B6134E9F}"/>
                </a:ext>
              </a:extLst>
            </p:cNvPr>
            <p:cNvSpPr/>
            <p:nvPr/>
          </p:nvSpPr>
          <p:spPr>
            <a:xfrm>
              <a:off x="0" y="0"/>
              <a:ext cx="5380340" cy="2908850"/>
            </a:xfrm>
            <a:custGeom>
              <a:avLst/>
              <a:gdLst/>
              <a:ahLst/>
              <a:cxnLst/>
              <a:rect l="l" t="t" r="r" b="b"/>
              <a:pathLst>
                <a:path w="5380340" h="2908850">
                  <a:moveTo>
                    <a:pt x="0" y="0"/>
                  </a:moveTo>
                  <a:lnTo>
                    <a:pt x="5380340" y="0"/>
                  </a:lnTo>
                  <a:lnTo>
                    <a:pt x="5380340" y="2908850"/>
                  </a:lnTo>
                  <a:lnTo>
                    <a:pt x="0" y="290885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E6E7E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F72FF90E-D89E-162D-5CAF-BB26A3827305}"/>
                </a:ext>
              </a:extLst>
            </p:cNvPr>
            <p:cNvSpPr txBox="1"/>
            <p:nvPr/>
          </p:nvSpPr>
          <p:spPr>
            <a:xfrm>
              <a:off x="0" y="-85725"/>
              <a:ext cx="5380340" cy="299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9" name="Freeform 6">
            <a:extLst>
              <a:ext uri="{FF2B5EF4-FFF2-40B4-BE49-F238E27FC236}">
                <a16:creationId xmlns:a16="http://schemas.microsoft.com/office/drawing/2014/main" id="{D44016A5-568E-9D32-EE4D-BE2C31A246AA}"/>
              </a:ext>
            </a:extLst>
          </p:cNvPr>
          <p:cNvSpPr/>
          <p:nvPr userDrawn="1"/>
        </p:nvSpPr>
        <p:spPr>
          <a:xfrm>
            <a:off x="10464800" y="177800"/>
            <a:ext cx="1402883" cy="360887"/>
          </a:xfrm>
          <a:custGeom>
            <a:avLst/>
            <a:gdLst/>
            <a:ahLst/>
            <a:cxnLst/>
            <a:rect l="l" t="t" r="r" b="b"/>
            <a:pathLst>
              <a:path w="2104324" h="541330">
                <a:moveTo>
                  <a:pt x="0" y="0"/>
                </a:moveTo>
                <a:lnTo>
                  <a:pt x="2104324" y="0"/>
                </a:lnTo>
                <a:lnTo>
                  <a:pt x="2104324" y="541330"/>
                </a:lnTo>
                <a:lnTo>
                  <a:pt x="0" y="541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C04C38A-CE8B-C5EE-2358-9C652E2E0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787400"/>
            <a:ext cx="11125200" cy="660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4000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D81BE22A-A3A6-73C4-C939-ECD9A149B22E}"/>
              </a:ext>
            </a:extLst>
          </p:cNvPr>
          <p:cNvSpPr/>
          <p:nvPr userDrawn="1"/>
        </p:nvSpPr>
        <p:spPr>
          <a:xfrm>
            <a:off x="7047434" y="1498600"/>
            <a:ext cx="5144566" cy="5524312"/>
          </a:xfrm>
          <a:custGeom>
            <a:avLst/>
            <a:gdLst/>
            <a:ahLst/>
            <a:cxnLst/>
            <a:rect l="l" t="t" r="r" b="b"/>
            <a:pathLst>
              <a:path w="7716849" h="8286468">
                <a:moveTo>
                  <a:pt x="0" y="0"/>
                </a:moveTo>
                <a:lnTo>
                  <a:pt x="7716849" y="0"/>
                </a:lnTo>
                <a:lnTo>
                  <a:pt x="7716849" y="8286467"/>
                </a:lnTo>
                <a:lnTo>
                  <a:pt x="0" y="828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7" b="-307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EE1804C-71B5-90AB-0F84-C08AAA531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800" y="2108200"/>
            <a:ext cx="11125200" cy="4216400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1pPr>
            <a:lvl2pPr marL="533427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2pPr>
            <a:lvl3pPr marL="80014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3pPr>
            <a:lvl4pPr marL="1104955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4pPr>
            <a:lvl5pPr marL="140977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80A0606-51B9-0BBB-2834-70693AB2A1D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8800" y="1549400"/>
            <a:ext cx="11125200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33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101057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96E27-802F-5341-58E0-E29D36C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65B73-875F-CEB0-62F1-DB1AD0984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3ABAF-2175-59BB-2A89-86759B328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BB37-1AF9-D815-C41D-2A3EBD1B5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B6820-E104-1F83-D98B-31AE263FF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3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8616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ontserrat"/>
              </a:rPr>
              <a:t>Closed Lost — February vs.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1186160" cy="23774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4A6A8A"/>
                </a:solidFill>
                <a:latin typeface="Montserrat"/>
              </a:rPr>
              <a:t>Loss reasons by product  ·  Top 3 labeled  ·  Source: 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483352" cy="25603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8A9BB5"/>
                </a:solidFill>
                <a:latin typeface="Montserrat"/>
              </a:rPr>
              <a:t>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5728" y="1261872"/>
            <a:ext cx="5483352" cy="25603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8A9BB5"/>
                </a:solidFill>
                <a:latin typeface="Montserrat"/>
              </a:rPr>
              <a:t>March 2026 (MTD)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11186160" cy="23774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PSA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483352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  <a:latin typeface="Montserrat"/>
              </a:rPr>
              <a:t>152 lost  ·  Discovery No Show: 40%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56816"/>
            <a:ext cx="2200555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Discovery No Show 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3475" y="1956816"/>
            <a:ext cx="64934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12%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2819" y="1956816"/>
            <a:ext cx="577194" cy="5486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11%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0013" y="1956816"/>
            <a:ext cx="577194" cy="548640"/>
          </a:xfrm>
          <a:prstGeom prst="rect">
            <a:avLst/>
          </a:prstGeom>
          <a:solidFill>
            <a:srgbClr val="9D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207" y="1956816"/>
            <a:ext cx="396821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04028" y="1956816"/>
            <a:ext cx="324672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28700" y="1956816"/>
            <a:ext cx="216448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5148" y="1956816"/>
            <a:ext cx="216448" cy="54864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1596" y="1956816"/>
            <a:ext cx="180373" cy="5486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41969" y="1956816"/>
            <a:ext cx="144298" cy="5486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5728" y="1783080"/>
            <a:ext cx="5483352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16A34A"/>
                </a:solidFill>
                <a:latin typeface="Montserrat"/>
              </a:rPr>
              <a:t>105 lost  ·  Discovery No Show: 33% ↓7pts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728" y="1956816"/>
            <a:ext cx="1827784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Discovery No Show 33%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3512" y="1956816"/>
            <a:ext cx="783336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14%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16848" y="1956816"/>
            <a:ext cx="731113" cy="548640"/>
          </a:xfrm>
          <a:prstGeom prst="rect">
            <a:avLst/>
          </a:prstGeom>
          <a:solidFill>
            <a:srgbClr val="9D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13%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7961" y="1956816"/>
            <a:ext cx="626668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74629" y="1956816"/>
            <a:ext cx="522224" cy="5486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96853" y="1956816"/>
            <a:ext cx="417779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14632" y="1956816"/>
            <a:ext cx="365556" cy="54864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80188" y="1956816"/>
            <a:ext cx="156667" cy="5486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636855" y="1956816"/>
            <a:ext cx="52222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127248"/>
            <a:ext cx="11186160" cy="23774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Billing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374136"/>
            <a:ext cx="5483352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  <a:latin typeface="Montserrat"/>
              </a:rPr>
              <a:t>25 lost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547872"/>
            <a:ext cx="1316004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No Business Issue 24%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8924" y="3547872"/>
            <a:ext cx="109667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Not the Right Time 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15594" y="3547872"/>
            <a:ext cx="1096670" cy="5486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Non-Responsive 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12264" y="3547872"/>
            <a:ext cx="877336" cy="5486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89600" y="3547872"/>
            <a:ext cx="438668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28268" y="3547872"/>
            <a:ext cx="438668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6936" y="3547872"/>
            <a:ext cx="219334" cy="5486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5728" y="3374136"/>
            <a:ext cx="5483352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  <a:latin typeface="Montserrat"/>
              </a:rPr>
              <a:t>27 lost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05728" y="3547872"/>
            <a:ext cx="2030871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Not the Right Time 37%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6599" y="3547872"/>
            <a:ext cx="1218522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Price 22%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5121" y="3547872"/>
            <a:ext cx="812348" cy="5486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15%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67469" y="3547872"/>
            <a:ext cx="812348" cy="548640"/>
          </a:xfrm>
          <a:prstGeom prst="rect">
            <a:avLst/>
          </a:prstGeom>
          <a:solidFill>
            <a:srgbClr val="9D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79817" y="3547872"/>
            <a:ext cx="406174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85991" y="3547872"/>
            <a:ext cx="203087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315968"/>
            <a:ext cx="4754880" cy="347472"/>
          </a:xfrm>
          <a:prstGeom prst="rect">
            <a:avLst/>
          </a:prstGeom>
          <a:solidFill>
            <a:srgbClr val="0C3A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50800"/>
          <a:lstStyle/>
          <a:p>
            <a:pPr algn="ctr"/>
            <a:r>
              <a:rPr sz="1000" b="1">
                <a:solidFill>
                  <a:srgbClr val="16A34A"/>
                </a:solidFill>
                <a:latin typeface="Montserrat"/>
              </a:rPr>
              <a:t>✓  PSA 2.0 Discovery No-Show rate improved: 40% → 33%  (-7pts MoM)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873752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82803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Discovery No Show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0" y="4873752"/>
            <a:ext cx="91440" cy="914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33160" y="482803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No Decision / Non-Responsive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056632"/>
            <a:ext cx="91440" cy="91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01091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Not the Right Time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0" y="5056632"/>
            <a:ext cx="91440" cy="91440"/>
          </a:xfrm>
          <a:prstGeom prst="rect">
            <a:avLst/>
          </a:prstGeom>
          <a:solidFill>
            <a:srgbClr val="9D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3160" y="501091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Software Missing Capabilities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23951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19379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No Business Issue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6000" y="5239512"/>
            <a:ext cx="9144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3160" y="519379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Price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422392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37667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Lost to Competitor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0" y="5422392"/>
            <a:ext cx="91440" cy="9144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3160" y="537667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In existing contract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05272"/>
            <a:ext cx="91440" cy="914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55955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Lack of Decision Maker Involvement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5605272"/>
            <a:ext cx="91440" cy="914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33160" y="5559552"/>
            <a:ext cx="5428488" cy="1828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  <a:latin typeface="Montserrat"/>
              </a:rPr>
              <a:t>Not Right Customer Type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601968"/>
            <a:ext cx="11186160" cy="20116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2D4A6A"/>
                </a:solidFill>
                <a:latin typeface="Montserrat"/>
              </a:rPr>
              <a:t>Rev.io  ·  Board Presentation 2026  ·  Data as of Mar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</a:rPr>
              <a:t>Rev.io  · 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Closed Loss Analysis  —  Feb vs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A9BB5"/>
                </a:solidFill>
              </a:rPr>
              <a:t>MARCH 23, 2026  ·  LIVE SALESFORCE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B5"/>
                </a:solidFill>
              </a:rPr>
              <a:t>210 losses in February  ·  165 losses in March  ·  Reason breakdown + % variance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7772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6576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BB5"/>
                </a:solidFill>
              </a:rPr>
              <a:t>TOTAL 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</a:rPr>
              <a:t>↓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934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9BB5"/>
                </a:solidFill>
              </a:rPr>
              <a:t>210 Feb → 165 Mar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097280"/>
            <a:ext cx="2743200" cy="7772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1097280"/>
            <a:ext cx="36576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1155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BB5"/>
                </a:solidFill>
              </a:rPr>
              <a:t>DISCOVERY NO-SHOW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29844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</a:rPr>
              <a:t>↓ 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60934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9BB5"/>
                </a:solidFill>
              </a:rPr>
              <a:t>69 Feb → 38 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097280"/>
            <a:ext cx="2743200" cy="7772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097280"/>
            <a:ext cx="36576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1155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BB5"/>
                </a:solidFill>
              </a:rPr>
              <a:t>PRICE /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129844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</a:rPr>
              <a:t>↑ Both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160934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9BB5"/>
                </a:solidFill>
              </a:rPr>
              <a:t>Biggest movers in Mar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7696" y="1097280"/>
            <a:ext cx="2743200" cy="7772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1097280"/>
            <a:ext cx="36576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1155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BB5"/>
                </a:solidFill>
              </a:rPr>
              <a:t>NO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129844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</a:rPr>
              <a:t>— Gone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160934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9BB5"/>
                </a:solidFill>
              </a:rPr>
              <a:t>32 Feb → 0 Mar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93392"/>
            <a:ext cx="11640312" cy="2743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0208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LOSS REASON VARIANCE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3042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Loss Reason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23042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Feb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3042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Feb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30428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30428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Mar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042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% Pt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3042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A9BB5"/>
                </a:solidFill>
              </a:rPr>
              <a:t>Trend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505456"/>
            <a:ext cx="11640312" cy="1828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523744"/>
            <a:ext cx="11640312" cy="260603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2560320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Discovery No Show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2560320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69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68496" y="2560320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32.9%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54296" y="2560320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77256" y="2560320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23.0%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2560320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▼ 9.9 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5" y="2560320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2B788"/>
                </a:solidFill>
              </a:rPr>
              <a:t>Improving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84348"/>
            <a:ext cx="11640312" cy="260603"/>
          </a:xfrm>
          <a:prstGeom prst="rect">
            <a:avLst/>
          </a:prstGeom>
          <a:solidFill>
            <a:srgbClr val="09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2820924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Not the Right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45536" y="2820924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8496" y="2820924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13.8%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4296" y="2820924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7256" y="2820924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18.2%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6" y="2820924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▲ 4.4 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6175" y="2820924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2626"/>
                </a:solidFill>
              </a:rPr>
              <a:t>Watch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044951"/>
            <a:ext cx="11640312" cy="260603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" y="3081527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Software Missing Capabilities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45536" y="3081527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68496" y="3081527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8.6%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54296" y="3081527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7256" y="3081527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15.2%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54496" y="3081527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▲ 6.6 pts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6175" y="3081527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2626"/>
                </a:solidFill>
              </a:rPr>
              <a:t>⚠ Escalating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305556"/>
            <a:ext cx="11640312" cy="260603"/>
          </a:xfrm>
          <a:prstGeom prst="rect">
            <a:avLst/>
          </a:prstGeom>
          <a:solidFill>
            <a:srgbClr val="09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3342132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45536" y="3342132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68496" y="3342132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5.2%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54296" y="3342132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77256" y="3342132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12.7%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3342132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▲ 7.5 pts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5" y="3342132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2626"/>
                </a:solidFill>
              </a:rPr>
              <a:t>⚠ Escalating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566159"/>
            <a:ext cx="11640312" cy="260603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" y="3602735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No Business Issue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45536" y="3602735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68496" y="3602735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8.6%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3602735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77256" y="3602735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12.7%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3602735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▲ 4.1 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6175" y="3602735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2626"/>
                </a:solidFill>
              </a:rPr>
              <a:t>Watch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826763"/>
            <a:ext cx="11640312" cy="260603"/>
          </a:xfrm>
          <a:prstGeom prst="rect">
            <a:avLst/>
          </a:prstGeom>
          <a:solidFill>
            <a:srgbClr val="09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3863339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Lack of Decision Maker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45536" y="3863339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68496" y="3863339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5.7%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54296" y="3863339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18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77256" y="3863339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10.9%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54496" y="3863339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▲ 5.2 pts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66175" y="3863339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2626"/>
                </a:solidFill>
              </a:rPr>
              <a:t>⚠ Escalating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087368"/>
            <a:ext cx="11640312" cy="260603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" y="4123944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No Decision / Non-Responsive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45536" y="4123944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32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68496" y="4123944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15.2%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54296" y="4123944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77256" y="4123944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54496" y="4123944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▼ 15.2 pts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66175" y="4123944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2B788"/>
                </a:solidFill>
              </a:rPr>
              <a:t>Resolved 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347972"/>
            <a:ext cx="11640312" cy="260603"/>
          </a:xfrm>
          <a:prstGeom prst="rect">
            <a:avLst/>
          </a:prstGeom>
          <a:solidFill>
            <a:srgbClr val="09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10896" y="4384548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In Existing Contract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45536" y="4384548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68496" y="4384548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3.8%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54296" y="4384548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77256" y="4384548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4.8%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54496" y="4384548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▲ 1.0 pts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66175" y="4384548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9E0B"/>
                </a:solidFill>
              </a:rPr>
              <a:t>Stable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4608575"/>
            <a:ext cx="11640312" cy="260603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10896" y="4645151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Lost to Competitor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45536" y="4645151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68496" y="4645151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2.9%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54296" y="4645151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77256" y="4645151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0.6%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54496" y="4645151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▼ 2.3 pts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66175" y="4645151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2B788"/>
                </a:solidFill>
              </a:rPr>
              <a:t>Improving 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869179"/>
            <a:ext cx="11640312" cy="260603"/>
          </a:xfrm>
          <a:prstGeom prst="rect">
            <a:avLst/>
          </a:prstGeom>
          <a:solidFill>
            <a:srgbClr val="09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4905755"/>
            <a:ext cx="26974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Not Right Customer Type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145536" y="4905755"/>
            <a:ext cx="6858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68496" y="4905755"/>
            <a:ext cx="54864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3.3%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54296" y="4905755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77256" y="4905755"/>
            <a:ext cx="64008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1.8%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54496" y="4905755"/>
            <a:ext cx="187452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▼ 1.5 pts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66175" y="4905755"/>
            <a:ext cx="3429000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2B788"/>
                </a:solidFill>
              </a:rPr>
              <a:t>Improving 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5212080"/>
            <a:ext cx="11640312" cy="25603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0040" y="523951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COACHING ACTIONS — TOP 3 ESCALATING CATEGORIES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5504688"/>
            <a:ext cx="3749039" cy="109728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4320" y="5504688"/>
            <a:ext cx="3749039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5541264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</a:rPr>
              <a:t>⚠ Price  ↑7.5pts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779008"/>
            <a:ext cx="35661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</a:rPr>
              <a:t>Reps not establishing ROI before price surfaces. Require cost-of-inaction discussion in discovery before any pricing conversation.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33087" y="5504688"/>
            <a:ext cx="3749039" cy="109728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133087" y="5504688"/>
            <a:ext cx="3749039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224527" y="5541264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</a:rPr>
              <a:t>⚠ Missing Capabilities  ↑6.6pts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24527" y="5779008"/>
            <a:ext cx="35661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</a:rPr>
              <a:t>Audit losses: real product gap vs. positioning failure. Escalate genuine gaps to product; coach reps on competitive framing.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91856" y="5504688"/>
            <a:ext cx="3749039" cy="109728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991856" y="5504688"/>
            <a:ext cx="3749039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083296" y="5541264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</a:rPr>
              <a:t>⚠ Lack of DM  ↑5.2pts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83296" y="5779008"/>
            <a:ext cx="356615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BB5"/>
                </a:solidFill>
              </a:rPr>
              <a:t>No demo without identifying the economic buyer. "Who signs off on this?" is now a required discovery question.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9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6702552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A9BB5"/>
                </a:solidFill>
              </a:rPr>
              <a:t>Rev.io  ·  Board Presentation 2026  ·  Data as of Mar 23,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144000" y="6702552"/>
            <a:ext cx="2743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A9BB5"/>
                </a:solidFill>
              </a:rPr>
              <a:t>ROBIN 🦸🏻‍♂️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6322</TotalTime>
  <Words>5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Brandon Grotesque Medium</vt:lpstr>
      <vt:lpstr>Montserrat</vt:lpstr>
      <vt:lpstr>Montserrat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Koontz</dc:creator>
  <cp:lastModifiedBy>Ryan Koontz</cp:lastModifiedBy>
  <cp:revision>13</cp:revision>
  <dcterms:created xsi:type="dcterms:W3CDTF">2025-11-17T01:40:24Z</dcterms:created>
  <dcterms:modified xsi:type="dcterms:W3CDTF">2026-03-19T16:40:10Z</dcterms:modified>
</cp:coreProperties>
</file>