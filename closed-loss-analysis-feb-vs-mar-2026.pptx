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"/>
  </p:notesMasterIdLst>
  <p:sldIdLst>
    <p:sldId id="829" r:id="rId3"/>
    <p:sldId id="830" r:id="rId2"/>
    <p:sldId id="831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821"/>
    <p:restoredTop sz="72857"/>
  </p:normalViewPr>
  <p:slideViewPr>
    <p:cSldViewPr snapToGrid="0">
      <p:cViewPr varScale="1">
        <p:scale>
          <a:sx n="91" d="100"/>
          <a:sy n="91" d="100"/>
        </p:scale>
        <p:origin x="1744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3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Relationship Id="rId9" Type="http://schemas.openxmlformats.org/officeDocument/2006/relationships/slide" Target="slides/slide1.xml"/><Relationship Id="rId10" Type="http://schemas.openxmlformats.org/officeDocument/2006/relationships/slide" Target="slides/slide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98C880D-BAB9-814B-91C1-A2E6619901B5}" type="datetimeFigureOut">
              <a:rPr lang="en-US" smtClean="0"/>
              <a:t>3/19/26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4BE4E2D-A077-D444-A84D-EE88C5B872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890857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30ECD4-BB87-DB1F-F089-CAB61A77D1B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BE6C12D-58BC-98E9-57E9-4762C20F346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1D570D7-BB01-E516-3A67-13A4B74BBB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12070A-0C34-CA4B-82BF-A612F0CDDBAB}" type="datetimeFigureOut">
              <a:rPr lang="en-US" smtClean="0"/>
              <a:t>3/19/26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CB13376-EE68-4C3E-8E9C-249801E5AC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01B30D8-C414-E89D-12E4-95C21C2957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2A9074-55C7-3D40-B05C-5DC0F7A748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36905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0A55F3-964D-453F-D398-6BB3C1354E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9B4CF0-41A3-9429-6D8B-D50964806F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327683B-AA11-5EFA-1B5E-CE14AE4FCD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12070A-0C34-CA4B-82BF-A612F0CDDBAB}" type="datetimeFigureOut">
              <a:rPr lang="en-US" smtClean="0"/>
              <a:t>3/19/26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A4B09D1-A084-F2E8-FAD6-FDD1B927E7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062F40A-1596-5849-8CDE-F9D06B561D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2A9074-55C7-3D40-B05C-5DC0F7A748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26225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61A975-9567-7874-9641-AA05E375A3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11DF9D9-28EC-885B-4C42-25AB24EE47C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3AA476-71C5-A400-CA09-C92275C693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12070A-0C34-CA4B-82BF-A612F0CDDBAB}" type="datetimeFigureOut">
              <a:rPr lang="en-US" smtClean="0"/>
              <a:t>3/19/26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86BE3D2-1E86-2D44-2B93-FF7DC78142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2018954-05E4-7483-72BB-3216C8FA1B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2A9074-55C7-3D40-B05C-5DC0F7A748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15286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1355E3-C1F7-F2F5-E1C4-E5442BF9DB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B6BF0F-C0E6-7363-A8BD-4418BA850A5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5B0EBA4-C9BB-5FAE-CAC4-11065DF656D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8B0F989-47BC-7F78-5A2E-80CEEEEBD1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12070A-0C34-CA4B-82BF-A612F0CDDBAB}" type="datetimeFigureOut">
              <a:rPr lang="en-US" smtClean="0"/>
              <a:t>3/19/26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9D6573D-8446-8C6F-57FA-84CE31A786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969DE16-E329-4BCE-B984-DC1E155227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2A9074-55C7-3D40-B05C-5DC0F7A748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353290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DF6E80-07EC-525B-30CC-16B8947C95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2C40E5B-0665-25AD-4113-C89B47839CD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E6797EB-F218-E9FA-A691-F899468D040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3AF63C4-68B8-2847-D3A2-478F4EEB2FE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6E581B0-92C2-EBE8-ED27-8CCFDA355E0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747F20D-50AB-8042-9952-DFAA73DFB0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12070A-0C34-CA4B-82BF-A612F0CDDBAB}" type="datetimeFigureOut">
              <a:rPr lang="en-US" smtClean="0"/>
              <a:t>3/19/26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269A033-FB4E-6EFD-71B7-5A64BB61B2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C66AE81-01FC-9EA5-ED2D-1634ACEED6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2A9074-55C7-3D40-B05C-5DC0F7A748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167681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CCF069-3A03-8A7A-8D6F-07C53765A8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D3B3B1E-165B-FA83-CFBB-4C2966D507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12070A-0C34-CA4B-82BF-A612F0CDDBAB}" type="datetimeFigureOut">
              <a:rPr lang="en-US" smtClean="0"/>
              <a:t>3/19/26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AE76F09-64EE-817E-922F-2AC83ED5E6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09368B8-EF67-AF95-621A-718995B521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2A9074-55C7-3D40-B05C-5DC0F7A748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753925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8DC8681-6E72-D0EC-9310-D49D6524A3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12070A-0C34-CA4B-82BF-A612F0CDDBAB}" type="datetimeFigureOut">
              <a:rPr lang="en-US" smtClean="0"/>
              <a:t>3/19/26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62B4794-3947-FEF2-7657-56C5ACC183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DAAD97C-5DE4-F099-DCD4-D49650F0AB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2A9074-55C7-3D40-B05C-5DC0F7A748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54153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E33490-39A9-4DB3-FE0E-CDB41B2D4D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13DEB8-0627-0A05-BCD3-E42F254FFD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E78E230-3501-32DC-0C78-2A005F649D8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0597B73-392B-C9FF-5DB1-A47B0D130B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12070A-0C34-CA4B-82BF-A612F0CDDBAB}" type="datetimeFigureOut">
              <a:rPr lang="en-US" smtClean="0"/>
              <a:t>3/19/26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493760A-682B-FA90-D7F1-3A22E4F3DD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95FF447-DF94-13B7-68F9-75779C28A4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2A9074-55C7-3D40-B05C-5DC0F7A748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117467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A67294-4A9F-E74F-CCAD-68EF318349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809BC70-FA5A-61CD-D7A7-1AFA5E37DCE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9A923EE-914B-2423-CCDB-EA1FE059B49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D90D481-3DF3-00C2-489C-60E5E0536B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12070A-0C34-CA4B-82BF-A612F0CDDBAB}" type="datetimeFigureOut">
              <a:rPr lang="en-US" smtClean="0"/>
              <a:t>3/19/26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1C681AA-2AF3-9B77-75BF-E84BF24A88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4DD3FC0-B706-D9AF-FA93-EF3010FCFC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2A9074-55C7-3D40-B05C-5DC0F7A748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958993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7816DA-2100-B38F-F92E-4545589120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3BC260A-7741-A73F-1895-72F8335CC2C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C548CA-20EA-0342-CF50-91472903D9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12070A-0C34-CA4B-82BF-A612F0CDDBAB}" type="datetimeFigureOut">
              <a:rPr lang="en-US" smtClean="0"/>
              <a:t>3/19/26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0EEDB71-D7B2-3C1D-8354-B4F9DB392A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2D51A4-2D1F-BADF-8242-2DBF3BECEB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2A9074-55C7-3D40-B05C-5DC0F7A748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370058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56DD517-3D31-45BC-F44E-0F8B5D85571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591B08E-8F83-F8A9-4B36-B83DEFADABC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63A14EE-B2E8-DD6E-D7C3-B46AAE35A9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12070A-0C34-CA4B-82BF-A612F0CDDBAB}" type="datetimeFigureOut">
              <a:rPr lang="en-US" smtClean="0"/>
              <a:t>3/19/26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8A0471-7023-1435-FC78-E979BCEE24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331669E-2604-66DC-A78A-3F0FF2604E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2A9074-55C7-3D40-B05C-5DC0F7A748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388928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Grey_Bulle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oup 2">
            <a:extLst>
              <a:ext uri="{FF2B5EF4-FFF2-40B4-BE49-F238E27FC236}">
                <a16:creationId xmlns:a16="http://schemas.microsoft.com/office/drawing/2014/main" id="{2BA0AF1D-C0DE-5590-1785-9F54B42D184F}"/>
              </a:ext>
            </a:extLst>
          </p:cNvPr>
          <p:cNvGrpSpPr/>
          <p:nvPr userDrawn="1"/>
        </p:nvGrpSpPr>
        <p:grpSpPr>
          <a:xfrm>
            <a:off x="0" y="13063"/>
            <a:ext cx="12192000" cy="6870337"/>
            <a:chOff x="0" y="-85725"/>
            <a:chExt cx="5380340" cy="2994575"/>
          </a:xfrm>
        </p:grpSpPr>
        <p:sp>
          <p:nvSpPr>
            <p:cNvPr id="16" name="Freeform 3">
              <a:extLst>
                <a:ext uri="{FF2B5EF4-FFF2-40B4-BE49-F238E27FC236}">
                  <a16:creationId xmlns:a16="http://schemas.microsoft.com/office/drawing/2014/main" id="{7DABFEFC-6282-E727-1040-25E6B6134E9F}"/>
                </a:ext>
              </a:extLst>
            </p:cNvPr>
            <p:cNvSpPr/>
            <p:nvPr/>
          </p:nvSpPr>
          <p:spPr>
            <a:xfrm>
              <a:off x="0" y="0"/>
              <a:ext cx="5380340" cy="2908850"/>
            </a:xfrm>
            <a:custGeom>
              <a:avLst/>
              <a:gdLst/>
              <a:ahLst/>
              <a:cxnLst/>
              <a:rect l="l" t="t" r="r" b="b"/>
              <a:pathLst>
                <a:path w="5380340" h="2908850">
                  <a:moveTo>
                    <a:pt x="0" y="0"/>
                  </a:moveTo>
                  <a:lnTo>
                    <a:pt x="5380340" y="0"/>
                  </a:lnTo>
                  <a:lnTo>
                    <a:pt x="5380340" y="2908850"/>
                  </a:lnTo>
                  <a:lnTo>
                    <a:pt x="0" y="2908850"/>
                  </a:lnTo>
                  <a:close/>
                </a:path>
              </a:pathLst>
            </a:custGeom>
            <a:gradFill rotWithShape="1">
              <a:gsLst>
                <a:gs pos="0">
                  <a:srgbClr val="FFFFFF">
                    <a:alpha val="100000"/>
                  </a:srgbClr>
                </a:gs>
                <a:gs pos="100000">
                  <a:srgbClr val="E6E7E8">
                    <a:alpha val="100000"/>
                  </a:srgbClr>
                </a:gs>
              </a:gsLst>
              <a:lin ang="5400000"/>
            </a:gradFill>
          </p:spPr>
          <p:txBody>
            <a:bodyPr/>
            <a:lstStyle/>
            <a:p>
              <a:endParaRPr lang="en-US" sz="1200"/>
            </a:p>
          </p:txBody>
        </p:sp>
        <p:sp>
          <p:nvSpPr>
            <p:cNvPr id="17" name="TextBox 4">
              <a:extLst>
                <a:ext uri="{FF2B5EF4-FFF2-40B4-BE49-F238E27FC236}">
                  <a16:creationId xmlns:a16="http://schemas.microsoft.com/office/drawing/2014/main" id="{F72FF90E-D89E-162D-5CAF-BB26A3827305}"/>
                </a:ext>
              </a:extLst>
            </p:cNvPr>
            <p:cNvSpPr txBox="1"/>
            <p:nvPr/>
          </p:nvSpPr>
          <p:spPr>
            <a:xfrm>
              <a:off x="0" y="-85725"/>
              <a:ext cx="5380340" cy="29945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867"/>
                </a:lnSpc>
              </a:pPr>
              <a:endParaRPr sz="1200"/>
            </a:p>
          </p:txBody>
        </p:sp>
      </p:grpSp>
      <p:sp>
        <p:nvSpPr>
          <p:cNvPr id="9" name="Freeform 6">
            <a:extLst>
              <a:ext uri="{FF2B5EF4-FFF2-40B4-BE49-F238E27FC236}">
                <a16:creationId xmlns:a16="http://schemas.microsoft.com/office/drawing/2014/main" id="{D44016A5-568E-9D32-EE4D-BE2C31A246AA}"/>
              </a:ext>
            </a:extLst>
          </p:cNvPr>
          <p:cNvSpPr/>
          <p:nvPr userDrawn="1"/>
        </p:nvSpPr>
        <p:spPr>
          <a:xfrm>
            <a:off x="10464800" y="177800"/>
            <a:ext cx="1402883" cy="360887"/>
          </a:xfrm>
          <a:custGeom>
            <a:avLst/>
            <a:gdLst/>
            <a:ahLst/>
            <a:cxnLst/>
            <a:rect l="l" t="t" r="r" b="b"/>
            <a:pathLst>
              <a:path w="2104324" h="541330">
                <a:moveTo>
                  <a:pt x="0" y="0"/>
                </a:moveTo>
                <a:lnTo>
                  <a:pt x="2104324" y="0"/>
                </a:lnTo>
                <a:lnTo>
                  <a:pt x="2104324" y="541330"/>
                </a:lnTo>
                <a:lnTo>
                  <a:pt x="0" y="54133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n-US" sz="1200"/>
          </a:p>
        </p:txBody>
      </p:sp>
      <p:sp>
        <p:nvSpPr>
          <p:cNvPr id="19" name="Title 1">
            <a:extLst>
              <a:ext uri="{FF2B5EF4-FFF2-40B4-BE49-F238E27FC236}">
                <a16:creationId xmlns:a16="http://schemas.microsoft.com/office/drawing/2014/main" id="{EC04C38A-CE8B-C5EE-2358-9C652E2E086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8800" y="787400"/>
            <a:ext cx="11125200" cy="660400"/>
          </a:xfrm>
          <a:prstGeom prst="rect">
            <a:avLst/>
          </a:prstGeom>
          <a:ln>
            <a:noFill/>
          </a:ln>
        </p:spPr>
        <p:txBody>
          <a:bodyPr/>
          <a:lstStyle>
            <a:lvl1pPr algn="l">
              <a:defRPr sz="4000" b="0" i="0">
                <a:solidFill>
                  <a:srgbClr val="1D3756"/>
                </a:solidFill>
                <a:latin typeface="Brandon Grotesque Medium" panose="020B0603020203060202" pitchFamily="34" charset="77"/>
              </a:defRPr>
            </a:lvl1pPr>
          </a:lstStyle>
          <a:p>
            <a:r>
              <a:rPr lang="en-US"/>
              <a:t>HEADING</a:t>
            </a:r>
          </a:p>
        </p:txBody>
      </p:sp>
      <p:sp>
        <p:nvSpPr>
          <p:cNvPr id="23" name="Freeform 5">
            <a:extLst>
              <a:ext uri="{FF2B5EF4-FFF2-40B4-BE49-F238E27FC236}">
                <a16:creationId xmlns:a16="http://schemas.microsoft.com/office/drawing/2014/main" id="{D81BE22A-A3A6-73C4-C939-ECD9A149B22E}"/>
              </a:ext>
            </a:extLst>
          </p:cNvPr>
          <p:cNvSpPr/>
          <p:nvPr userDrawn="1"/>
        </p:nvSpPr>
        <p:spPr>
          <a:xfrm>
            <a:off x="7047434" y="1498600"/>
            <a:ext cx="5144566" cy="5524312"/>
          </a:xfrm>
          <a:custGeom>
            <a:avLst/>
            <a:gdLst/>
            <a:ahLst/>
            <a:cxnLst/>
            <a:rect l="l" t="t" r="r" b="b"/>
            <a:pathLst>
              <a:path w="7716849" h="8286468">
                <a:moveTo>
                  <a:pt x="0" y="0"/>
                </a:moveTo>
                <a:lnTo>
                  <a:pt x="7716849" y="0"/>
                </a:lnTo>
                <a:lnTo>
                  <a:pt x="7716849" y="8286467"/>
                </a:lnTo>
                <a:lnTo>
                  <a:pt x="0" y="828646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t="-307" b="-307"/>
            </a:stretch>
          </a:blipFill>
        </p:spPr>
        <p:txBody>
          <a:bodyPr/>
          <a:lstStyle/>
          <a:p>
            <a:endParaRPr lang="en-US" sz="1200"/>
          </a:p>
        </p:txBody>
      </p:sp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CEE1804C-71B5-90AB-0F84-C08AAA53196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58800" y="2108200"/>
            <a:ext cx="11125200" cy="4216400"/>
          </a:xfrm>
          <a:prstGeom prst="rect">
            <a:avLst/>
          </a:prstGeom>
        </p:spPr>
        <p:txBody>
          <a:bodyPr/>
          <a:lstStyle>
            <a:lvl1pPr marL="228611" indent="-228611">
              <a:buClr>
                <a:srgbClr val="1D3756"/>
              </a:buClr>
              <a:buFont typeface="Arial" panose="020B0604020202020204" pitchFamily="34" charset="0"/>
              <a:buChar char="•"/>
              <a:defRPr sz="1333" b="0" i="0">
                <a:solidFill>
                  <a:srgbClr val="1D3756"/>
                </a:solidFill>
                <a:latin typeface="Avenir Medium" panose="02000503020000020003" pitchFamily="2" charset="0"/>
              </a:defRPr>
            </a:lvl1pPr>
            <a:lvl2pPr marL="533427" indent="-228611">
              <a:buClr>
                <a:srgbClr val="1D3756"/>
              </a:buClr>
              <a:buFont typeface="Arial" panose="020B0604020202020204" pitchFamily="34" charset="0"/>
              <a:buChar char="•"/>
              <a:defRPr sz="1333" b="0" i="0">
                <a:solidFill>
                  <a:srgbClr val="1D3756"/>
                </a:solidFill>
                <a:latin typeface="Avenir Medium" panose="02000503020000020003" pitchFamily="2" charset="0"/>
              </a:defRPr>
            </a:lvl2pPr>
            <a:lvl3pPr marL="800140" indent="-190510">
              <a:buClr>
                <a:srgbClr val="1D3756"/>
              </a:buClr>
              <a:buFont typeface="Arial" panose="020B0604020202020204" pitchFamily="34" charset="0"/>
              <a:buChar char="•"/>
              <a:defRPr sz="1333" b="0" i="0">
                <a:solidFill>
                  <a:srgbClr val="1D3756"/>
                </a:solidFill>
                <a:latin typeface="Avenir Medium" panose="02000503020000020003" pitchFamily="2" charset="0"/>
              </a:defRPr>
            </a:lvl3pPr>
            <a:lvl4pPr marL="1104955" indent="-190510">
              <a:buClr>
                <a:srgbClr val="1D3756"/>
              </a:buClr>
              <a:buFont typeface="Arial" panose="020B0604020202020204" pitchFamily="34" charset="0"/>
              <a:buChar char="•"/>
              <a:defRPr sz="1333" b="0" i="0">
                <a:solidFill>
                  <a:srgbClr val="1D3756"/>
                </a:solidFill>
                <a:latin typeface="Avenir Medium" panose="02000503020000020003" pitchFamily="2" charset="0"/>
              </a:defRPr>
            </a:lvl4pPr>
            <a:lvl5pPr marL="1409770" indent="-190510">
              <a:buClr>
                <a:srgbClr val="1D3756"/>
              </a:buClr>
              <a:buFont typeface="Arial" panose="020B0604020202020204" pitchFamily="34" charset="0"/>
              <a:buChar char="•"/>
              <a:defRPr sz="1333" b="0" i="0">
                <a:solidFill>
                  <a:srgbClr val="1D3756"/>
                </a:solidFill>
                <a:latin typeface="Avenir Medium" panose="02000503020000020003" pitchFamily="2" charset="0"/>
              </a:defRPr>
            </a:lvl5pPr>
            <a:lvl6pPr>
              <a:defRPr sz="1067"/>
            </a:lvl6pPr>
            <a:lvl7pPr>
              <a:defRPr sz="1067"/>
            </a:lvl7pPr>
            <a:lvl8pPr>
              <a:defRPr sz="1067"/>
            </a:lvl8pPr>
            <a:lvl9pPr>
              <a:defRPr sz="106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9" name="Text Placeholder 2">
            <a:extLst>
              <a:ext uri="{FF2B5EF4-FFF2-40B4-BE49-F238E27FC236}">
                <a16:creationId xmlns:a16="http://schemas.microsoft.com/office/drawing/2014/main" id="{480A0606-51B9-0BBB-2834-70693AB2A1D9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558800" y="1549400"/>
            <a:ext cx="11125200" cy="426508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133" b="0" i="0">
                <a:solidFill>
                  <a:srgbClr val="1D3756"/>
                </a:solidFill>
                <a:latin typeface="Brandon Grotesque Medium" panose="020B0603020203060202" pitchFamily="34" charset="77"/>
              </a:defRPr>
            </a:lvl1pPr>
            <a:lvl2pPr marL="304815" indent="0">
              <a:buNone/>
              <a:defRPr sz="1333" b="1"/>
            </a:lvl2pPr>
            <a:lvl3pPr marL="609630" indent="0">
              <a:buNone/>
              <a:defRPr sz="1200" b="1"/>
            </a:lvl3pPr>
            <a:lvl4pPr marL="914446" indent="0">
              <a:buNone/>
              <a:defRPr sz="1067" b="1"/>
            </a:lvl4pPr>
            <a:lvl5pPr marL="1219261" indent="0">
              <a:buNone/>
              <a:defRPr sz="1067" b="1"/>
            </a:lvl5pPr>
            <a:lvl6pPr marL="1524076" indent="0">
              <a:buNone/>
              <a:defRPr sz="1067" b="1"/>
            </a:lvl6pPr>
            <a:lvl7pPr marL="1828891" indent="0">
              <a:buNone/>
              <a:defRPr sz="1067" b="1"/>
            </a:lvl7pPr>
            <a:lvl8pPr marL="2133707" indent="0">
              <a:buNone/>
              <a:defRPr sz="1067" b="1"/>
            </a:lvl8pPr>
            <a:lvl9pPr marL="2438522" indent="0">
              <a:buNone/>
              <a:defRPr sz="1067" b="1"/>
            </a:lvl9pPr>
          </a:lstStyle>
          <a:p>
            <a:pPr lvl="0"/>
            <a:r>
              <a:rPr lang="en-US"/>
              <a:t>SUBHEADING</a:t>
            </a:r>
          </a:p>
        </p:txBody>
      </p:sp>
    </p:spTree>
    <p:extLst>
      <p:ext uri="{BB962C8B-B14F-4D97-AF65-F5344CB8AC3E}">
        <p14:creationId xmlns:p14="http://schemas.microsoft.com/office/powerpoint/2010/main" val="2810105713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9696E27-802F-5341-58E0-E29D36C59B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DB65B73-875F-CEB0-62F1-DB1AD09842B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033ABAF-2175-59BB-2A89-86759B3288F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812070A-0C34-CA4B-82BF-A612F0CDDBAB}" type="datetimeFigureOut">
              <a:rPr lang="en-US" smtClean="0"/>
              <a:t>3/19/26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22BB37-1AF9-D815-C41D-2A3EBD1B5D0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3B6820-E104-1F83-D98B-31AE263FFBE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B2A9074-55C7-3D40-B05C-5DC0F7A748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75301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Content Placeholder 2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sp>
        <p:nvSpPr>
          <p:cNvPr id="4" name="Text Placeholder 3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02920" y="329184"/>
            <a:ext cx="11186160" cy="411480"/>
          </a:xfrm>
          <a:prstGeom prst="rect">
            <a:avLst/>
          </a:prstGeom>
          <a:noFill/>
        </p:spPr>
        <p:txBody>
          <a:bodyPr wrap="none" lIns="25400" rIns="25400" tIns="12700" bIns="12700">
            <a:spAutoFit/>
          </a:bodyPr>
          <a:lstStyle/>
          <a:p>
            <a:pPr algn="l"/>
            <a:r>
              <a:rPr sz="2100" b="1">
                <a:solidFill>
                  <a:srgbClr val="FFFFFF"/>
                </a:solidFill>
                <a:latin typeface="Montserrat"/>
              </a:rPr>
              <a:t>Closed Lost — February vs. March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758952"/>
            <a:ext cx="11186160" cy="237744"/>
          </a:xfrm>
          <a:prstGeom prst="rect">
            <a:avLst/>
          </a:prstGeom>
          <a:noFill/>
        </p:spPr>
        <p:txBody>
          <a:bodyPr wrap="none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4A6A8A"/>
                </a:solidFill>
                <a:latin typeface="Montserrat"/>
              </a:rPr>
              <a:t>Loss reasons by product  ·  Top 3 labeled  ·  Source: Salesforce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261872"/>
            <a:ext cx="5483352" cy="256032"/>
          </a:xfrm>
          <a:prstGeom prst="rect">
            <a:avLst/>
          </a:prstGeom>
          <a:noFill/>
        </p:spPr>
        <p:txBody>
          <a:bodyPr wrap="none" lIns="25400" rIns="25400" tIns="12700" bIns="12700">
            <a:spAutoFit/>
          </a:bodyPr>
          <a:lstStyle/>
          <a:p>
            <a:pPr algn="ctr"/>
            <a:r>
              <a:rPr sz="1100" b="1">
                <a:solidFill>
                  <a:srgbClr val="8A9BB5"/>
                </a:solidFill>
                <a:latin typeface="Montserrat"/>
              </a:rPr>
              <a:t>February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05728" y="1261872"/>
            <a:ext cx="5483352" cy="256032"/>
          </a:xfrm>
          <a:prstGeom prst="rect">
            <a:avLst/>
          </a:prstGeom>
          <a:noFill/>
        </p:spPr>
        <p:txBody>
          <a:bodyPr wrap="none" lIns="25400" rIns="25400" tIns="12700" bIns="12700">
            <a:spAutoFit/>
          </a:bodyPr>
          <a:lstStyle/>
          <a:p>
            <a:pPr algn="ctr"/>
            <a:r>
              <a:rPr sz="1100" b="1">
                <a:solidFill>
                  <a:srgbClr val="8A9BB5"/>
                </a:solidFill>
                <a:latin typeface="Montserrat"/>
              </a:rPr>
              <a:t>March 2026 (MTD)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536192"/>
            <a:ext cx="11186160" cy="237744"/>
          </a:xfrm>
          <a:prstGeom prst="rect">
            <a:avLst/>
          </a:prstGeom>
          <a:noFill/>
        </p:spPr>
        <p:txBody>
          <a:bodyPr wrap="none" lIns="25400" rIns="25400" tIns="12700" bIns="1270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Montserrat"/>
              </a:rPr>
              <a:t>PSA 2.0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783080"/>
            <a:ext cx="5483352" cy="182880"/>
          </a:xfrm>
          <a:prstGeom prst="rect">
            <a:avLst/>
          </a:prstGeom>
          <a:noFill/>
        </p:spPr>
        <p:txBody>
          <a:bodyPr wrap="none" lIns="25400" rIns="25400" tIns="12700" bIns="12700">
            <a:spAutoFit/>
          </a:bodyPr>
          <a:lstStyle/>
          <a:p>
            <a:pPr algn="l"/>
            <a:r>
              <a:rPr sz="800" b="0">
                <a:solidFill>
                  <a:srgbClr val="8A9BB5"/>
                </a:solidFill>
                <a:latin typeface="Montserrat"/>
              </a:rPr>
              <a:t>152 lost  ·  Discovery No Show: 40%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956816"/>
            <a:ext cx="2200555" cy="54864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3500" rIns="6350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Montserrat"/>
              </a:rPr>
              <a:t>Discovery No Show 40%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03475" y="1956816"/>
            <a:ext cx="649344" cy="548640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3500" rIns="6350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Montserrat"/>
              </a:rPr>
              <a:t>12%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52819" y="1956816"/>
            <a:ext cx="577194" cy="548640"/>
          </a:xfrm>
          <a:prstGeom prst="rect">
            <a:avLst/>
          </a:prstGeom>
          <a:solidFill>
            <a:srgbClr val="1D4E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3500" rIns="6350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Montserrat"/>
              </a:rPr>
              <a:t>11%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930013" y="1956816"/>
            <a:ext cx="577194" cy="548640"/>
          </a:xfrm>
          <a:prstGeom prst="rect">
            <a:avLst/>
          </a:prstGeom>
          <a:solidFill>
            <a:srgbClr val="9D6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07207" y="1956816"/>
            <a:ext cx="396821" cy="54864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904028" y="1956816"/>
            <a:ext cx="324672" cy="548640"/>
          </a:xfrm>
          <a:prstGeom prst="rect">
            <a:avLst/>
          </a:prstGeom>
          <a:solidFill>
            <a:srgbClr val="52B7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228700" y="1956816"/>
            <a:ext cx="216448" cy="54864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45148" y="1956816"/>
            <a:ext cx="216448" cy="548640"/>
          </a:xfrm>
          <a:prstGeom prst="rect">
            <a:avLst/>
          </a:prstGeom>
          <a:solidFill>
            <a:srgbClr val="93C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661596" y="1956816"/>
            <a:ext cx="180373" cy="548640"/>
          </a:xfrm>
          <a:prstGeom prst="rect">
            <a:avLst/>
          </a:prstGeom>
          <a:solidFill>
            <a:srgbClr val="86EF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841969" y="1956816"/>
            <a:ext cx="144298" cy="548640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05728" y="1783080"/>
            <a:ext cx="5483352" cy="182880"/>
          </a:xfrm>
          <a:prstGeom prst="rect">
            <a:avLst/>
          </a:prstGeom>
          <a:noFill/>
        </p:spPr>
        <p:txBody>
          <a:bodyPr wrap="none" lIns="25400" rIns="25400" tIns="12700" bIns="12700">
            <a:spAutoFit/>
          </a:bodyPr>
          <a:lstStyle/>
          <a:p>
            <a:pPr algn="l"/>
            <a:r>
              <a:rPr sz="800" b="0">
                <a:solidFill>
                  <a:srgbClr val="16A34A"/>
                </a:solidFill>
                <a:latin typeface="Montserrat"/>
              </a:rPr>
              <a:t>105 lost  ·  Discovery No Show: 33% ↓7pts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05728" y="1956816"/>
            <a:ext cx="1827784" cy="54864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3500" rIns="6350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Montserrat"/>
              </a:rPr>
              <a:t>Discovery No Show 33%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33512" y="1956816"/>
            <a:ext cx="783336" cy="548640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3500" rIns="6350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Montserrat"/>
              </a:rPr>
              <a:t>14%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816848" y="1956816"/>
            <a:ext cx="731113" cy="548640"/>
          </a:xfrm>
          <a:prstGeom prst="rect">
            <a:avLst/>
          </a:prstGeom>
          <a:solidFill>
            <a:srgbClr val="9D6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3500" rIns="6350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Montserrat"/>
              </a:rPr>
              <a:t>13%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547961" y="1956816"/>
            <a:ext cx="626668" cy="54864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174629" y="1956816"/>
            <a:ext cx="522224" cy="548640"/>
          </a:xfrm>
          <a:prstGeom prst="rect">
            <a:avLst/>
          </a:prstGeom>
          <a:solidFill>
            <a:srgbClr val="86EF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696853" y="1956816"/>
            <a:ext cx="417779" cy="548640"/>
          </a:xfrm>
          <a:prstGeom prst="rect">
            <a:avLst/>
          </a:prstGeom>
          <a:solidFill>
            <a:srgbClr val="52B7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1114632" y="1956816"/>
            <a:ext cx="365556" cy="548640"/>
          </a:xfrm>
          <a:prstGeom prst="rect">
            <a:avLst/>
          </a:prstGeom>
          <a:solidFill>
            <a:srgbClr val="93C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480188" y="1956816"/>
            <a:ext cx="156667" cy="548640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1636855" y="1956816"/>
            <a:ext cx="52222" cy="54864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2920" y="3127248"/>
            <a:ext cx="11186160" cy="237744"/>
          </a:xfrm>
          <a:prstGeom prst="rect">
            <a:avLst/>
          </a:prstGeom>
          <a:noFill/>
        </p:spPr>
        <p:txBody>
          <a:bodyPr wrap="none" lIns="25400" rIns="25400" tIns="12700" bIns="1270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Montserrat"/>
              </a:rPr>
              <a:t>Billing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" y="3374136"/>
            <a:ext cx="5483352" cy="182880"/>
          </a:xfrm>
          <a:prstGeom prst="rect">
            <a:avLst/>
          </a:prstGeom>
          <a:noFill/>
        </p:spPr>
        <p:txBody>
          <a:bodyPr wrap="none" lIns="25400" rIns="25400" tIns="12700" bIns="12700">
            <a:spAutoFit/>
          </a:bodyPr>
          <a:lstStyle/>
          <a:p>
            <a:pPr algn="l"/>
            <a:r>
              <a:rPr sz="800" b="0">
                <a:solidFill>
                  <a:srgbClr val="8A9BB5"/>
                </a:solidFill>
                <a:latin typeface="Montserrat"/>
              </a:rPr>
              <a:t>25 lost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2920" y="3547872"/>
            <a:ext cx="1316004" cy="54864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3500" rIns="6350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Montserrat"/>
              </a:rPr>
              <a:t>No Business Issue 24%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818924" y="3547872"/>
            <a:ext cx="1096670" cy="548640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3500" rIns="6350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Montserrat"/>
              </a:rPr>
              <a:t>Not the Right Time 20%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915594" y="3547872"/>
            <a:ext cx="1096670" cy="548640"/>
          </a:xfrm>
          <a:prstGeom prst="rect">
            <a:avLst/>
          </a:prstGeom>
          <a:solidFill>
            <a:srgbClr val="1D4E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3500" rIns="6350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Montserrat"/>
              </a:rPr>
              <a:t>Non-Responsive 20%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012264" y="3547872"/>
            <a:ext cx="877336" cy="548640"/>
          </a:xfrm>
          <a:prstGeom prst="rect">
            <a:avLst/>
          </a:prstGeom>
          <a:solidFill>
            <a:srgbClr val="86EF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889600" y="3547872"/>
            <a:ext cx="438668" cy="548640"/>
          </a:xfrm>
          <a:prstGeom prst="rect">
            <a:avLst/>
          </a:prstGeom>
          <a:solidFill>
            <a:srgbClr val="52B7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328268" y="3547872"/>
            <a:ext cx="438668" cy="54864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5766936" y="3547872"/>
            <a:ext cx="219334" cy="548640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205728" y="3374136"/>
            <a:ext cx="5483352" cy="182880"/>
          </a:xfrm>
          <a:prstGeom prst="rect">
            <a:avLst/>
          </a:prstGeom>
          <a:noFill/>
        </p:spPr>
        <p:txBody>
          <a:bodyPr wrap="none" lIns="25400" rIns="25400" tIns="12700" bIns="12700">
            <a:spAutoFit/>
          </a:bodyPr>
          <a:lstStyle/>
          <a:p>
            <a:pPr algn="l"/>
            <a:r>
              <a:rPr sz="800" b="0">
                <a:solidFill>
                  <a:srgbClr val="8A9BB5"/>
                </a:solidFill>
                <a:latin typeface="Montserrat"/>
              </a:rPr>
              <a:t>27 lost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205728" y="3547872"/>
            <a:ext cx="2030871" cy="548640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3500" rIns="6350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Montserrat"/>
              </a:rPr>
              <a:t>Not the Right Time 37%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236599" y="3547872"/>
            <a:ext cx="1218522" cy="548640"/>
          </a:xfrm>
          <a:prstGeom prst="rect">
            <a:avLst/>
          </a:prstGeom>
          <a:solidFill>
            <a:srgbClr val="52B7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3500" rIns="6350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Montserrat"/>
              </a:rPr>
              <a:t>Price 22%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455121" y="3547872"/>
            <a:ext cx="812348" cy="548640"/>
          </a:xfrm>
          <a:prstGeom prst="rect">
            <a:avLst/>
          </a:prstGeom>
          <a:solidFill>
            <a:srgbClr val="86EF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3500" rIns="6350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Montserrat"/>
              </a:rPr>
              <a:t>15%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0267469" y="3547872"/>
            <a:ext cx="812348" cy="548640"/>
          </a:xfrm>
          <a:prstGeom prst="rect">
            <a:avLst/>
          </a:prstGeom>
          <a:solidFill>
            <a:srgbClr val="9D6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1079817" y="3547872"/>
            <a:ext cx="406174" cy="54864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11485991" y="3547872"/>
            <a:ext cx="203087" cy="54864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502920" y="4315968"/>
            <a:ext cx="4754880" cy="347472"/>
          </a:xfrm>
          <a:prstGeom prst="rect">
            <a:avLst/>
          </a:prstGeom>
          <a:solidFill>
            <a:srgbClr val="0C3A1E"/>
          </a:solidFill>
          <a:ln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7000" tIns="50800"/>
          <a:lstStyle/>
          <a:p>
            <a:pPr algn="ctr"/>
            <a:r>
              <a:rPr sz="1000" b="1">
                <a:solidFill>
                  <a:srgbClr val="16A34A"/>
                </a:solidFill>
                <a:latin typeface="Montserrat"/>
              </a:rPr>
              <a:t>✓  PSA 2.0 Discovery No-Show rate improved: 40% → 33%  (-7pts MoM)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02920" y="4873752"/>
            <a:ext cx="91440" cy="9144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40080" y="4828032"/>
            <a:ext cx="5428488" cy="182880"/>
          </a:xfrm>
          <a:prstGeom prst="rect">
            <a:avLst/>
          </a:prstGeom>
          <a:noFill/>
        </p:spPr>
        <p:txBody>
          <a:bodyPr wrap="none" lIns="25400" rIns="25400" tIns="12700" bIns="12700">
            <a:spAutoFit/>
          </a:bodyPr>
          <a:lstStyle/>
          <a:p>
            <a:pPr algn="l"/>
            <a:r>
              <a:rPr sz="900" b="0">
                <a:solidFill>
                  <a:srgbClr val="8A9BB5"/>
                </a:solidFill>
                <a:latin typeface="Montserrat"/>
              </a:rPr>
              <a:t>Discovery No Show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096000" y="4873752"/>
            <a:ext cx="91440" cy="91440"/>
          </a:xfrm>
          <a:prstGeom prst="rect">
            <a:avLst/>
          </a:prstGeom>
          <a:solidFill>
            <a:srgbClr val="1D4E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233160" y="4828032"/>
            <a:ext cx="5428488" cy="182880"/>
          </a:xfrm>
          <a:prstGeom prst="rect">
            <a:avLst/>
          </a:prstGeom>
          <a:noFill/>
        </p:spPr>
        <p:txBody>
          <a:bodyPr wrap="none" lIns="25400" rIns="25400" tIns="12700" bIns="12700">
            <a:spAutoFit/>
          </a:bodyPr>
          <a:lstStyle/>
          <a:p>
            <a:pPr algn="l"/>
            <a:r>
              <a:rPr sz="900" b="0">
                <a:solidFill>
                  <a:srgbClr val="8A9BB5"/>
                </a:solidFill>
                <a:latin typeface="Montserrat"/>
              </a:rPr>
              <a:t>No Decision / Non-Responsive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02920" y="5056632"/>
            <a:ext cx="91440" cy="91440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40080" y="5010912"/>
            <a:ext cx="5428488" cy="182880"/>
          </a:xfrm>
          <a:prstGeom prst="rect">
            <a:avLst/>
          </a:prstGeom>
          <a:noFill/>
        </p:spPr>
        <p:txBody>
          <a:bodyPr wrap="none" lIns="25400" rIns="25400" tIns="12700" bIns="12700">
            <a:spAutoFit/>
          </a:bodyPr>
          <a:lstStyle/>
          <a:p>
            <a:pPr algn="l"/>
            <a:r>
              <a:rPr sz="900" b="0">
                <a:solidFill>
                  <a:srgbClr val="8A9BB5"/>
                </a:solidFill>
                <a:latin typeface="Montserrat"/>
              </a:rPr>
              <a:t>Not the Right Time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096000" y="5056632"/>
            <a:ext cx="91440" cy="91440"/>
          </a:xfrm>
          <a:prstGeom prst="rect">
            <a:avLst/>
          </a:prstGeom>
          <a:solidFill>
            <a:srgbClr val="9D6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233160" y="5010912"/>
            <a:ext cx="5428488" cy="182880"/>
          </a:xfrm>
          <a:prstGeom prst="rect">
            <a:avLst/>
          </a:prstGeom>
          <a:noFill/>
        </p:spPr>
        <p:txBody>
          <a:bodyPr wrap="none" lIns="25400" rIns="25400" tIns="12700" bIns="12700">
            <a:spAutoFit/>
          </a:bodyPr>
          <a:lstStyle/>
          <a:p>
            <a:pPr algn="l"/>
            <a:r>
              <a:rPr sz="900" b="0">
                <a:solidFill>
                  <a:srgbClr val="8A9BB5"/>
                </a:solidFill>
                <a:latin typeface="Montserrat"/>
              </a:rPr>
              <a:t>Software Missing Capabilities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02920" y="5239512"/>
            <a:ext cx="91440" cy="9144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40080" y="5193792"/>
            <a:ext cx="5428488" cy="182880"/>
          </a:xfrm>
          <a:prstGeom prst="rect">
            <a:avLst/>
          </a:prstGeom>
          <a:noFill/>
        </p:spPr>
        <p:txBody>
          <a:bodyPr wrap="none" lIns="25400" rIns="25400" tIns="12700" bIns="12700">
            <a:spAutoFit/>
          </a:bodyPr>
          <a:lstStyle/>
          <a:p>
            <a:pPr algn="l"/>
            <a:r>
              <a:rPr sz="900" b="0">
                <a:solidFill>
                  <a:srgbClr val="8A9BB5"/>
                </a:solidFill>
                <a:latin typeface="Montserrat"/>
              </a:rPr>
              <a:t>No Business Issue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096000" y="5239512"/>
            <a:ext cx="91440" cy="91440"/>
          </a:xfrm>
          <a:prstGeom prst="rect">
            <a:avLst/>
          </a:prstGeom>
          <a:solidFill>
            <a:srgbClr val="52B7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233160" y="5193792"/>
            <a:ext cx="5428488" cy="182880"/>
          </a:xfrm>
          <a:prstGeom prst="rect">
            <a:avLst/>
          </a:prstGeom>
          <a:noFill/>
        </p:spPr>
        <p:txBody>
          <a:bodyPr wrap="none" lIns="25400" rIns="25400" tIns="12700" bIns="12700">
            <a:spAutoFit/>
          </a:bodyPr>
          <a:lstStyle/>
          <a:p>
            <a:pPr algn="l"/>
            <a:r>
              <a:rPr sz="900" b="0">
                <a:solidFill>
                  <a:srgbClr val="8A9BB5"/>
                </a:solidFill>
                <a:latin typeface="Montserrat"/>
              </a:rPr>
              <a:t>Price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02920" y="5422392"/>
            <a:ext cx="91440" cy="9144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40080" y="5376672"/>
            <a:ext cx="5428488" cy="182880"/>
          </a:xfrm>
          <a:prstGeom prst="rect">
            <a:avLst/>
          </a:prstGeom>
          <a:noFill/>
        </p:spPr>
        <p:txBody>
          <a:bodyPr wrap="none" lIns="25400" rIns="25400" tIns="12700" bIns="12700">
            <a:spAutoFit/>
          </a:bodyPr>
          <a:lstStyle/>
          <a:p>
            <a:pPr algn="l"/>
            <a:r>
              <a:rPr sz="900" b="0">
                <a:solidFill>
                  <a:srgbClr val="8A9BB5"/>
                </a:solidFill>
                <a:latin typeface="Montserrat"/>
              </a:rPr>
              <a:t>Lost to Competitor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096000" y="5422392"/>
            <a:ext cx="91440" cy="91440"/>
          </a:xfrm>
          <a:prstGeom prst="rect">
            <a:avLst/>
          </a:prstGeom>
          <a:solidFill>
            <a:srgbClr val="93C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233160" y="5376672"/>
            <a:ext cx="5428488" cy="182880"/>
          </a:xfrm>
          <a:prstGeom prst="rect">
            <a:avLst/>
          </a:prstGeom>
          <a:noFill/>
        </p:spPr>
        <p:txBody>
          <a:bodyPr wrap="none" lIns="25400" rIns="25400" tIns="12700" bIns="12700">
            <a:spAutoFit/>
          </a:bodyPr>
          <a:lstStyle/>
          <a:p>
            <a:pPr algn="l"/>
            <a:r>
              <a:rPr sz="900" b="0">
                <a:solidFill>
                  <a:srgbClr val="8A9BB5"/>
                </a:solidFill>
                <a:latin typeface="Montserrat"/>
              </a:rPr>
              <a:t>In existing contract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02920" y="5605272"/>
            <a:ext cx="91440" cy="91440"/>
          </a:xfrm>
          <a:prstGeom prst="rect">
            <a:avLst/>
          </a:prstGeom>
          <a:solidFill>
            <a:srgbClr val="86EF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40080" y="5559552"/>
            <a:ext cx="5428488" cy="182880"/>
          </a:xfrm>
          <a:prstGeom prst="rect">
            <a:avLst/>
          </a:prstGeom>
          <a:noFill/>
        </p:spPr>
        <p:txBody>
          <a:bodyPr wrap="none" lIns="25400" rIns="25400" tIns="12700" bIns="12700">
            <a:spAutoFit/>
          </a:bodyPr>
          <a:lstStyle/>
          <a:p>
            <a:pPr algn="l"/>
            <a:r>
              <a:rPr sz="900" b="0">
                <a:solidFill>
                  <a:srgbClr val="8A9BB5"/>
                </a:solidFill>
                <a:latin typeface="Montserrat"/>
              </a:rPr>
              <a:t>Lack of Decision Maker Involvement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096000" y="5605272"/>
            <a:ext cx="91440" cy="91440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233160" y="5559552"/>
            <a:ext cx="5428488" cy="182880"/>
          </a:xfrm>
          <a:prstGeom prst="rect">
            <a:avLst/>
          </a:prstGeom>
          <a:noFill/>
        </p:spPr>
        <p:txBody>
          <a:bodyPr wrap="none" lIns="25400" rIns="25400" tIns="12700" bIns="12700">
            <a:spAutoFit/>
          </a:bodyPr>
          <a:lstStyle/>
          <a:p>
            <a:pPr algn="l"/>
            <a:r>
              <a:rPr sz="900" b="0">
                <a:solidFill>
                  <a:srgbClr val="8A9BB5"/>
                </a:solidFill>
                <a:latin typeface="Montserrat"/>
              </a:rPr>
              <a:t>Not Right Customer Type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02920" y="6601968"/>
            <a:ext cx="11186160" cy="201168"/>
          </a:xfrm>
          <a:prstGeom prst="rect">
            <a:avLst/>
          </a:prstGeom>
          <a:noFill/>
        </p:spPr>
        <p:txBody>
          <a:bodyPr wrap="none" lIns="25400" rIns="25400" tIns="12700" bIns="12700">
            <a:spAutoFit/>
          </a:bodyPr>
          <a:lstStyle/>
          <a:p>
            <a:pPr algn="r"/>
            <a:r>
              <a:rPr sz="900" b="0">
                <a:solidFill>
                  <a:srgbClr val="2D4A6A"/>
                </a:solidFill>
                <a:latin typeface="Montserrat"/>
              </a:rPr>
              <a:t>Rev.io  ·  Board Presentation 2026  ·  Data as of Mar 19,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D4E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8A9BB5"/>
                </a:solidFill>
              </a:rPr>
              <a:t>Rev.io  ·  Sales Intelligence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274320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</a:rPr>
              <a:t>Closed Loss — Feb vs March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0" y="73152"/>
            <a:ext cx="3383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>
                <a:solidFill>
                  <a:srgbClr val="8A9BB5"/>
                </a:solidFill>
              </a:rPr>
              <a:t>MARCH 23, 2026  ·  SALESFORCE 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749808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A9BB5"/>
                </a:solidFill>
              </a:rPr>
              <a:t>210 losses in February  ·  165 losses in March  ·  21% reduction MoM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143000"/>
            <a:ext cx="2651760" cy="1188720"/>
          </a:xfrm>
          <a:prstGeom prst="rect">
            <a:avLst/>
          </a:prstGeom>
          <a:solidFill>
            <a:srgbClr val="0D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1143000"/>
            <a:ext cx="45720" cy="1188720"/>
          </a:xfrm>
          <a:prstGeom prst="rect">
            <a:avLst/>
          </a:prstGeom>
          <a:solidFill>
            <a:srgbClr val="52B7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79" y="118872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8A9BB5"/>
                </a:solidFill>
              </a:rPr>
              <a:t>TOTAL LOSSES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79" y="1417320"/>
            <a:ext cx="2377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52B788"/>
                </a:solidFill>
              </a:rPr>
              <a:t>210 → 165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79" y="181051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</a:rPr>
              <a:t>↓ 45  (-21%)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108960" y="1143000"/>
            <a:ext cx="2651760" cy="1188720"/>
          </a:xfrm>
          <a:prstGeom prst="rect">
            <a:avLst/>
          </a:prstGeom>
          <a:solidFill>
            <a:srgbClr val="0D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108960" y="1143000"/>
            <a:ext cx="45720" cy="1188720"/>
          </a:xfrm>
          <a:prstGeom prst="rect">
            <a:avLst/>
          </a:prstGeom>
          <a:solidFill>
            <a:srgbClr val="52B7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46120" y="118872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8A9BB5"/>
                </a:solidFill>
              </a:rPr>
              <a:t>DISCOVERY NO-SHOW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46120" y="1417320"/>
            <a:ext cx="2377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52B788"/>
                </a:solidFill>
              </a:rPr>
              <a:t>69 → 38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46120" y="181051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</a:rPr>
              <a:t>↓ 31  (-45%)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943600" y="1143000"/>
            <a:ext cx="2651760" cy="1188720"/>
          </a:xfrm>
          <a:prstGeom prst="rect">
            <a:avLst/>
          </a:prstGeom>
          <a:solidFill>
            <a:srgbClr val="0D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943600" y="1143000"/>
            <a:ext cx="45720" cy="118872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80760" y="118872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8A9BB5"/>
                </a:solidFill>
              </a:rPr>
              <a:t>PRICE OBJECTIONS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80760" y="1417320"/>
            <a:ext cx="2377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DC2626"/>
                </a:solidFill>
              </a:rPr>
              <a:t>11 → 21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80760" y="181051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</a:rPr>
              <a:t>↑ 10  (+91%)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778240" y="1143000"/>
            <a:ext cx="2651760" cy="1188720"/>
          </a:xfrm>
          <a:prstGeom prst="rect">
            <a:avLst/>
          </a:prstGeom>
          <a:solidFill>
            <a:srgbClr val="0D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778240" y="1143000"/>
            <a:ext cx="45720" cy="118872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915400" y="118872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8A9BB5"/>
                </a:solidFill>
              </a:rPr>
              <a:t>LACK OF DM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15400" y="1417320"/>
            <a:ext cx="2377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DC2626"/>
                </a:solidFill>
              </a:rPr>
              <a:t>12 → 18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15400" y="181051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</a:rPr>
              <a:t>↑ 6  (+50%)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74320" y="2468880"/>
            <a:ext cx="11640312" cy="256032"/>
          </a:xfrm>
          <a:prstGeom prst="rect">
            <a:avLst/>
          </a:prstGeom>
          <a:solidFill>
            <a:srgbClr val="1D4E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10896" y="2487168"/>
            <a:ext cx="2788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FFFFFF"/>
                </a:solidFill>
              </a:rPr>
              <a:t>Loss Reason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191256" y="2487168"/>
            <a:ext cx="685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FFFFFF"/>
                </a:solidFill>
              </a:rPr>
              <a:t>Feb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968496" y="2487168"/>
            <a:ext cx="594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FFFFFF"/>
                </a:solidFill>
              </a:rPr>
              <a:t>Feb 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54296" y="2487168"/>
            <a:ext cx="6400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FFFFFF"/>
                </a:solidFill>
              </a:rPr>
              <a:t>Mar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385816" y="2487168"/>
            <a:ext cx="6400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FFFFFF"/>
                </a:solidFill>
              </a:rPr>
              <a:t>Mar 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17336" y="2487168"/>
            <a:ext cx="19659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FFFFFF"/>
                </a:solidFill>
              </a:rPr>
              <a:t>Change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74736" y="2487168"/>
            <a:ext cx="38404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FFFFFF"/>
                </a:solidFill>
              </a:rPr>
              <a:t>Signal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74320" y="2743200"/>
            <a:ext cx="11640312" cy="27432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10896" y="2788920"/>
            <a:ext cx="2743200" cy="2011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FFFFFF"/>
                </a:solidFill>
              </a:rPr>
              <a:t>Total Closed Lost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191256" y="2788920"/>
            <a:ext cx="640080" cy="2011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8A9BB5"/>
                </a:solidFill>
              </a:rPr>
              <a:t>210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968496" y="2788920"/>
            <a:ext cx="548640" cy="2011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8A9BB5"/>
                </a:solidFill>
              </a:rPr>
              <a:t>—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654296" y="2788920"/>
            <a:ext cx="594359" cy="2011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8A9BB5"/>
                </a:solidFill>
              </a:rPr>
              <a:t>165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385816" y="2788920"/>
            <a:ext cx="594359" cy="2011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8A9BB5"/>
                </a:solidFill>
              </a:rPr>
              <a:t>—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117336" y="2788920"/>
            <a:ext cx="1920240" cy="2011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52B788"/>
                </a:solidFill>
              </a:rPr>
              <a:t>↓ 45  (-21%)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74736" y="2788920"/>
            <a:ext cx="3794760" cy="2011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52B788"/>
                </a:solidFill>
              </a:rPr>
              <a:t>Fewer losses overall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74320" y="3017520"/>
            <a:ext cx="11640312" cy="274320"/>
          </a:xfrm>
          <a:prstGeom prst="rect">
            <a:avLst/>
          </a:prstGeom>
          <a:solidFill>
            <a:srgbClr val="091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10896" y="3063239"/>
            <a:ext cx="2743200" cy="2011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FFFFFF"/>
                </a:solidFill>
              </a:rPr>
              <a:t>Discovery No Show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191256" y="3063239"/>
            <a:ext cx="640080" cy="2011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8A9BB5"/>
                </a:solidFill>
              </a:rPr>
              <a:t>69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968496" y="3063239"/>
            <a:ext cx="548640" cy="2011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8A9BB5"/>
                </a:solidFill>
              </a:rPr>
              <a:t>32.9%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654296" y="3063239"/>
            <a:ext cx="594359" cy="2011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8A9BB5"/>
                </a:solidFill>
              </a:rPr>
              <a:t>38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385816" y="3063239"/>
            <a:ext cx="594359" cy="2011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8A9BB5"/>
                </a:solidFill>
              </a:rPr>
              <a:t>23.0%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117336" y="3063239"/>
            <a:ext cx="1920240" cy="2011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52B788"/>
                </a:solidFill>
              </a:rPr>
              <a:t>↓ 31  (-45%)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174736" y="3063239"/>
            <a:ext cx="3794760" cy="2011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52B788"/>
                </a:solidFill>
              </a:rPr>
              <a:t>Big improvement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74320" y="3291840"/>
            <a:ext cx="11640312" cy="27432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10896" y="3337560"/>
            <a:ext cx="2743200" cy="2011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FFFFFF"/>
                </a:solidFill>
              </a:rPr>
              <a:t>No Decision / Non-Responsive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191256" y="3337560"/>
            <a:ext cx="640080" cy="2011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8A9BB5"/>
                </a:solidFill>
              </a:rPr>
              <a:t>32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968496" y="3337560"/>
            <a:ext cx="548640" cy="2011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8A9BB5"/>
                </a:solidFill>
              </a:rPr>
              <a:t>15.2%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654296" y="3337560"/>
            <a:ext cx="594359" cy="2011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8A9BB5"/>
                </a:solidFill>
              </a:rPr>
              <a:t>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385816" y="3337560"/>
            <a:ext cx="594359" cy="2011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8A9BB5"/>
                </a:solidFill>
              </a:rPr>
              <a:t>0%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117336" y="3337560"/>
            <a:ext cx="1920240" cy="2011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52B788"/>
                </a:solidFill>
              </a:rPr>
              <a:t>↓ 32  (-100%)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174736" y="3337560"/>
            <a:ext cx="3794760" cy="2011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52B788"/>
                </a:solidFill>
              </a:rPr>
              <a:t>Category cleared</a:t>
            </a:r>
          </a:p>
        </p:txBody>
      </p:sp>
      <p:sp>
        <p:nvSpPr>
          <p:cNvPr id="59" name="Rectangle 58"/>
          <p:cNvSpPr/>
          <p:nvPr/>
        </p:nvSpPr>
        <p:spPr>
          <a:xfrm>
            <a:off x="274320" y="3566160"/>
            <a:ext cx="11640312" cy="274320"/>
          </a:xfrm>
          <a:prstGeom prst="rect">
            <a:avLst/>
          </a:prstGeom>
          <a:solidFill>
            <a:srgbClr val="091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10896" y="3611879"/>
            <a:ext cx="2743200" cy="2011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FFFFFF"/>
                </a:solidFill>
              </a:rPr>
              <a:t>Not the Right Time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191256" y="3611879"/>
            <a:ext cx="640080" cy="2011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8A9BB5"/>
                </a:solidFill>
              </a:rPr>
              <a:t>29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968496" y="3611879"/>
            <a:ext cx="548640" cy="2011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8A9BB5"/>
                </a:solidFill>
              </a:rPr>
              <a:t>13.8%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654296" y="3611879"/>
            <a:ext cx="594359" cy="2011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8A9BB5"/>
                </a:solidFill>
              </a:rPr>
              <a:t>30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385816" y="3611879"/>
            <a:ext cx="594359" cy="2011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8A9BB5"/>
                </a:solidFill>
              </a:rPr>
              <a:t>18.2%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117336" y="3611879"/>
            <a:ext cx="1920240" cy="2011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F59E0B"/>
                </a:solidFill>
              </a:rPr>
              <a:t>↑ 1  (+4.4pts)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174736" y="3611879"/>
            <a:ext cx="3794760" cy="2011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F59E0B"/>
                </a:solidFill>
              </a:rPr>
              <a:t>Slight increase</a:t>
            </a:r>
          </a:p>
        </p:txBody>
      </p:sp>
      <p:sp>
        <p:nvSpPr>
          <p:cNvPr id="67" name="Rectangle 66"/>
          <p:cNvSpPr/>
          <p:nvPr/>
        </p:nvSpPr>
        <p:spPr>
          <a:xfrm>
            <a:off x="274320" y="3840480"/>
            <a:ext cx="11640312" cy="27432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310896" y="3886200"/>
            <a:ext cx="2743200" cy="2011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FFFFFF"/>
                </a:solidFill>
              </a:rPr>
              <a:t>Price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191256" y="3886200"/>
            <a:ext cx="640080" cy="2011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8A9BB5"/>
                </a:solidFill>
              </a:rPr>
              <a:t>11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968496" y="3886200"/>
            <a:ext cx="548640" cy="2011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8A9BB5"/>
                </a:solidFill>
              </a:rPr>
              <a:t>5.2%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654296" y="3886200"/>
            <a:ext cx="594359" cy="2011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8A9BB5"/>
                </a:solidFill>
              </a:rPr>
              <a:t>21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385816" y="3886200"/>
            <a:ext cx="594359" cy="2011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8A9BB5"/>
                </a:solidFill>
              </a:rPr>
              <a:t>12.7%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117336" y="3886200"/>
            <a:ext cx="1920240" cy="2011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DC2626"/>
                </a:solidFill>
              </a:rPr>
              <a:t>↑ 10  (+7.5pts)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174736" y="3886200"/>
            <a:ext cx="3794760" cy="2011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DC2626"/>
                </a:solidFill>
              </a:rPr>
              <a:t>⚠ Biggest mover</a:t>
            </a:r>
          </a:p>
        </p:txBody>
      </p:sp>
      <p:sp>
        <p:nvSpPr>
          <p:cNvPr id="75" name="Rectangle 74"/>
          <p:cNvSpPr/>
          <p:nvPr/>
        </p:nvSpPr>
        <p:spPr>
          <a:xfrm>
            <a:off x="274320" y="4114800"/>
            <a:ext cx="11640312" cy="274320"/>
          </a:xfrm>
          <a:prstGeom prst="rect">
            <a:avLst/>
          </a:prstGeom>
          <a:solidFill>
            <a:srgbClr val="091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310896" y="4160520"/>
            <a:ext cx="2743200" cy="2011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FFFFFF"/>
                </a:solidFill>
              </a:rPr>
              <a:t>Missing Capabilities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3191256" y="4160520"/>
            <a:ext cx="640080" cy="2011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8A9BB5"/>
                </a:solidFill>
              </a:rPr>
              <a:t>18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3968496" y="4160520"/>
            <a:ext cx="548640" cy="2011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8A9BB5"/>
                </a:solidFill>
              </a:rPr>
              <a:t>8.6%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654296" y="4160520"/>
            <a:ext cx="594359" cy="2011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8A9BB5"/>
                </a:solidFill>
              </a:rPr>
              <a:t>25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5385816" y="4160520"/>
            <a:ext cx="594359" cy="2011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8A9BB5"/>
                </a:solidFill>
              </a:rPr>
              <a:t>15.2%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117336" y="4160520"/>
            <a:ext cx="1920240" cy="2011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DC2626"/>
                </a:solidFill>
              </a:rPr>
              <a:t>↑ 7  (+6.6pts)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8174736" y="4160520"/>
            <a:ext cx="3794760" cy="2011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DC2626"/>
                </a:solidFill>
              </a:rPr>
              <a:t>⚠ Escalating</a:t>
            </a:r>
          </a:p>
        </p:txBody>
      </p:sp>
      <p:sp>
        <p:nvSpPr>
          <p:cNvPr id="83" name="Rectangle 82"/>
          <p:cNvSpPr/>
          <p:nvPr/>
        </p:nvSpPr>
        <p:spPr>
          <a:xfrm>
            <a:off x="274320" y="4389120"/>
            <a:ext cx="11640312" cy="27432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310896" y="4434840"/>
            <a:ext cx="2743200" cy="2011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FFFFFF"/>
                </a:solidFill>
              </a:rPr>
              <a:t>Lack of Decision Maker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3191256" y="4434840"/>
            <a:ext cx="640080" cy="2011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8A9BB5"/>
                </a:solidFill>
              </a:rPr>
              <a:t>12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3968496" y="4434840"/>
            <a:ext cx="548640" cy="2011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8A9BB5"/>
                </a:solidFill>
              </a:rPr>
              <a:t>5.7%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4654296" y="4434840"/>
            <a:ext cx="594359" cy="2011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8A9BB5"/>
                </a:solidFill>
              </a:rPr>
              <a:t>18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385816" y="4434840"/>
            <a:ext cx="594359" cy="2011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8A9BB5"/>
                </a:solidFill>
              </a:rPr>
              <a:t>10.9%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117336" y="4434840"/>
            <a:ext cx="1920240" cy="2011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DC2626"/>
                </a:solidFill>
              </a:rPr>
              <a:t>↑ 6  (+5.2pts)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8174736" y="4434840"/>
            <a:ext cx="3794760" cy="2011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DC2626"/>
                </a:solidFill>
              </a:rPr>
              <a:t>⚠ Escalating</a:t>
            </a:r>
          </a:p>
        </p:txBody>
      </p:sp>
      <p:sp>
        <p:nvSpPr>
          <p:cNvPr id="91" name="Rectangle 90"/>
          <p:cNvSpPr/>
          <p:nvPr/>
        </p:nvSpPr>
        <p:spPr>
          <a:xfrm>
            <a:off x="274320" y="4663440"/>
            <a:ext cx="11640312" cy="274320"/>
          </a:xfrm>
          <a:prstGeom prst="rect">
            <a:avLst/>
          </a:prstGeom>
          <a:solidFill>
            <a:srgbClr val="091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310896" y="4709159"/>
            <a:ext cx="2743200" cy="2011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FFFFFF"/>
                </a:solidFill>
              </a:rPr>
              <a:t>Lost to Competitor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191256" y="4709159"/>
            <a:ext cx="640080" cy="2011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8A9BB5"/>
                </a:solidFill>
              </a:rPr>
              <a:t>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3968496" y="4709159"/>
            <a:ext cx="548640" cy="2011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8A9BB5"/>
                </a:solidFill>
              </a:rPr>
              <a:t>2.9%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654296" y="4709159"/>
            <a:ext cx="594359" cy="2011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8A9BB5"/>
                </a:solidFill>
              </a:rP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5385816" y="4709159"/>
            <a:ext cx="594359" cy="2011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8A9BB5"/>
                </a:solidFill>
              </a:rPr>
              <a:t>0.6%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6117336" y="4709159"/>
            <a:ext cx="1920240" cy="2011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52B788"/>
                </a:solidFill>
              </a:rPr>
              <a:t>↓ 5  (-2.3pts)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8174736" y="4709159"/>
            <a:ext cx="3794760" cy="2011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52B788"/>
                </a:solidFill>
              </a:rPr>
              <a:t>Near zero</a:t>
            </a:r>
          </a:p>
        </p:txBody>
      </p:sp>
      <p:sp>
        <p:nvSpPr>
          <p:cNvPr id="99" name="Rectangle 98"/>
          <p:cNvSpPr/>
          <p:nvPr/>
        </p:nvSpPr>
        <p:spPr>
          <a:xfrm>
            <a:off x="0" y="6693408"/>
            <a:ext cx="12188952" cy="164592"/>
          </a:xfrm>
          <a:prstGeom prst="rect">
            <a:avLst/>
          </a:prstGeom>
          <a:solidFill>
            <a:srgbClr val="091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274320" y="6702552"/>
            <a:ext cx="91440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8A9BB5"/>
                </a:solidFill>
              </a:rPr>
              <a:t>Rev.io  ·  Board Presentation 2026  ·  Data as of Mar 23, 2026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9144000" y="6702552"/>
            <a:ext cx="27432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>
                <a:solidFill>
                  <a:srgbClr val="8A9BB5"/>
                </a:solidFill>
              </a:rPr>
              <a:t>ROBIN  ·  CONFIDENTIAL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D4E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8A9BB5"/>
                </a:solidFill>
              </a:rPr>
              <a:t>Rev.io  ·  Sales Intelligence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274320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</a:rPr>
              <a:t>% Variance by Loss Reason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0" y="73152"/>
            <a:ext cx="3383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>
                <a:solidFill>
                  <a:srgbClr val="8A9BB5"/>
                </a:solidFill>
              </a:rPr>
              <a:t>MARCH 23, 2026  ·  SALESFORCE 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749808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A9BB5"/>
                </a:solidFill>
              </a:rPr>
              <a:t>All categories  ·  % of total monthly losses  ·  Feb vs March 2026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078992"/>
            <a:ext cx="11640312" cy="256032"/>
          </a:xfrm>
          <a:prstGeom prst="rect">
            <a:avLst/>
          </a:prstGeom>
          <a:solidFill>
            <a:srgbClr val="1D4E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10896" y="1097280"/>
            <a:ext cx="2788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FFFFFF"/>
                </a:solidFill>
              </a:rPr>
              <a:t>Loss Reason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91256" y="1097280"/>
            <a:ext cx="685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FFFFFF"/>
                </a:solidFill>
              </a:rPr>
              <a:t>Feb #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68496" y="1097280"/>
            <a:ext cx="6400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FFFFFF"/>
                </a:solidFill>
              </a:rPr>
              <a:t>Feb 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00016" y="1097280"/>
            <a:ext cx="6400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FFFFFF"/>
                </a:solidFill>
              </a:rPr>
              <a:t>Mar #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31536" y="1097280"/>
            <a:ext cx="6400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FFFFFF"/>
                </a:solidFill>
              </a:rPr>
              <a:t>Mar 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08776" y="1097280"/>
            <a:ext cx="21488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FFFFFF"/>
                </a:solidFill>
              </a:rPr>
              <a:t>% Pt Change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49055" y="1097280"/>
            <a:ext cx="36576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FFFFFF"/>
                </a:solidFill>
              </a:rPr>
              <a:t>Trend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" y="1335024"/>
            <a:ext cx="11640312" cy="18288"/>
          </a:xfrm>
          <a:prstGeom prst="rect">
            <a:avLst/>
          </a:prstGeom>
          <a:solidFill>
            <a:srgbClr val="1D4E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74320" y="1371600"/>
            <a:ext cx="11640312" cy="438912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10896" y="1463040"/>
            <a:ext cx="2743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</a:rPr>
              <a:t>Discovery No Show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91256" y="1463040"/>
            <a:ext cx="6400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A9BB5"/>
                </a:solidFill>
              </a:rPr>
              <a:t>69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68496" y="1463040"/>
            <a:ext cx="594359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A9BB5"/>
                </a:solidFill>
              </a:rPr>
              <a:t>32.9%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00016" y="1463040"/>
            <a:ext cx="594359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A9BB5"/>
                </a:solidFill>
              </a:rPr>
              <a:t>38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31536" y="1463040"/>
            <a:ext cx="594359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A9BB5"/>
                </a:solidFill>
              </a:rPr>
              <a:t>23.0%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08776" y="1463040"/>
            <a:ext cx="21031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2B788"/>
                </a:solidFill>
              </a:rPr>
              <a:t>▼ 9.9 pts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49055" y="1463040"/>
            <a:ext cx="36118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2B788"/>
                </a:solidFill>
              </a:rPr>
              <a:t>Improving ✓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4320" y="1810512"/>
            <a:ext cx="11640312" cy="438912"/>
          </a:xfrm>
          <a:prstGeom prst="rect">
            <a:avLst/>
          </a:prstGeom>
          <a:solidFill>
            <a:srgbClr val="091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10896" y="1901952"/>
            <a:ext cx="2743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</a:rPr>
              <a:t>Not the Right Time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91256" y="1901952"/>
            <a:ext cx="6400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A9BB5"/>
                </a:solidFill>
              </a:rPr>
              <a:t>29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968496" y="1901952"/>
            <a:ext cx="594359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A9BB5"/>
                </a:solidFill>
              </a:rPr>
              <a:t>13.8%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700016" y="1901952"/>
            <a:ext cx="594359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A9BB5"/>
                </a:solidFill>
              </a:rPr>
              <a:t>30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31536" y="1901952"/>
            <a:ext cx="594359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A9BB5"/>
                </a:solidFill>
              </a:rPr>
              <a:t>18.2%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08776" y="1901952"/>
            <a:ext cx="21031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DC2626"/>
                </a:solidFill>
              </a:rPr>
              <a:t>▲ 4.4 pts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49055" y="1901952"/>
            <a:ext cx="36118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DC2626"/>
                </a:solidFill>
              </a:rPr>
              <a:t>Watch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4320" y="2249424"/>
            <a:ext cx="11640312" cy="438912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10896" y="2340864"/>
            <a:ext cx="2743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</a:rPr>
              <a:t>Software Missing Capabilities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191256" y="2340864"/>
            <a:ext cx="6400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A9BB5"/>
                </a:solidFill>
              </a:rPr>
              <a:t>18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968496" y="2340864"/>
            <a:ext cx="594359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A9BB5"/>
                </a:solidFill>
              </a:rPr>
              <a:t>8.6%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700016" y="2340864"/>
            <a:ext cx="594359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A9BB5"/>
                </a:solidFill>
              </a:rPr>
              <a:t>25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31536" y="2340864"/>
            <a:ext cx="594359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A9BB5"/>
                </a:solidFill>
              </a:rPr>
              <a:t>15.2%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08776" y="2340864"/>
            <a:ext cx="21031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DC2626"/>
                </a:solidFill>
              </a:rPr>
              <a:t>▲ 6.6 pts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449055" y="2340864"/>
            <a:ext cx="36118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DC2626"/>
                </a:solidFill>
              </a:rPr>
              <a:t>⚠ Escalating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74320" y="2688336"/>
            <a:ext cx="11640312" cy="438912"/>
          </a:xfrm>
          <a:prstGeom prst="rect">
            <a:avLst/>
          </a:prstGeom>
          <a:solidFill>
            <a:srgbClr val="091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10896" y="2779776"/>
            <a:ext cx="2743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</a:rPr>
              <a:t>Price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191256" y="2779776"/>
            <a:ext cx="6400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A9BB5"/>
                </a:solidFill>
              </a:rPr>
              <a:t>11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968496" y="2779776"/>
            <a:ext cx="594359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A9BB5"/>
                </a:solidFill>
              </a:rPr>
              <a:t>5.2%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700016" y="2779776"/>
            <a:ext cx="594359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A9BB5"/>
                </a:solidFill>
              </a:rPr>
              <a:t>21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431536" y="2779776"/>
            <a:ext cx="594359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A9BB5"/>
                </a:solidFill>
              </a:rPr>
              <a:t>12.7%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208776" y="2779776"/>
            <a:ext cx="21031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DC2626"/>
                </a:solidFill>
              </a:rPr>
              <a:t>▲ 7.5 pts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49055" y="2779776"/>
            <a:ext cx="36118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DC2626"/>
                </a:solidFill>
              </a:rPr>
              <a:t>⚠ Escalating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74320" y="3127248"/>
            <a:ext cx="11640312" cy="438912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10896" y="3218688"/>
            <a:ext cx="2743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</a:rPr>
              <a:t>No Business Issue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191256" y="3218688"/>
            <a:ext cx="6400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A9BB5"/>
                </a:solidFill>
              </a:rPr>
              <a:t>18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968496" y="3218688"/>
            <a:ext cx="594359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A9BB5"/>
                </a:solidFill>
              </a:rPr>
              <a:t>8.6%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700016" y="3218688"/>
            <a:ext cx="594359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A9BB5"/>
                </a:solidFill>
              </a:rPr>
              <a:t>21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431536" y="3218688"/>
            <a:ext cx="594359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A9BB5"/>
                </a:solidFill>
              </a:rPr>
              <a:t>12.7%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208776" y="3218688"/>
            <a:ext cx="21031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DC2626"/>
                </a:solidFill>
              </a:rPr>
              <a:t>▲ 4.1 pts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449055" y="3218688"/>
            <a:ext cx="36118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DC2626"/>
                </a:solidFill>
              </a:rPr>
              <a:t>Watch</a:t>
            </a:r>
          </a:p>
        </p:txBody>
      </p:sp>
      <p:sp>
        <p:nvSpPr>
          <p:cNvPr id="56" name="Rectangle 55"/>
          <p:cNvSpPr/>
          <p:nvPr/>
        </p:nvSpPr>
        <p:spPr>
          <a:xfrm>
            <a:off x="274320" y="3566160"/>
            <a:ext cx="11640312" cy="438912"/>
          </a:xfrm>
          <a:prstGeom prst="rect">
            <a:avLst/>
          </a:prstGeom>
          <a:solidFill>
            <a:srgbClr val="091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10896" y="3657600"/>
            <a:ext cx="2743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</a:rPr>
              <a:t>Lack of Decision Maker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191256" y="3657600"/>
            <a:ext cx="6400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A9BB5"/>
                </a:solidFill>
              </a:rPr>
              <a:t>12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968496" y="3657600"/>
            <a:ext cx="594359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A9BB5"/>
                </a:solidFill>
              </a:rPr>
              <a:t>5.7%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700016" y="3657600"/>
            <a:ext cx="594359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A9BB5"/>
                </a:solidFill>
              </a:rPr>
              <a:t>18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431536" y="3657600"/>
            <a:ext cx="594359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A9BB5"/>
                </a:solidFill>
              </a:rPr>
              <a:t>10.9%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208776" y="3657600"/>
            <a:ext cx="21031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DC2626"/>
                </a:solidFill>
              </a:rPr>
              <a:t>▲ 5.2 pts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449055" y="3657600"/>
            <a:ext cx="36118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DC2626"/>
                </a:solidFill>
              </a:rPr>
              <a:t>⚠ Escalating</a:t>
            </a:r>
          </a:p>
        </p:txBody>
      </p:sp>
      <p:sp>
        <p:nvSpPr>
          <p:cNvPr id="64" name="Rectangle 63"/>
          <p:cNvSpPr/>
          <p:nvPr/>
        </p:nvSpPr>
        <p:spPr>
          <a:xfrm>
            <a:off x="274320" y="4005072"/>
            <a:ext cx="11640312" cy="438912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310896" y="4096511"/>
            <a:ext cx="2743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</a:rPr>
              <a:t>No Decision / Non-Responsive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191256" y="4096511"/>
            <a:ext cx="6400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A9BB5"/>
                </a:solidFill>
              </a:rPr>
              <a:t>32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968496" y="4096511"/>
            <a:ext cx="594359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A9BB5"/>
                </a:solidFill>
              </a:rPr>
              <a:t>15.2%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700016" y="4096511"/>
            <a:ext cx="594359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A9BB5"/>
                </a:solidFill>
              </a:rPr>
              <a:t>0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431536" y="4096511"/>
            <a:ext cx="594359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A9BB5"/>
                </a:solidFill>
              </a:rPr>
              <a:t>0%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208776" y="4096511"/>
            <a:ext cx="21031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2B788"/>
                </a:solidFill>
              </a:rPr>
              <a:t>▼ 15.2 pts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449055" y="4096511"/>
            <a:ext cx="36118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2B788"/>
                </a:solidFill>
              </a:rPr>
              <a:t>Resolved ✓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74320" y="4443983"/>
            <a:ext cx="11640312" cy="438912"/>
          </a:xfrm>
          <a:prstGeom prst="rect">
            <a:avLst/>
          </a:prstGeom>
          <a:solidFill>
            <a:srgbClr val="091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310896" y="4535423"/>
            <a:ext cx="2743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</a:rPr>
              <a:t>In Existing Contract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191256" y="4535423"/>
            <a:ext cx="6400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A9BB5"/>
                </a:solidFill>
              </a:rPr>
              <a:t>8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968496" y="4535423"/>
            <a:ext cx="594359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A9BB5"/>
                </a:solidFill>
              </a:rPr>
              <a:t>3.8%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00016" y="4535423"/>
            <a:ext cx="594359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A9BB5"/>
                </a:solidFill>
              </a:rPr>
              <a:t>8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431536" y="4535423"/>
            <a:ext cx="594359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A9BB5"/>
                </a:solidFill>
              </a:rPr>
              <a:t>4.8%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208776" y="4535423"/>
            <a:ext cx="21031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59E0B"/>
                </a:solidFill>
              </a:rPr>
              <a:t>▲ 1.0 pts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449055" y="4535423"/>
            <a:ext cx="36118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59E0B"/>
                </a:solidFill>
              </a:rPr>
              <a:t>Stable</a:t>
            </a:r>
          </a:p>
        </p:txBody>
      </p:sp>
      <p:sp>
        <p:nvSpPr>
          <p:cNvPr id="80" name="Rectangle 79"/>
          <p:cNvSpPr/>
          <p:nvPr/>
        </p:nvSpPr>
        <p:spPr>
          <a:xfrm>
            <a:off x="274320" y="4882896"/>
            <a:ext cx="11640312" cy="438912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310896" y="4974336"/>
            <a:ext cx="2743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</a:rPr>
              <a:t>Lost to Competitor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191256" y="4974336"/>
            <a:ext cx="6400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A9BB5"/>
                </a:solidFill>
              </a:rPr>
              <a:t>6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968496" y="4974336"/>
            <a:ext cx="594359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A9BB5"/>
                </a:solidFill>
              </a:rPr>
              <a:t>2.9%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700016" y="4974336"/>
            <a:ext cx="594359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A9BB5"/>
                </a:solidFill>
              </a:rPr>
              <a:t>1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431536" y="4974336"/>
            <a:ext cx="594359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A9BB5"/>
                </a:solidFill>
              </a:rPr>
              <a:t>0.6%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208776" y="4974336"/>
            <a:ext cx="21031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2B788"/>
                </a:solidFill>
              </a:rPr>
              <a:t>▼ 2.3 pts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449055" y="4974336"/>
            <a:ext cx="36118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2B788"/>
                </a:solidFill>
              </a:rPr>
              <a:t>Improving ✓</a:t>
            </a:r>
          </a:p>
        </p:txBody>
      </p:sp>
      <p:sp>
        <p:nvSpPr>
          <p:cNvPr id="88" name="Rectangle 87"/>
          <p:cNvSpPr/>
          <p:nvPr/>
        </p:nvSpPr>
        <p:spPr>
          <a:xfrm>
            <a:off x="274320" y="5321808"/>
            <a:ext cx="11640312" cy="438912"/>
          </a:xfrm>
          <a:prstGeom prst="rect">
            <a:avLst/>
          </a:prstGeom>
          <a:solidFill>
            <a:srgbClr val="091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310896" y="5413248"/>
            <a:ext cx="2743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</a:rPr>
              <a:t>Not Right Customer Type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191256" y="5413248"/>
            <a:ext cx="6400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A9BB5"/>
                </a:solidFill>
              </a:rPr>
              <a:t>7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968496" y="5413248"/>
            <a:ext cx="594359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A9BB5"/>
                </a:solidFill>
              </a:rPr>
              <a:t>3.3%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4700016" y="5413248"/>
            <a:ext cx="594359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A9BB5"/>
                </a:solidFill>
              </a:rP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5431536" y="5413248"/>
            <a:ext cx="594359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A9BB5"/>
                </a:solidFill>
              </a:rPr>
              <a:t>1.8%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208776" y="5413248"/>
            <a:ext cx="21031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2B788"/>
                </a:solidFill>
              </a:rPr>
              <a:t>▼ 1.5 pts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8449055" y="5413248"/>
            <a:ext cx="36118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2B788"/>
                </a:solidFill>
              </a:rPr>
              <a:t>Improving ✓</a:t>
            </a:r>
          </a:p>
        </p:txBody>
      </p:sp>
      <p:sp>
        <p:nvSpPr>
          <p:cNvPr id="96" name="Rectangle 95"/>
          <p:cNvSpPr/>
          <p:nvPr/>
        </p:nvSpPr>
        <p:spPr>
          <a:xfrm>
            <a:off x="0" y="6693408"/>
            <a:ext cx="12188952" cy="164592"/>
          </a:xfrm>
          <a:prstGeom prst="rect">
            <a:avLst/>
          </a:prstGeom>
          <a:solidFill>
            <a:srgbClr val="091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274320" y="6702552"/>
            <a:ext cx="91440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8A9BB5"/>
                </a:solidFill>
              </a:rPr>
              <a:t>Rev.io  ·  Board Presentation 2026  ·  Data as of Mar 23, 2026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9144000" y="6702552"/>
            <a:ext cx="27432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>
                <a:solidFill>
                  <a:srgbClr val="8A9BB5"/>
                </a:solidFill>
              </a:rPr>
              <a:t>ROBIN  ·  CONFIDENTIAL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D4E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8A9BB5"/>
                </a:solidFill>
              </a:rPr>
              <a:t>Rev.io  ·  Sales Intelligence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274320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</a:rPr>
              <a:t>Coaching Actions — Loss Reason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0" y="73152"/>
            <a:ext cx="3383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>
                <a:solidFill>
                  <a:srgbClr val="8A9BB5"/>
                </a:solidFill>
              </a:rPr>
              <a:t>MARCH 23, 2026  ·  SALESFORCE 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749808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A9BB5"/>
                </a:solidFill>
              </a:rPr>
              <a:t>Top escalating categories + wins to reinforce  ·  March 2026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078992"/>
            <a:ext cx="11640312" cy="256032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106424"/>
            <a:ext cx="73152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</a:rPr>
              <a:t>⚠  ESCALATING — REQUIRES IMMEDIATE COACHING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1371600"/>
            <a:ext cx="3703320" cy="2423160"/>
          </a:xfrm>
          <a:prstGeom prst="rect">
            <a:avLst/>
          </a:prstGeom>
          <a:solidFill>
            <a:srgbClr val="0D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1371600"/>
            <a:ext cx="3703320" cy="3657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84048" y="1426464"/>
            <a:ext cx="35204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DC2626"/>
                </a:solidFill>
              </a:rPr>
              <a:t>Price  ↑7.5 pts  (5% → 13%)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" y="1810512"/>
            <a:ext cx="352043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>
                <a:solidFill>
                  <a:srgbClr val="8A9BB5"/>
                </a:solidFill>
              </a:rPr>
              <a:t>WHY IT'S HAPPENING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4048" y="1993392"/>
            <a:ext cx="3520439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8A9BB5"/>
                </a:solidFill>
              </a:rPr>
              <a:t>Reps reaching price before establishing value. No ROI foundation means prospects default to cost.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048" y="2624328"/>
            <a:ext cx="352043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>
                <a:solidFill>
                  <a:srgbClr val="FFFFFF"/>
                </a:solidFill>
              </a:rPr>
              <a:t>COACHING ACTION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048" y="2807208"/>
            <a:ext cx="3520439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8A9BB5"/>
                </a:solidFill>
              </a:rPr>
              <a:t>Require cost-of-inaction discussion in every discovery. Script: "Before investment — what is staying on your current system costing you?" No pricing until pain is quantified.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82796" y="1371600"/>
            <a:ext cx="3703320" cy="2423160"/>
          </a:xfrm>
          <a:prstGeom prst="rect">
            <a:avLst/>
          </a:prstGeom>
          <a:solidFill>
            <a:srgbClr val="0D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082796" y="1371600"/>
            <a:ext cx="3703320" cy="3657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92524" y="1426464"/>
            <a:ext cx="35204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DC2626"/>
                </a:solidFill>
              </a:rPr>
              <a:t>Missing Capabilities  ↑6.6 pts  (9% → 15%)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92524" y="1810512"/>
            <a:ext cx="352043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>
                <a:solidFill>
                  <a:srgbClr val="8A9BB5"/>
                </a:solidFill>
              </a:rPr>
              <a:t>WHY IT'S HAPPENING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92524" y="1993392"/>
            <a:ext cx="3520439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8A9BB5"/>
                </a:solidFill>
              </a:rPr>
              <a:t>Real product gap OR reps pitching poor-fit prospects and hitting feature walls mid-cycle.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92524" y="2624328"/>
            <a:ext cx="352043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>
                <a:solidFill>
                  <a:srgbClr val="FFFFFF"/>
                </a:solidFill>
              </a:rPr>
              <a:t>COACHING ACTION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92524" y="2807208"/>
            <a:ext cx="3520439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8A9BB5"/>
                </a:solidFill>
              </a:rPr>
              <a:t>Audit loss records for specific capability mentions. Coach reps on fit criteria. Compile real gaps with customer quotes and escalate to product team.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891272" y="1371600"/>
            <a:ext cx="3703320" cy="2423160"/>
          </a:xfrm>
          <a:prstGeom prst="rect">
            <a:avLst/>
          </a:prstGeom>
          <a:solidFill>
            <a:srgbClr val="0D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891272" y="1371600"/>
            <a:ext cx="3703320" cy="3657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01000" y="1426464"/>
            <a:ext cx="35204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DC2626"/>
                </a:solidFill>
              </a:rPr>
              <a:t>Lack of DM  ↑5.2 pts  (6% → 11%)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01000" y="1810512"/>
            <a:ext cx="352043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>
                <a:solidFill>
                  <a:srgbClr val="8A9BB5"/>
                </a:solidFill>
              </a:rPr>
              <a:t>WHY IT'S HAPPENING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01000" y="1993392"/>
            <a:ext cx="3520439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8A9BB5"/>
                </a:solidFill>
              </a:rPr>
              <a:t>Deals advancing to demo without the economic buyer. Stalls when real decision maker gets looped in late.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01000" y="2624328"/>
            <a:ext cx="352043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>
                <a:solidFill>
                  <a:srgbClr val="FFFFFF"/>
                </a:solidFill>
              </a:rPr>
              <a:t>COACHING ACTION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01000" y="2807208"/>
            <a:ext cx="3520439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8A9BB5"/>
                </a:solidFill>
              </a:rPr>
              <a:t>"Who signs off on a decision like this?" — required discovery question. No demo without DM identified. If DM won't join, pause the deal and re-qualify.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74320" y="3913632"/>
            <a:ext cx="11640312" cy="256032"/>
          </a:xfrm>
          <a:prstGeom prst="rect">
            <a:avLst/>
          </a:prstGeom>
          <a:solidFill>
            <a:srgbClr val="52B7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65760" y="3941063"/>
            <a:ext cx="5486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091420"/>
                </a:solidFill>
              </a:rPr>
              <a:t>✓  WINS TO REINFORCE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4320" y="4206240"/>
            <a:ext cx="3703320" cy="2331720"/>
          </a:xfrm>
          <a:prstGeom prst="rect">
            <a:avLst/>
          </a:prstGeom>
          <a:solidFill>
            <a:srgbClr val="0D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74320" y="4206240"/>
            <a:ext cx="3703320" cy="36576"/>
          </a:xfrm>
          <a:prstGeom prst="rect">
            <a:avLst/>
          </a:prstGeom>
          <a:solidFill>
            <a:srgbClr val="52B7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84048" y="4261104"/>
            <a:ext cx="35204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52B788"/>
                </a:solidFill>
              </a:rPr>
              <a:t>Discovery No-Show  ↓9.9 pts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84048" y="4617720"/>
            <a:ext cx="352043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>
                <a:solidFill>
                  <a:srgbClr val="8A9BB5"/>
                </a:solidFill>
              </a:rPr>
              <a:t>WHY IT MATTERS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84048" y="4800600"/>
            <a:ext cx="352043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8A9BB5"/>
                </a:solidFill>
              </a:rPr>
              <a:t>69 → 38. Biggest single category trending right. 31 fewer no-shows in March.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84048" y="5340096"/>
            <a:ext cx="352043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>
                <a:solidFill>
                  <a:srgbClr val="FFFFFF"/>
                </a:solidFill>
              </a:rPr>
              <a:t>ACTION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84048" y="5522976"/>
            <a:ext cx="35204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8A9BB5"/>
                </a:solidFill>
              </a:rPr>
              <a:t>Document what changed — reminder cadence? Confirmation flow? Lock it in as the standard process for all reps.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082796" y="4206240"/>
            <a:ext cx="3703320" cy="2331720"/>
          </a:xfrm>
          <a:prstGeom prst="rect">
            <a:avLst/>
          </a:prstGeom>
          <a:solidFill>
            <a:srgbClr val="0D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082796" y="4206240"/>
            <a:ext cx="3703320" cy="36576"/>
          </a:xfrm>
          <a:prstGeom prst="rect">
            <a:avLst/>
          </a:prstGeom>
          <a:solidFill>
            <a:srgbClr val="52B7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192524" y="4261104"/>
            <a:ext cx="35204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52B788"/>
                </a:solidFill>
              </a:rPr>
              <a:t>No Decision / Non-Responsive  ↓15.2 pts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192524" y="4617720"/>
            <a:ext cx="352043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>
                <a:solidFill>
                  <a:srgbClr val="8A9BB5"/>
                </a:solidFill>
              </a:rPr>
              <a:t>WHY IT MATTERS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192524" y="4800600"/>
            <a:ext cx="352043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8A9BB5"/>
                </a:solidFill>
              </a:rPr>
              <a:t>32 → 0. This category completely disappeared in March.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192524" y="5340096"/>
            <a:ext cx="352043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>
                <a:solidFill>
                  <a:srgbClr val="FFFFFF"/>
                </a:solidFill>
              </a:rPr>
              <a:t>ACTION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192524" y="5522976"/>
            <a:ext cx="35204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8A9BB5"/>
                </a:solidFill>
              </a:rPr>
              <a:t>Verify if this is real behavior or reclassification. If real — understand the driver and replicate. If reclassified — find where these are now logged.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891272" y="4206240"/>
            <a:ext cx="3703320" cy="2331720"/>
          </a:xfrm>
          <a:prstGeom prst="rect">
            <a:avLst/>
          </a:prstGeom>
          <a:solidFill>
            <a:srgbClr val="0D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891272" y="4206240"/>
            <a:ext cx="3703320" cy="36576"/>
          </a:xfrm>
          <a:prstGeom prst="rect">
            <a:avLst/>
          </a:prstGeom>
          <a:solidFill>
            <a:srgbClr val="52B7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001000" y="4261104"/>
            <a:ext cx="35204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52B788"/>
                </a:solidFill>
              </a:rPr>
              <a:t>Lost to Competitor  ↓2.3 pts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001000" y="4617720"/>
            <a:ext cx="352043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>
                <a:solidFill>
                  <a:srgbClr val="8A9BB5"/>
                </a:solidFill>
              </a:rPr>
              <a:t>WHY IT MATTERS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001000" y="4800600"/>
            <a:ext cx="352043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8A9BB5"/>
                </a:solidFill>
              </a:rPr>
              <a:t>6 → 1. Competitive losses near zero. Strong signal on positioning.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001000" y="5340096"/>
            <a:ext cx="352043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>
                <a:solidFill>
                  <a:srgbClr val="FFFFFF"/>
                </a:solidFill>
              </a:rPr>
              <a:t>ACTION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001000" y="5522976"/>
            <a:ext cx="35204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8A9BB5"/>
                </a:solidFill>
              </a:rPr>
              <a:t>Keep reinforcing battle cards. Pull competitor names from "If Lost to Competitor" field for a deeper competitive breakdown next month.</a:t>
            </a:r>
          </a:p>
        </p:txBody>
      </p:sp>
      <p:sp>
        <p:nvSpPr>
          <p:cNvPr id="53" name="Rectangle 52"/>
          <p:cNvSpPr/>
          <p:nvPr/>
        </p:nvSpPr>
        <p:spPr>
          <a:xfrm>
            <a:off x="0" y="6693408"/>
            <a:ext cx="12188952" cy="164592"/>
          </a:xfrm>
          <a:prstGeom prst="rect">
            <a:avLst/>
          </a:prstGeom>
          <a:solidFill>
            <a:srgbClr val="091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74320" y="6702552"/>
            <a:ext cx="91440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8A9BB5"/>
                </a:solidFill>
              </a:rPr>
              <a:t>Rev.io  ·  Board Presentation 2026  ·  Data as of Mar 23, 2026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144000" y="6702552"/>
            <a:ext cx="27432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>
                <a:solidFill>
                  <a:srgbClr val="8A9BB5"/>
                </a:solidFill>
              </a:rPr>
              <a:t>ROBIN  ·  CONFIDENTIAL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6322</TotalTime>
  <Words>5</Words>
  <Application>Microsoft Macintosh PowerPoint</Application>
  <PresentationFormat>Widescreen</PresentationFormat>
  <Paragraphs>2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10" baseType="lpstr">
      <vt:lpstr>Aptos</vt:lpstr>
      <vt:lpstr>Aptos Display</vt:lpstr>
      <vt:lpstr>Arial</vt:lpstr>
      <vt:lpstr>Avenir Medium</vt:lpstr>
      <vt:lpstr>Brandon Grotesque Medium</vt:lpstr>
      <vt:lpstr>Montserrat</vt:lpstr>
      <vt:lpstr>Montserrat Bold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Ryan Koontz</dc:creator>
  <cp:lastModifiedBy>Ryan Koontz</cp:lastModifiedBy>
  <cp:revision>13</cp:revision>
  <dcterms:created xsi:type="dcterms:W3CDTF">2025-11-17T01:40:24Z</dcterms:created>
  <dcterms:modified xsi:type="dcterms:W3CDTF">2026-03-19T16:40:10Z</dcterms:modified>
</cp:coreProperties>
</file>